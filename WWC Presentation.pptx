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7" r:id="rId2"/>
    <p:sldId id="258" r:id="rId3"/>
    <p:sldId id="259" r:id="rId4"/>
    <p:sldId id="260" r:id="rId5"/>
    <p:sldId id="283" r:id="rId6"/>
    <p:sldId id="261" r:id="rId7"/>
    <p:sldId id="262" r:id="rId8"/>
    <p:sldId id="263" r:id="rId9"/>
    <p:sldId id="265" r:id="rId10"/>
    <p:sldId id="272" r:id="rId11"/>
    <p:sldId id="281" r:id="rId12"/>
    <p:sldId id="285" r:id="rId13"/>
    <p:sldId id="279" r:id="rId14"/>
    <p:sldId id="278" r:id="rId15"/>
    <p:sldId id="289" r:id="rId16"/>
    <p:sldId id="284" r:id="rId17"/>
    <p:sldId id="291" r:id="rId18"/>
    <p:sldId id="290" r:id="rId19"/>
    <p:sldId id="292" r:id="rId20"/>
    <p:sldId id="276"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008" autoAdjust="0"/>
    <p:restoredTop sz="94660"/>
  </p:normalViewPr>
  <p:slideViewPr>
    <p:cSldViewPr snapToGrid="0">
      <p:cViewPr varScale="1">
        <p:scale>
          <a:sx n="145" d="100"/>
          <a:sy n="145" d="100"/>
        </p:scale>
        <p:origin x="138" y="6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263681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385412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392654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417345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0597292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274604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2430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05737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426535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780218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0582839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5/31/2026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428682828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36576"/>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 name="TextBox 2"/>
          <p:cNvSpPr txBox="1"/>
          <p:nvPr/>
        </p:nvSpPr>
        <p:spPr>
          <a:xfrm>
            <a:off x="914400" y="1645920"/>
            <a:ext cx="10362895" cy="18288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400" b="1">
                <a:solidFill>
                  <a:srgbClr val="FFFFFF"/>
                </a:solidFill>
                <a:latin typeface="Segoe UI"/>
              </a:defRPr>
            </a:pPr>
            <a:r>
              <a:rPr kumimoji="0" sz="4400" b="1" i="0" u="none" strike="noStrike" kern="1200" cap="none" spc="0" normalizeH="0" baseline="0" noProof="0">
                <a:ln>
                  <a:noFill/>
                </a:ln>
                <a:solidFill>
                  <a:srgbClr val="FFFFFF"/>
                </a:solidFill>
                <a:effectLst/>
                <a:uLnTx/>
                <a:uFillTx/>
                <a:latin typeface="Segoe UI"/>
                <a:ea typeface="+mn-ea"/>
                <a:cs typeface="+mn-cs"/>
              </a:rPr>
              <a:t>Your Customers Know More</a:t>
            </a:r>
          </a:p>
          <a:p>
            <a:pPr marL="0" marR="0" lvl="0" indent="0" algn="ctr" defTabSz="457200" rtl="0" eaLnBrk="1" fontAlgn="auto" latinLnBrk="0" hangingPunct="1">
              <a:lnSpc>
                <a:spcPct val="100000"/>
              </a:lnSpc>
              <a:spcBef>
                <a:spcPts val="0"/>
              </a:spcBef>
              <a:spcAft>
                <a:spcPts val="0"/>
              </a:spcAft>
              <a:buClrTx/>
              <a:buSzTx/>
              <a:buFontTx/>
              <a:buNone/>
              <a:tabLst/>
              <a:defRPr sz="4400" b="1">
                <a:solidFill>
                  <a:srgbClr val="0078D4"/>
                </a:solidFill>
                <a:latin typeface="Segoe UI"/>
              </a:defRPr>
            </a:pPr>
            <a:r>
              <a:rPr kumimoji="0" sz="4400" b="1" i="0" u="none" strike="noStrike" kern="1200" cap="none" spc="0" normalizeH="0" baseline="0" noProof="0">
                <a:ln>
                  <a:noFill/>
                </a:ln>
                <a:solidFill>
                  <a:srgbClr val="0078D4"/>
                </a:solidFill>
                <a:effectLst/>
                <a:uLnTx/>
                <a:uFillTx/>
                <a:latin typeface="Segoe UI"/>
                <a:ea typeface="+mn-ea"/>
                <a:cs typeface="+mn-cs"/>
              </a:rPr>
              <a:t>About AI Than You Do</a:t>
            </a:r>
          </a:p>
        </p:txBody>
      </p:sp>
      <p:sp>
        <p:nvSpPr>
          <p:cNvPr id="4" name="TextBox 3"/>
          <p:cNvSpPr txBox="1"/>
          <p:nvPr/>
        </p:nvSpPr>
        <p:spPr>
          <a:xfrm>
            <a:off x="1828800" y="3840480"/>
            <a:ext cx="8534095" cy="10972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0">
                <a:solidFill>
                  <a:srgbClr val="BBBBCC"/>
                </a:solidFill>
                <a:latin typeface="Segoe UI"/>
              </a:defRPr>
            </a:pPr>
            <a:r>
              <a:rPr kumimoji="0" sz="2000" b="0" i="0" u="none" strike="noStrike" kern="1200" cap="none" spc="0" normalizeH="0" baseline="0" noProof="0">
                <a:ln>
                  <a:noFill/>
                </a:ln>
                <a:solidFill>
                  <a:srgbClr val="BBBBCC"/>
                </a:solidFill>
                <a:effectLst/>
                <a:uLnTx/>
                <a:uFillTx/>
                <a:latin typeface="Segoe UI"/>
                <a:ea typeface="+mn-ea"/>
                <a:cs typeface="+mn-cs"/>
              </a:rPr>
              <a:t>Building an AI-Powered Framework to Capture, Analyze,</a:t>
            </a:r>
          </a:p>
          <a:p>
            <a:pPr marL="0" marR="0" lvl="0" indent="0" algn="ctr" defTabSz="457200" rtl="0" eaLnBrk="1" fontAlgn="auto" latinLnBrk="0" hangingPunct="1">
              <a:lnSpc>
                <a:spcPct val="100000"/>
              </a:lnSpc>
              <a:spcBef>
                <a:spcPts val="0"/>
              </a:spcBef>
              <a:spcAft>
                <a:spcPts val="0"/>
              </a:spcAft>
              <a:buClrTx/>
              <a:buSzTx/>
              <a:buFontTx/>
              <a:buNone/>
              <a:tabLst/>
              <a:defRPr sz="2000" b="0">
                <a:solidFill>
                  <a:srgbClr val="BBBBCC"/>
                </a:solidFill>
                <a:latin typeface="Segoe UI"/>
              </a:defRPr>
            </a:pPr>
            <a:r>
              <a:rPr kumimoji="0" sz="2000" b="0" i="0" u="none" strike="noStrike" kern="1200" cap="none" spc="0" normalizeH="0" baseline="0" noProof="0">
                <a:ln>
                  <a:noFill/>
                </a:ln>
                <a:solidFill>
                  <a:srgbClr val="BBBBCC"/>
                </a:solidFill>
                <a:effectLst/>
                <a:uLnTx/>
                <a:uFillTx/>
                <a:latin typeface="Segoe UI"/>
                <a:ea typeface="+mn-ea"/>
                <a:cs typeface="+mn-cs"/>
              </a:rPr>
              <a:t>and Act on Customer Feedback at Scale</a:t>
            </a:r>
          </a:p>
        </p:txBody>
      </p:sp>
      <p:sp>
        <p:nvSpPr>
          <p:cNvPr id="5" name="TextBox 4"/>
          <p:cNvSpPr txBox="1"/>
          <p:nvPr/>
        </p:nvSpPr>
        <p:spPr>
          <a:xfrm>
            <a:off x="1828800" y="5303520"/>
            <a:ext cx="8534095" cy="54864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b="0">
                <a:solidFill>
                  <a:srgbClr val="8888AA"/>
                </a:solidFill>
                <a:latin typeface="Segoe UI"/>
              </a:defRPr>
            </a:pPr>
            <a:r>
              <a:rPr kumimoji="0" sz="1600" b="0" i="0" u="none" strike="noStrike" kern="1200" cap="none" spc="0" normalizeH="0" baseline="0" noProof="0">
                <a:ln>
                  <a:noFill/>
                </a:ln>
                <a:solidFill>
                  <a:srgbClr val="8888AA"/>
                </a:solidFill>
                <a:effectLst/>
                <a:uLnTx/>
                <a:uFillTx/>
                <a:latin typeface="Segoe UI"/>
                <a:ea typeface="+mn-ea"/>
                <a:cs typeface="+mn-cs"/>
              </a:rPr>
              <a:t>Women Who Code  •  June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36576"/>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pic>
        <p:nvPicPr>
          <p:cNvPr id="3" name="Picture 2" descr="headshot3withoutsurface.jpg"/>
          <p:cNvPicPr>
            <a:picLocks noChangeAspect="1"/>
          </p:cNvPicPr>
          <p:nvPr/>
        </p:nvPicPr>
        <p:blipFill>
          <a:blip r:embed="rId2"/>
          <a:stretch>
            <a:fillRect/>
          </a:stretch>
        </p:blipFill>
        <p:spPr>
          <a:xfrm>
            <a:off x="1371600" y="1371600"/>
            <a:ext cx="2286000" cy="2286000"/>
          </a:xfrm>
          <a:prstGeom prst="rect">
            <a:avLst/>
          </a:prstGeom>
        </p:spPr>
      </p:pic>
      <p:sp>
        <p:nvSpPr>
          <p:cNvPr id="4" name="TextBox 3"/>
          <p:cNvSpPr txBox="1"/>
          <p:nvPr/>
        </p:nvSpPr>
        <p:spPr>
          <a:xfrm>
            <a:off x="4572000" y="1371600"/>
            <a:ext cx="6400800" cy="9144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3600" b="1">
                <a:solidFill>
                  <a:srgbClr val="FFFFFF"/>
                </a:solidFill>
                <a:latin typeface="Segoe UI"/>
              </a:defRPr>
            </a:pPr>
            <a:r>
              <a:rPr kumimoji="0" sz="3600" b="1" i="0" u="none" strike="noStrike" kern="1200" cap="none" spc="0" normalizeH="0" baseline="0" noProof="0">
                <a:ln>
                  <a:noFill/>
                </a:ln>
                <a:solidFill>
                  <a:srgbClr val="FFFFFF"/>
                </a:solidFill>
                <a:effectLst/>
                <a:uLnTx/>
                <a:uFillTx/>
                <a:latin typeface="Segoe UI"/>
                <a:ea typeface="+mn-ea"/>
                <a:cs typeface="+mn-cs"/>
              </a:rPr>
              <a:t>Marilee Turscak</a:t>
            </a:r>
          </a:p>
          <a:p>
            <a:pPr marL="0" marR="0" lvl="0" indent="0" algn="l" defTabSz="457200" rtl="0" eaLnBrk="1" fontAlgn="auto" latinLnBrk="0" hangingPunct="1">
              <a:lnSpc>
                <a:spcPct val="100000"/>
              </a:lnSpc>
              <a:spcBef>
                <a:spcPts val="0"/>
              </a:spcBef>
              <a:spcAft>
                <a:spcPts val="0"/>
              </a:spcAft>
              <a:buClrTx/>
              <a:buSzTx/>
              <a:buFontTx/>
              <a:buNone/>
              <a:tabLst/>
              <a:defRPr sz="2000" b="0">
                <a:solidFill>
                  <a:srgbClr val="00B294"/>
                </a:solidFill>
                <a:latin typeface="Segoe UI"/>
              </a:defRPr>
            </a:pPr>
            <a:r>
              <a:rPr kumimoji="0" sz="2000" b="0" i="0" u="none" strike="noStrike" kern="1200" cap="none" spc="0" normalizeH="0" baseline="0" noProof="0">
                <a:ln>
                  <a:noFill/>
                </a:ln>
                <a:solidFill>
                  <a:srgbClr val="00B294"/>
                </a:solidFill>
                <a:effectLst/>
                <a:uLnTx/>
                <a:uFillTx/>
                <a:latin typeface="Segoe UI"/>
                <a:ea typeface="+mn-ea"/>
                <a:cs typeface="+mn-cs"/>
              </a:rPr>
              <a:t>Senior Product Manager  •  Microsoft</a:t>
            </a:r>
          </a:p>
        </p:txBody>
      </p:sp>
      <p:sp>
        <p:nvSpPr>
          <p:cNvPr id="5" name="TextBox 4"/>
          <p:cNvSpPr txBox="1"/>
          <p:nvPr/>
        </p:nvSpPr>
        <p:spPr>
          <a:xfrm>
            <a:off x="4572000" y="2926080"/>
            <a:ext cx="640080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800" b="0">
                <a:solidFill>
                  <a:srgbClr val="BBBBCC"/>
                </a:solidFill>
                <a:latin typeface="Segoe UI"/>
              </a:defRPr>
            </a:pPr>
            <a:r>
              <a:rPr kumimoji="0" sz="1800" b="0" i="0" u="none" strike="noStrike" kern="1200" cap="none" spc="0" normalizeH="0" baseline="0" noProof="0" dirty="0">
                <a:ln>
                  <a:noFill/>
                </a:ln>
                <a:solidFill>
                  <a:srgbClr val="BBBBCC"/>
                </a:solidFill>
                <a:effectLst/>
                <a:uLnTx/>
                <a:uFillTx/>
                <a:latin typeface="Segoe UI"/>
                <a:ea typeface="+mn-ea"/>
                <a:cs typeface="+mn-cs"/>
              </a:rPr>
              <a:t>Identity &amp; Network Access — Customer Acceleration Team</a:t>
            </a:r>
          </a:p>
          <a:p>
            <a:pPr marL="0" marR="0" lvl="0" indent="0" algn="l" defTabSz="457200" rtl="0" eaLnBrk="1" fontAlgn="auto" latinLnBrk="0" hangingPunct="1">
              <a:lnSpc>
                <a:spcPct val="100000"/>
              </a:lnSpc>
              <a:spcBef>
                <a:spcPts val="0"/>
              </a:spcBef>
              <a:spcAft>
                <a:spcPts val="0"/>
              </a:spcAft>
              <a:buClrTx/>
              <a:buSzTx/>
              <a:buFontTx/>
              <a:buNone/>
              <a:tabLst/>
              <a:defRPr sz="1000" b="0">
                <a:solidFill>
                  <a:srgbClr val="FFFFFF"/>
                </a:solidFill>
                <a:latin typeface="Segoe UI"/>
              </a:defRPr>
            </a:pPr>
            <a:endParaRPr kumimoji="0" sz="1000" b="0" i="0" u="none" strike="noStrike" kern="1200" cap="none" spc="0" normalizeH="0" baseline="0" noProof="0" dirty="0">
              <a:ln>
                <a:noFill/>
              </a:ln>
              <a:solidFill>
                <a:srgbClr val="FFFFFF"/>
              </a:solidFill>
              <a:effectLst/>
              <a:uLnTx/>
              <a:uFillTx/>
              <a:latin typeface="Segoe UI"/>
              <a:ea typeface="+mn-ea"/>
              <a:cs typeface="+mn-c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0F23"/>
        </a:solidFill>
        <a:effectLst/>
      </p:bgPr>
    </p:bg>
    <p:spTree>
      <p:nvGrpSpPr>
        <p:cNvPr id="1" name=""/>
        <p:cNvGrpSpPr/>
        <p:nvPr/>
      </p:nvGrpSpPr>
      <p:grpSpPr>
        <a:xfrm>
          <a:off x="0" y="0"/>
          <a:ext cx="0" cy="0"/>
          <a:chOff x="0" y="0"/>
          <a:chExt cx="0" cy="0"/>
        </a:xfrm>
      </p:grpSpPr>
      <p:sp>
        <p:nvSpPr>
          <p:cNvPr id="2" name="TextBox 1"/>
          <p:cNvSpPr txBox="1"/>
          <p:nvPr/>
        </p:nvSpPr>
        <p:spPr>
          <a:xfrm>
            <a:off x="1828800" y="1828800"/>
            <a:ext cx="853409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0">
                <a:solidFill>
                  <a:srgbClr val="00B294"/>
                </a:solidFill>
                <a:latin typeface="Segoe UI"/>
              </a:defRPr>
            </a:pPr>
            <a:r>
              <a:rPr kumimoji="0" sz="2800" b="0" i="0" u="none" strike="noStrike" kern="1200" cap="none" spc="0" normalizeH="0" baseline="0" noProof="0">
                <a:ln>
                  <a:noFill/>
                </a:ln>
                <a:solidFill>
                  <a:srgbClr val="00B294"/>
                </a:solidFill>
                <a:effectLst/>
                <a:uLnTx/>
                <a:uFillTx/>
                <a:latin typeface="Segoe UI"/>
                <a:ea typeface="+mn-ea"/>
                <a:cs typeface="+mn-cs"/>
              </a:rPr>
              <a:t>Raise your hand if...</a:t>
            </a:r>
          </a:p>
        </p:txBody>
      </p:sp>
      <p:sp>
        <p:nvSpPr>
          <p:cNvPr id="3" name="TextBox 2"/>
          <p:cNvSpPr txBox="1"/>
          <p:nvPr/>
        </p:nvSpPr>
        <p:spPr>
          <a:xfrm>
            <a:off x="1828800" y="3200400"/>
            <a:ext cx="853409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latin typeface="Segoe UI"/>
              </a:defRPr>
            </a:pPr>
            <a:r>
              <a:rPr kumimoji="0" sz="4000" b="1" i="0" u="none" strike="noStrike" kern="1200" cap="none" spc="0" normalizeH="0" baseline="0" noProof="0">
                <a:ln>
                  <a:noFill/>
                </a:ln>
                <a:solidFill>
                  <a:srgbClr val="FFFFFF"/>
                </a:solidFill>
                <a:effectLst/>
                <a:uLnTx/>
                <a:uFillTx/>
                <a:latin typeface="Segoe UI"/>
                <a:ea typeface="+mn-ea"/>
                <a:cs typeface="+mn-cs"/>
              </a:rPr>
              <a:t>You are using AI to analyze</a:t>
            </a:r>
          </a:p>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latin typeface="Segoe UI"/>
              </a:defRPr>
            </a:pPr>
            <a:r>
              <a:rPr kumimoji="0" sz="4000" b="1" i="0" u="none" strike="noStrike" kern="1200" cap="none" spc="0" normalizeH="0" baseline="0" noProof="0">
                <a:ln>
                  <a:noFill/>
                </a:ln>
                <a:solidFill>
                  <a:srgbClr val="FFFFFF"/>
                </a:solidFill>
                <a:effectLst/>
                <a:uLnTx/>
                <a:uFillTx/>
                <a:latin typeface="Segoe UI"/>
                <a:ea typeface="+mn-ea"/>
                <a:cs typeface="+mn-cs"/>
              </a:rPr>
              <a:t>customer feedback today.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0F23"/>
        </a:solidFill>
        <a:effectLst/>
      </p:bgPr>
    </p:bg>
    <p:spTree>
      <p:nvGrpSpPr>
        <p:cNvPr id="1" name=""/>
        <p:cNvGrpSpPr/>
        <p:nvPr/>
      </p:nvGrpSpPr>
      <p:grpSpPr>
        <a:xfrm>
          <a:off x="0" y="0"/>
          <a:ext cx="0" cy="0"/>
          <a:chOff x="0" y="0"/>
          <a:chExt cx="0" cy="0"/>
        </a:xfrm>
      </p:grpSpPr>
      <p:sp>
        <p:nvSpPr>
          <p:cNvPr id="2" name="TextBox 1"/>
          <p:cNvSpPr txBox="1"/>
          <p:nvPr/>
        </p:nvSpPr>
        <p:spPr>
          <a:xfrm>
            <a:off x="2053243" y="1770611"/>
            <a:ext cx="853409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0">
                <a:solidFill>
                  <a:srgbClr val="FF8C00"/>
                </a:solidFill>
                <a:latin typeface="Segoe UI"/>
              </a:defRPr>
            </a:pPr>
            <a:r>
              <a:rPr kumimoji="0" sz="2800" b="0" i="0" u="none" strike="noStrike" kern="1200" cap="none" spc="0" normalizeH="0" baseline="0" noProof="0">
                <a:ln>
                  <a:noFill/>
                </a:ln>
                <a:solidFill>
                  <a:srgbClr val="FF8C00"/>
                </a:solidFill>
                <a:effectLst/>
                <a:uLnTx/>
                <a:uFillTx/>
                <a:latin typeface="Segoe UI"/>
                <a:ea typeface="+mn-ea"/>
                <a:cs typeface="+mn-cs"/>
              </a:rPr>
              <a:t>Now keep your hand up if...</a:t>
            </a:r>
          </a:p>
        </p:txBody>
      </p:sp>
      <p:sp>
        <p:nvSpPr>
          <p:cNvPr id="3" name="TextBox 2"/>
          <p:cNvSpPr txBox="1"/>
          <p:nvPr/>
        </p:nvSpPr>
        <p:spPr>
          <a:xfrm>
            <a:off x="1346663" y="2867891"/>
            <a:ext cx="10199716" cy="1846659"/>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800" b="1">
                <a:solidFill>
                  <a:srgbClr val="FFFFFF"/>
                </a:solidFill>
                <a:latin typeface="Segoe UI"/>
              </a:defRPr>
            </a:pPr>
            <a:r>
              <a:rPr kumimoji="0" lang="en-US" sz="3800" b="1" i="0" u="none" strike="noStrike" kern="1200" cap="none" spc="0" normalizeH="0" baseline="0" noProof="0" dirty="0">
                <a:ln>
                  <a:noFill/>
                </a:ln>
                <a:solidFill>
                  <a:srgbClr val="FFFFFF"/>
                </a:solidFill>
                <a:effectLst/>
                <a:uLnTx/>
                <a:uFillTx/>
                <a:latin typeface="Segoe UI"/>
                <a:ea typeface="+mn-ea"/>
                <a:cs typeface="+mn-cs"/>
              </a:rPr>
              <a:t>Your most recently shipped feature was directly informed by</a:t>
            </a:r>
            <a:endParaRPr kumimoji="0" sz="3800" b="1" i="0" u="none" strike="noStrike" kern="1200" cap="none" spc="0" normalizeH="0" baseline="0" noProof="0" dirty="0">
              <a:ln>
                <a:noFill/>
              </a:ln>
              <a:solidFill>
                <a:srgbClr val="FFFFFF"/>
              </a:solidFill>
              <a:effectLst/>
              <a:uLnTx/>
              <a:uFillTx/>
              <a:latin typeface="Segoe UI"/>
              <a:ea typeface="+mn-ea"/>
              <a:cs typeface="+mn-cs"/>
            </a:endParaRPr>
          </a:p>
          <a:p>
            <a:pPr marL="0" marR="0" lvl="0" indent="0" algn="ctr" defTabSz="457200" rtl="0" eaLnBrk="1" fontAlgn="auto" latinLnBrk="0" hangingPunct="1">
              <a:lnSpc>
                <a:spcPct val="100000"/>
              </a:lnSpc>
              <a:spcBef>
                <a:spcPts val="0"/>
              </a:spcBef>
              <a:spcAft>
                <a:spcPts val="0"/>
              </a:spcAft>
              <a:buClrTx/>
              <a:buSzTx/>
              <a:buFontTx/>
              <a:buNone/>
              <a:tabLst/>
              <a:defRPr sz="3800" b="1">
                <a:solidFill>
                  <a:srgbClr val="FFFFFF"/>
                </a:solidFill>
                <a:latin typeface="Segoe UI"/>
              </a:defRPr>
            </a:pPr>
            <a:r>
              <a:rPr kumimoji="0" sz="3800" b="1" i="0" u="none" strike="noStrike" kern="1200" cap="none" spc="0" normalizeH="0" baseline="0" noProof="0" dirty="0">
                <a:ln>
                  <a:noFill/>
                </a:ln>
                <a:solidFill>
                  <a:srgbClr val="FFFFFF"/>
                </a:solidFill>
                <a:effectLst/>
                <a:uLnTx/>
                <a:uFillTx/>
                <a:latin typeface="Segoe UI"/>
                <a:ea typeface="+mn-ea"/>
                <a:cs typeface="+mn-cs"/>
              </a:rPr>
              <a:t>something a customer actually said.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111A"/>
        </a:solidFill>
        <a:effectLst/>
      </p:bgPr>
    </p:bg>
    <p:spTree>
      <p:nvGrpSpPr>
        <p:cNvPr id="1" name=""/>
        <p:cNvGrpSpPr/>
        <p:nvPr/>
      </p:nvGrpSpPr>
      <p:grpSpPr>
        <a:xfrm>
          <a:off x="0" y="0"/>
          <a:ext cx="0" cy="0"/>
          <a:chOff x="0" y="0"/>
          <a:chExt cx="0" cy="0"/>
        </a:xfrm>
      </p:grpSpPr>
      <p:sp>
        <p:nvSpPr>
          <p:cNvPr id="2" name="TextBox 1"/>
          <p:cNvSpPr txBox="1"/>
          <p:nvPr/>
        </p:nvSpPr>
        <p:spPr>
          <a:xfrm>
            <a:off x="731520" y="457200"/>
            <a:ext cx="10972800" cy="64008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dirty="0">
                <a:ln>
                  <a:noFill/>
                </a:ln>
                <a:solidFill>
                  <a:srgbClr val="FFFFFF"/>
                </a:solidFill>
                <a:effectLst/>
                <a:uLnTx/>
                <a:uFillTx/>
                <a:latin typeface="Calibri"/>
                <a:ea typeface="+mn-ea"/>
                <a:cs typeface="+mn-cs"/>
              </a:rPr>
              <a:t>Why Feedback Doesn’t Become Action</a:t>
            </a:r>
          </a:p>
        </p:txBody>
      </p:sp>
      <p:sp>
        <p:nvSpPr>
          <p:cNvPr id="3" name="TextBox 2"/>
          <p:cNvSpPr txBox="1"/>
          <p:nvPr/>
        </p:nvSpPr>
        <p:spPr>
          <a:xfrm>
            <a:off x="731520" y="1097280"/>
            <a:ext cx="10972800" cy="3657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800" i="1">
                <a:solidFill>
                  <a:srgbClr val="8899BB"/>
                </a:solidFill>
              </a:defRPr>
            </a:pPr>
            <a:r>
              <a:rPr kumimoji="0" sz="1800" b="0" i="1" u="none" strike="noStrike" kern="1200" cap="none" spc="0" normalizeH="0" baseline="0" noProof="0">
                <a:ln>
                  <a:noFill/>
                </a:ln>
                <a:solidFill>
                  <a:srgbClr val="8899BB"/>
                </a:solidFill>
                <a:effectLst/>
                <a:uLnTx/>
                <a:uFillTx/>
                <a:latin typeface="Calibri"/>
                <a:ea typeface="+mn-ea"/>
                <a:cs typeface="+mn-cs"/>
              </a:rPr>
              <a:t>Teams aren’t ignoring customers. The system is broken.</a:t>
            </a:r>
          </a:p>
        </p:txBody>
      </p:sp>
      <p:sp>
        <p:nvSpPr>
          <p:cNvPr id="4" name="TextBox 3"/>
          <p:cNvSpPr txBox="1"/>
          <p:nvPr/>
        </p:nvSpPr>
        <p:spPr>
          <a:xfrm>
            <a:off x="731520" y="1828800"/>
            <a:ext cx="4572000" cy="3657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66BBFF"/>
                </a:solidFill>
              </a:defRPr>
            </a:pPr>
            <a:r>
              <a:rPr kumimoji="0" sz="1400" b="1" i="0" u="none" strike="noStrike" kern="1200" cap="none" spc="0" normalizeH="0" baseline="0" noProof="0">
                <a:ln>
                  <a:noFill/>
                </a:ln>
                <a:solidFill>
                  <a:srgbClr val="66BBFF"/>
                </a:solidFill>
                <a:effectLst/>
                <a:uLnTx/>
                <a:uFillTx/>
                <a:latin typeface="Calibri"/>
                <a:ea typeface="+mn-ea"/>
                <a:cs typeface="+mn-cs"/>
              </a:rPr>
              <a:t>ALL PRODUCTS</a:t>
            </a:r>
          </a:p>
        </p:txBody>
      </p:sp>
      <p:sp>
        <p:nvSpPr>
          <p:cNvPr id="5" name="Oval 4"/>
          <p:cNvSpPr/>
          <p:nvPr/>
        </p:nvSpPr>
        <p:spPr>
          <a:xfrm>
            <a:off x="731520" y="2377440"/>
            <a:ext cx="822960" cy="822960"/>
          </a:xfrm>
          <a:prstGeom prst="ellipse">
            <a:avLst/>
          </a:prstGeom>
          <a:solidFill>
            <a:srgbClr val="1A253A"/>
          </a:solidFill>
          <a:ln w="1905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 name="TextBox 5"/>
          <p:cNvSpPr txBox="1"/>
          <p:nvPr/>
        </p:nvSpPr>
        <p:spPr>
          <a:xfrm>
            <a:off x="731520" y="2487168"/>
            <a:ext cx="822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000"/>
            </a:pPr>
            <a:r>
              <a:rPr kumimoji="0" sz="3000" b="0" i="0" u="none" strike="noStrike" kern="1200" cap="none" spc="0" normalizeH="0" baseline="0" noProof="0">
                <a:ln>
                  <a:noFill/>
                </a:ln>
                <a:solidFill>
                  <a:prstClr val="black"/>
                </a:solidFill>
                <a:effectLst/>
                <a:uLnTx/>
                <a:uFillTx/>
                <a:latin typeface="Calibri"/>
                <a:ea typeface="+mn-ea"/>
                <a:cs typeface="+mn-cs"/>
              </a:rPr>
              <a:t>📨</a:t>
            </a:r>
          </a:p>
        </p:txBody>
      </p:sp>
      <p:sp>
        <p:nvSpPr>
          <p:cNvPr id="7" name="TextBox 6"/>
          <p:cNvSpPr txBox="1"/>
          <p:nvPr/>
        </p:nvSpPr>
        <p:spPr>
          <a:xfrm>
            <a:off x="1691640" y="2542032"/>
            <a:ext cx="365760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a:solidFill>
                  <a:srgbClr val="DDDDEE"/>
                </a:solidFill>
              </a:defRPr>
            </a:pPr>
            <a:r>
              <a:rPr kumimoji="0" sz="2000" b="0" i="0" u="none" strike="noStrike" kern="1200" cap="none" spc="0" normalizeH="0" baseline="0" noProof="0">
                <a:ln>
                  <a:noFill/>
                </a:ln>
                <a:solidFill>
                  <a:srgbClr val="DDDDEE"/>
                </a:solidFill>
                <a:effectLst/>
                <a:uLnTx/>
                <a:uFillTx/>
                <a:latin typeface="Calibri"/>
                <a:ea typeface="+mn-ea"/>
                <a:cs typeface="+mn-cs"/>
              </a:rPr>
              <a:t>Scattered feedback</a:t>
            </a:r>
          </a:p>
        </p:txBody>
      </p:sp>
      <p:sp>
        <p:nvSpPr>
          <p:cNvPr id="8" name="Oval 7"/>
          <p:cNvSpPr/>
          <p:nvPr/>
        </p:nvSpPr>
        <p:spPr>
          <a:xfrm>
            <a:off x="731520" y="3429000"/>
            <a:ext cx="822960" cy="822960"/>
          </a:xfrm>
          <a:prstGeom prst="ellipse">
            <a:avLst/>
          </a:prstGeom>
          <a:solidFill>
            <a:srgbClr val="1A253A"/>
          </a:solidFill>
          <a:ln w="1905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731520" y="3538728"/>
            <a:ext cx="822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000"/>
            </a:pPr>
            <a:r>
              <a:rPr kumimoji="0" sz="3000" b="0" i="0" u="none" strike="noStrike" kern="1200" cap="none" spc="0" normalizeH="0" baseline="0" noProof="0">
                <a:ln>
                  <a:noFill/>
                </a:ln>
                <a:solidFill>
                  <a:prstClr val="black"/>
                </a:solidFill>
                <a:effectLst/>
                <a:uLnTx/>
                <a:uFillTx/>
                <a:latin typeface="Calibri"/>
                <a:ea typeface="+mn-ea"/>
                <a:cs typeface="+mn-cs"/>
              </a:rPr>
              <a:t>📊</a:t>
            </a:r>
          </a:p>
        </p:txBody>
      </p:sp>
      <p:sp>
        <p:nvSpPr>
          <p:cNvPr id="10" name="TextBox 9"/>
          <p:cNvSpPr txBox="1"/>
          <p:nvPr/>
        </p:nvSpPr>
        <p:spPr>
          <a:xfrm>
            <a:off x="1691640" y="3593592"/>
            <a:ext cx="365760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a:solidFill>
                  <a:srgbClr val="DDDDEE"/>
                </a:solidFill>
              </a:defRPr>
            </a:pPr>
            <a:r>
              <a:rPr kumimoji="0" sz="2000" b="0" i="0" u="none" strike="noStrike" kern="1200" cap="none" spc="0" normalizeH="0" baseline="0" noProof="0">
                <a:ln>
                  <a:noFill/>
                </a:ln>
                <a:solidFill>
                  <a:srgbClr val="DDDDEE"/>
                </a:solidFill>
                <a:effectLst/>
                <a:uLnTx/>
                <a:uFillTx/>
                <a:latin typeface="Calibri"/>
                <a:ea typeface="+mn-ea"/>
                <a:cs typeface="+mn-cs"/>
              </a:rPr>
              <a:t>Too much volume</a:t>
            </a:r>
          </a:p>
        </p:txBody>
      </p:sp>
      <p:sp>
        <p:nvSpPr>
          <p:cNvPr id="11" name="Oval 10"/>
          <p:cNvSpPr/>
          <p:nvPr/>
        </p:nvSpPr>
        <p:spPr>
          <a:xfrm>
            <a:off x="731520" y="4480560"/>
            <a:ext cx="822960" cy="822960"/>
          </a:xfrm>
          <a:prstGeom prst="ellipse">
            <a:avLst/>
          </a:prstGeom>
          <a:solidFill>
            <a:srgbClr val="1A253A"/>
          </a:solidFill>
          <a:ln w="1905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TextBox 11"/>
          <p:cNvSpPr txBox="1"/>
          <p:nvPr/>
        </p:nvSpPr>
        <p:spPr>
          <a:xfrm>
            <a:off x="731520" y="4590288"/>
            <a:ext cx="822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000"/>
            </a:pPr>
            <a:r>
              <a:rPr kumimoji="0" sz="3000" b="0" i="0" u="none" strike="noStrike" kern="1200" cap="none" spc="0" normalizeH="0" baseline="0" noProof="0">
                <a:ln>
                  <a:noFill/>
                </a:ln>
                <a:solidFill>
                  <a:prstClr val="black"/>
                </a:solidFill>
                <a:effectLst/>
                <a:uLnTx/>
                <a:uFillTx/>
                <a:latin typeface="Calibri"/>
                <a:ea typeface="+mn-ea"/>
                <a:cs typeface="+mn-cs"/>
              </a:rPr>
              <a:t>⚖️</a:t>
            </a:r>
          </a:p>
        </p:txBody>
      </p:sp>
      <p:sp>
        <p:nvSpPr>
          <p:cNvPr id="13" name="TextBox 12"/>
          <p:cNvSpPr txBox="1"/>
          <p:nvPr/>
        </p:nvSpPr>
        <p:spPr>
          <a:xfrm>
            <a:off x="1691640" y="4645152"/>
            <a:ext cx="365760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a:solidFill>
                  <a:srgbClr val="DDDDEE"/>
                </a:solidFill>
              </a:defRPr>
            </a:pPr>
            <a:r>
              <a:rPr kumimoji="0" sz="2000" b="0" i="0" u="none" strike="noStrike" kern="1200" cap="none" spc="0" normalizeH="0" baseline="0" noProof="0">
                <a:ln>
                  <a:noFill/>
                </a:ln>
                <a:solidFill>
                  <a:srgbClr val="DDDDEE"/>
                </a:solidFill>
                <a:effectLst/>
                <a:uLnTx/>
                <a:uFillTx/>
                <a:latin typeface="Calibri"/>
                <a:ea typeface="+mn-ea"/>
                <a:cs typeface="+mn-cs"/>
              </a:rPr>
              <a:t>Hard to prioritize</a:t>
            </a:r>
          </a:p>
        </p:txBody>
      </p:sp>
      <p:sp>
        <p:nvSpPr>
          <p:cNvPr id="14" name="Oval 13"/>
          <p:cNvSpPr/>
          <p:nvPr/>
        </p:nvSpPr>
        <p:spPr>
          <a:xfrm>
            <a:off x="731520" y="5532120"/>
            <a:ext cx="822960" cy="822960"/>
          </a:xfrm>
          <a:prstGeom prst="ellipse">
            <a:avLst/>
          </a:prstGeom>
          <a:solidFill>
            <a:srgbClr val="1A253A"/>
          </a:solidFill>
          <a:ln w="19050">
            <a:solidFill>
              <a:srgbClr val="335588"/>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731520" y="5641848"/>
            <a:ext cx="822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000"/>
            </a:pPr>
            <a:r>
              <a:rPr kumimoji="0" sz="3000" b="0" i="0" u="none" strike="noStrike" kern="1200" cap="none" spc="0" normalizeH="0" baseline="0" noProof="0">
                <a:ln>
                  <a:noFill/>
                </a:ln>
                <a:solidFill>
                  <a:prstClr val="black"/>
                </a:solidFill>
                <a:effectLst/>
                <a:uLnTx/>
                <a:uFillTx/>
                <a:latin typeface="Calibri"/>
                <a:ea typeface="+mn-ea"/>
                <a:cs typeface="+mn-cs"/>
              </a:rPr>
              <a:t>🔄</a:t>
            </a:r>
          </a:p>
        </p:txBody>
      </p:sp>
      <p:sp>
        <p:nvSpPr>
          <p:cNvPr id="16" name="TextBox 15"/>
          <p:cNvSpPr txBox="1"/>
          <p:nvPr/>
        </p:nvSpPr>
        <p:spPr>
          <a:xfrm>
            <a:off x="1691640" y="5696712"/>
            <a:ext cx="365760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a:solidFill>
                  <a:srgbClr val="DDDDEE"/>
                </a:solidFill>
              </a:defRPr>
            </a:pPr>
            <a:r>
              <a:rPr kumimoji="0" sz="2000" b="0" i="0" u="none" strike="noStrike" kern="1200" cap="none" spc="0" normalizeH="0" baseline="0" noProof="0">
                <a:ln>
                  <a:noFill/>
                </a:ln>
                <a:solidFill>
                  <a:srgbClr val="DDDDEE"/>
                </a:solidFill>
                <a:effectLst/>
                <a:uLnTx/>
                <a:uFillTx/>
                <a:latin typeface="Calibri"/>
                <a:ea typeface="+mn-ea"/>
                <a:cs typeface="+mn-cs"/>
              </a:rPr>
              <a:t>Difficult to action</a:t>
            </a:r>
          </a:p>
        </p:txBody>
      </p:sp>
      <p:sp>
        <p:nvSpPr>
          <p:cNvPr id="17" name="Right Arrow 16"/>
          <p:cNvSpPr/>
          <p:nvPr/>
        </p:nvSpPr>
        <p:spPr>
          <a:xfrm>
            <a:off x="5577840" y="3200400"/>
            <a:ext cx="1097280" cy="320040"/>
          </a:xfrm>
          <a:prstGeom prst="rightArrow">
            <a:avLst/>
          </a:prstGeom>
          <a:solidFill>
            <a:srgbClr val="FFBB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8" name="TextBox 17"/>
          <p:cNvSpPr txBox="1"/>
          <p:nvPr/>
        </p:nvSpPr>
        <p:spPr>
          <a:xfrm>
            <a:off x="5303520" y="3611880"/>
            <a:ext cx="1645920" cy="4572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0" i="1" u="none" strike="noStrike" kern="1200" cap="none" spc="0" normalizeH="0" baseline="0" noProof="0">
                <a:ln>
                  <a:noFill/>
                </a:ln>
                <a:solidFill>
                  <a:srgbClr val="FFBB33"/>
                </a:solidFill>
                <a:effectLst/>
                <a:uLnTx/>
                <a:uFillTx/>
                <a:latin typeface="Calibri"/>
                <a:ea typeface="+mn-ea"/>
                <a:cs typeface="+mn-cs"/>
              </a:rPr>
              <a:t>especially for AI</a:t>
            </a:r>
          </a:p>
        </p:txBody>
      </p:sp>
      <p:sp>
        <p:nvSpPr>
          <p:cNvPr id="19" name="TextBox 18"/>
          <p:cNvSpPr txBox="1"/>
          <p:nvPr/>
        </p:nvSpPr>
        <p:spPr>
          <a:xfrm>
            <a:off x="7132320" y="1828800"/>
            <a:ext cx="4572000" cy="3657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FFBB33"/>
                </a:solidFill>
              </a:defRPr>
            </a:pPr>
            <a:r>
              <a:rPr kumimoji="0" sz="1400" b="1" i="0" u="none" strike="noStrike" kern="1200" cap="none" spc="0" normalizeH="0" baseline="0" noProof="0">
                <a:ln>
                  <a:noFill/>
                </a:ln>
                <a:solidFill>
                  <a:srgbClr val="FFBB33"/>
                </a:solidFill>
                <a:effectLst/>
                <a:uLnTx/>
                <a:uFillTx/>
                <a:latin typeface="Calibri"/>
                <a:ea typeface="+mn-ea"/>
                <a:cs typeface="+mn-cs"/>
              </a:rPr>
              <a:t>AI PRODUCTS</a:t>
            </a:r>
          </a:p>
        </p:txBody>
      </p:sp>
      <p:sp>
        <p:nvSpPr>
          <p:cNvPr id="20" name="Oval 19"/>
          <p:cNvSpPr/>
          <p:nvPr/>
        </p:nvSpPr>
        <p:spPr>
          <a:xfrm>
            <a:off x="7132320" y="2377440"/>
            <a:ext cx="822960" cy="822960"/>
          </a:xfrm>
          <a:prstGeom prst="ellipse">
            <a:avLst/>
          </a:prstGeom>
          <a:solidFill>
            <a:srgbClr val="2A1F0A"/>
          </a:solidFill>
          <a:ln w="19050">
            <a:solidFill>
              <a:srgbClr val="886622"/>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1" name="TextBox 20"/>
          <p:cNvSpPr txBox="1"/>
          <p:nvPr/>
        </p:nvSpPr>
        <p:spPr>
          <a:xfrm>
            <a:off x="7132320" y="2487168"/>
            <a:ext cx="822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000"/>
            </a:pPr>
            <a:r>
              <a:rPr kumimoji="0" sz="3000" b="0" i="0" u="none" strike="noStrike" kern="1200" cap="none" spc="0" normalizeH="0" baseline="0" noProof="0">
                <a:ln>
                  <a:noFill/>
                </a:ln>
                <a:solidFill>
                  <a:prstClr val="black"/>
                </a:solidFill>
                <a:effectLst/>
                <a:uLnTx/>
                <a:uFillTx/>
                <a:latin typeface="Calibri"/>
                <a:ea typeface="+mn-ea"/>
                <a:cs typeface="+mn-cs"/>
              </a:rPr>
              <a:t>🎲</a:t>
            </a:r>
          </a:p>
        </p:txBody>
      </p:sp>
      <p:sp>
        <p:nvSpPr>
          <p:cNvPr id="22" name="TextBox 21"/>
          <p:cNvSpPr txBox="1"/>
          <p:nvPr/>
        </p:nvSpPr>
        <p:spPr>
          <a:xfrm>
            <a:off x="8092440" y="2542032"/>
            <a:ext cx="365760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a:solidFill>
                  <a:srgbClr val="DDCC88"/>
                </a:solidFill>
              </a:defRPr>
            </a:pPr>
            <a:r>
              <a:rPr kumimoji="0" sz="2000" b="0" i="0" u="none" strike="noStrike" kern="1200" cap="none" spc="0" normalizeH="0" baseline="0" noProof="0">
                <a:ln>
                  <a:noFill/>
                </a:ln>
                <a:solidFill>
                  <a:srgbClr val="DDCC88"/>
                </a:solidFill>
                <a:effectLst/>
                <a:uLnTx/>
                <a:uFillTx/>
                <a:latin typeface="Calibri"/>
                <a:ea typeface="+mn-ea"/>
                <a:cs typeface="+mn-cs"/>
              </a:rPr>
              <a:t>Non-deterministic</a:t>
            </a:r>
          </a:p>
        </p:txBody>
      </p:sp>
      <p:sp>
        <p:nvSpPr>
          <p:cNvPr id="23" name="Oval 22"/>
          <p:cNvSpPr/>
          <p:nvPr/>
        </p:nvSpPr>
        <p:spPr>
          <a:xfrm>
            <a:off x="7132320" y="3429000"/>
            <a:ext cx="822960" cy="822960"/>
          </a:xfrm>
          <a:prstGeom prst="ellipse">
            <a:avLst/>
          </a:prstGeom>
          <a:solidFill>
            <a:srgbClr val="2A1F0A"/>
          </a:solidFill>
          <a:ln w="19050">
            <a:solidFill>
              <a:srgbClr val="886622"/>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4" name="TextBox 23"/>
          <p:cNvSpPr txBox="1"/>
          <p:nvPr/>
        </p:nvSpPr>
        <p:spPr>
          <a:xfrm>
            <a:off x="7132320" y="3538728"/>
            <a:ext cx="822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000"/>
            </a:pPr>
            <a:r>
              <a:rPr kumimoji="0" sz="3000" b="0" i="0" u="none" strike="noStrike" kern="1200" cap="none" spc="0" normalizeH="0" baseline="0" noProof="0">
                <a:ln>
                  <a:noFill/>
                </a:ln>
                <a:solidFill>
                  <a:prstClr val="black"/>
                </a:solidFill>
                <a:effectLst/>
                <a:uLnTx/>
                <a:uFillTx/>
                <a:latin typeface="Calibri"/>
                <a:ea typeface="+mn-ea"/>
                <a:cs typeface="+mn-cs"/>
              </a:rPr>
              <a:t>🌍</a:t>
            </a:r>
          </a:p>
        </p:txBody>
      </p:sp>
      <p:sp>
        <p:nvSpPr>
          <p:cNvPr id="25" name="TextBox 24"/>
          <p:cNvSpPr txBox="1"/>
          <p:nvPr/>
        </p:nvSpPr>
        <p:spPr>
          <a:xfrm>
            <a:off x="8092440" y="3593592"/>
            <a:ext cx="365760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a:solidFill>
                  <a:srgbClr val="DDCC88"/>
                </a:solidFill>
              </a:defRPr>
            </a:pPr>
            <a:r>
              <a:rPr kumimoji="0" sz="2000" b="0" i="0" u="none" strike="noStrike" kern="1200" cap="none" spc="0" normalizeH="0" baseline="0" noProof="0">
                <a:ln>
                  <a:noFill/>
                </a:ln>
                <a:solidFill>
                  <a:srgbClr val="DDCC88"/>
                </a:solidFill>
                <a:effectLst/>
                <a:uLnTx/>
                <a:uFillTx/>
                <a:latin typeface="Calibri"/>
                <a:ea typeface="+mn-ea"/>
                <a:cs typeface="+mn-cs"/>
              </a:rPr>
              <a:t>Environment-dependent</a:t>
            </a:r>
          </a:p>
        </p:txBody>
      </p:sp>
      <p:sp>
        <p:nvSpPr>
          <p:cNvPr id="26" name="Oval 25"/>
          <p:cNvSpPr/>
          <p:nvPr/>
        </p:nvSpPr>
        <p:spPr>
          <a:xfrm>
            <a:off x="7132320" y="4480560"/>
            <a:ext cx="822960" cy="822960"/>
          </a:xfrm>
          <a:prstGeom prst="ellipse">
            <a:avLst/>
          </a:prstGeom>
          <a:solidFill>
            <a:srgbClr val="2A1F0A"/>
          </a:solidFill>
          <a:ln w="19050">
            <a:solidFill>
              <a:srgbClr val="886622"/>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7" name="TextBox 26"/>
          <p:cNvSpPr txBox="1"/>
          <p:nvPr/>
        </p:nvSpPr>
        <p:spPr>
          <a:xfrm>
            <a:off x="7132320" y="4590288"/>
            <a:ext cx="822960" cy="64008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000"/>
            </a:pPr>
            <a:r>
              <a:rPr kumimoji="0" sz="3000" b="0" i="0" u="none" strike="noStrike" kern="1200" cap="none" spc="0" normalizeH="0" baseline="0" noProof="0">
                <a:ln>
                  <a:noFill/>
                </a:ln>
                <a:solidFill>
                  <a:prstClr val="black"/>
                </a:solidFill>
                <a:effectLst/>
                <a:uLnTx/>
                <a:uFillTx/>
                <a:latin typeface="Calibri"/>
                <a:ea typeface="+mn-ea"/>
                <a:cs typeface="+mn-cs"/>
              </a:rPr>
              <a:t>🧪</a:t>
            </a:r>
          </a:p>
        </p:txBody>
      </p:sp>
      <p:sp>
        <p:nvSpPr>
          <p:cNvPr id="28" name="TextBox 27"/>
          <p:cNvSpPr txBox="1"/>
          <p:nvPr/>
        </p:nvSpPr>
        <p:spPr>
          <a:xfrm>
            <a:off x="8092440" y="4645152"/>
            <a:ext cx="2036135"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a:solidFill>
                  <a:srgbClr val="DDCC88"/>
                </a:solidFill>
              </a:defRPr>
            </a:pPr>
            <a:r>
              <a:rPr kumimoji="0" sz="2000" b="0" i="0" u="none" strike="noStrike" kern="1200" cap="none" spc="0" normalizeH="0" baseline="0" noProof="0" dirty="0">
                <a:ln>
                  <a:noFill/>
                </a:ln>
                <a:solidFill>
                  <a:srgbClr val="DDCC88"/>
                </a:solidFill>
                <a:effectLst/>
                <a:uLnTx/>
                <a:uFillTx/>
                <a:latin typeface="Calibri"/>
                <a:ea typeface="+mn-ea"/>
                <a:cs typeface="+mn-cs"/>
              </a:rPr>
              <a:t>Can’t test</a:t>
            </a:r>
            <a:r>
              <a:rPr kumimoji="0" lang="en-US" sz="2000" b="0" i="0" u="none" strike="noStrike" kern="1200" cap="none" spc="0" normalizeH="0" baseline="0" noProof="0" dirty="0">
                <a:ln>
                  <a:noFill/>
                </a:ln>
                <a:solidFill>
                  <a:srgbClr val="DDCC88"/>
                </a:solidFill>
                <a:effectLst/>
                <a:uLnTx/>
                <a:uFillTx/>
                <a:latin typeface="Calibri"/>
                <a:ea typeface="+mn-ea"/>
                <a:cs typeface="+mn-cs"/>
              </a:rPr>
              <a:t> at scale</a:t>
            </a:r>
            <a:endParaRPr kumimoji="0" sz="2000" b="0" i="0" u="none" strike="noStrike" kern="1200" cap="none" spc="0" normalizeH="0" baseline="0" noProof="0" dirty="0">
              <a:ln>
                <a:noFill/>
              </a:ln>
              <a:solidFill>
                <a:srgbClr val="DDCC88"/>
              </a:solidFill>
              <a:effectLst/>
              <a:uLnTx/>
              <a:uFillTx/>
              <a:latin typeface="Calibri"/>
              <a:ea typeface="+mn-ea"/>
              <a:cs typeface="+mn-c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1105230" cy="553998"/>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000" b="1">
                <a:solidFill>
                  <a:srgbClr val="FFFFFF"/>
                </a:solidFill>
                <a:latin typeface="Segoe UI"/>
              </a:defRPr>
            </a:pPr>
            <a:r>
              <a:rPr kumimoji="0" sz="3000" b="1" i="0" u="none" strike="noStrike" kern="1200" cap="none" spc="0" normalizeH="0" baseline="0" noProof="0" dirty="0">
                <a:ln>
                  <a:noFill/>
                </a:ln>
                <a:solidFill>
                  <a:srgbClr val="FFFFFF"/>
                </a:solidFill>
                <a:effectLst/>
                <a:uLnTx/>
                <a:uFillTx/>
                <a:latin typeface="Segoe UI"/>
                <a:ea typeface="+mn-ea"/>
                <a:cs typeface="+mn-cs"/>
              </a:rPr>
              <a:t>Why </a:t>
            </a:r>
            <a:r>
              <a:rPr kumimoji="0" lang="en-US" sz="3000" b="1" i="0" u="none" strike="noStrike" kern="1200" cap="none" spc="0" normalizeH="0" baseline="0" noProof="0" dirty="0">
                <a:ln>
                  <a:noFill/>
                </a:ln>
                <a:solidFill>
                  <a:srgbClr val="FFFFFF"/>
                </a:solidFill>
                <a:effectLst/>
                <a:uLnTx/>
                <a:uFillTx/>
                <a:latin typeface="Segoe UI"/>
                <a:ea typeface="+mn-ea"/>
                <a:cs typeface="+mn-cs"/>
              </a:rPr>
              <a:t>It’s Even Harder to Build AI Products Customers Value</a:t>
            </a:r>
            <a:endParaRPr kumimoji="0" sz="3000" b="1" i="0" u="none" strike="noStrike" kern="1200" cap="none" spc="0" normalizeH="0" baseline="0" noProof="0" dirty="0">
              <a:ln>
                <a:noFill/>
              </a:ln>
              <a:solidFill>
                <a:srgbClr val="FFFFFF"/>
              </a:solidFill>
              <a:effectLst/>
              <a:uLnTx/>
              <a:uFillTx/>
              <a:latin typeface="Segoe UI"/>
              <a:ea typeface="+mn-ea"/>
              <a:cs typeface="+mn-cs"/>
            </a:endParaRPr>
          </a:p>
        </p:txBody>
      </p:sp>
      <p:sp>
        <p:nvSpPr>
          <p:cNvPr id="3" name="Rounded Rectangle 2"/>
          <p:cNvSpPr/>
          <p:nvPr/>
        </p:nvSpPr>
        <p:spPr>
          <a:xfrm>
            <a:off x="1371600" y="1371600"/>
            <a:ext cx="3108960" cy="2560320"/>
          </a:xfrm>
          <a:prstGeom prst="roundRect">
            <a:avLst/>
          </a:prstGeom>
          <a:solidFill>
            <a:srgbClr val="25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1645920" y="1645920"/>
            <a:ext cx="256032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800" b="1">
                <a:solidFill>
                  <a:srgbClr val="FF8C00"/>
                </a:solidFill>
                <a:latin typeface="Segoe UI"/>
              </a:defRPr>
            </a:pPr>
            <a:r>
              <a:rPr kumimoji="0" sz="4800" b="1" i="0" u="none" strike="noStrike" kern="1200" cap="none" spc="0" normalizeH="0" baseline="0" noProof="0">
                <a:ln>
                  <a:noFill/>
                </a:ln>
                <a:solidFill>
                  <a:srgbClr val="FF8C00"/>
                </a:solidFill>
                <a:effectLst/>
                <a:uLnTx/>
                <a:uFillTx/>
                <a:latin typeface="Segoe UI"/>
                <a:ea typeface="+mn-ea"/>
                <a:cs typeface="+mn-cs"/>
              </a:rPr>
              <a:t>23%</a:t>
            </a:r>
          </a:p>
          <a:p>
            <a:pPr marL="0" marR="0" lvl="0" indent="0" algn="ctr" defTabSz="457200" rtl="0" eaLnBrk="1" fontAlgn="auto" latinLnBrk="0" hangingPunct="1">
              <a:lnSpc>
                <a:spcPct val="100000"/>
              </a:lnSpc>
              <a:spcBef>
                <a:spcPts val="0"/>
              </a:spcBef>
              <a:spcAft>
                <a:spcPts val="0"/>
              </a:spcAft>
              <a:buClrTx/>
              <a:buSzTx/>
              <a:buFontTx/>
              <a:buNone/>
              <a:tabLst/>
              <a:defRPr sz="1400" b="0">
                <a:solidFill>
                  <a:srgbClr val="BBBBCC"/>
                </a:solidFill>
                <a:latin typeface="Segoe UI"/>
              </a:defRPr>
            </a:pPr>
            <a:r>
              <a:rPr kumimoji="0" sz="1400" b="0" i="0" u="none" strike="noStrike" kern="1200" cap="none" spc="0" normalizeH="0" baseline="0" noProof="0">
                <a:ln>
                  <a:noFill/>
                </a:ln>
                <a:solidFill>
                  <a:srgbClr val="BBBBCC"/>
                </a:solidFill>
                <a:effectLst/>
                <a:uLnTx/>
                <a:uFillTx/>
                <a:latin typeface="Segoe UI"/>
                <a:ea typeface="+mn-ea"/>
                <a:cs typeface="+mn-cs"/>
              </a:rPr>
              <a:t>of consumers trust companies</a:t>
            </a:r>
          </a:p>
          <a:p>
            <a:pPr marL="0" marR="0" lvl="0" indent="0" algn="ctr" defTabSz="457200" rtl="0" eaLnBrk="1" fontAlgn="auto" latinLnBrk="0" hangingPunct="1">
              <a:lnSpc>
                <a:spcPct val="100000"/>
              </a:lnSpc>
              <a:spcBef>
                <a:spcPts val="0"/>
              </a:spcBef>
              <a:spcAft>
                <a:spcPts val="0"/>
              </a:spcAft>
              <a:buClrTx/>
              <a:buSzTx/>
              <a:buFontTx/>
              <a:buNone/>
              <a:tabLst/>
              <a:defRPr sz="1400" b="0">
                <a:solidFill>
                  <a:srgbClr val="BBBBCC"/>
                </a:solidFill>
                <a:latin typeface="Segoe UI"/>
              </a:defRPr>
            </a:pPr>
            <a:r>
              <a:rPr kumimoji="0" sz="1400" b="0" i="0" u="none" strike="noStrike" kern="1200" cap="none" spc="0" normalizeH="0" baseline="0" noProof="0">
                <a:ln>
                  <a:noFill/>
                </a:ln>
                <a:solidFill>
                  <a:srgbClr val="BBBBCC"/>
                </a:solidFill>
                <a:effectLst/>
                <a:uLnTx/>
                <a:uFillTx/>
                <a:latin typeface="Segoe UI"/>
                <a:ea typeface="+mn-ea"/>
                <a:cs typeface="+mn-cs"/>
              </a:rPr>
              <a:t>to use AI responsibly</a:t>
            </a:r>
          </a:p>
          <a:p>
            <a:pPr marL="0" marR="0" lvl="0" indent="0" algn="l" defTabSz="457200" rtl="0" eaLnBrk="1" fontAlgn="auto" latinLnBrk="0" hangingPunct="1">
              <a:lnSpc>
                <a:spcPct val="100000"/>
              </a:lnSpc>
              <a:spcBef>
                <a:spcPts val="0"/>
              </a:spcBef>
              <a:spcAft>
                <a:spcPts val="0"/>
              </a:spcAft>
              <a:buClrTx/>
              <a:buSzTx/>
              <a:buFontTx/>
              <a:buNone/>
              <a:tabLst/>
              <a:defRPr sz="800" b="0">
                <a:solidFill>
                  <a:srgbClr val="FFFFFF"/>
                </a:solidFill>
                <a:latin typeface="Segoe UI"/>
              </a:defRPr>
            </a:pPr>
            <a:endParaRPr kumimoji="0" sz="800" b="0" i="0" u="none" strike="noStrike" kern="1200" cap="none" spc="0" normalizeH="0" baseline="0" noProof="0">
              <a:ln>
                <a:noFill/>
              </a:ln>
              <a:solidFill>
                <a:srgbClr val="FFFFFF"/>
              </a:solidFill>
              <a:effectLst/>
              <a:uLnTx/>
              <a:uFillTx/>
              <a:latin typeface="Segoe UI"/>
              <a:ea typeface="+mn-ea"/>
              <a:cs typeface="+mn-cs"/>
            </a:endParaRPr>
          </a:p>
          <a:p>
            <a:pPr marL="0" marR="0" lvl="0" indent="0" algn="ctr" defTabSz="457200" rtl="0" eaLnBrk="1" fontAlgn="auto" latinLnBrk="0" hangingPunct="1">
              <a:lnSpc>
                <a:spcPct val="100000"/>
              </a:lnSpc>
              <a:spcBef>
                <a:spcPts val="0"/>
              </a:spcBef>
              <a:spcAft>
                <a:spcPts val="0"/>
              </a:spcAft>
              <a:buClrTx/>
              <a:buSzTx/>
              <a:buFontTx/>
              <a:buNone/>
              <a:tabLst/>
              <a:defRPr sz="1100" b="0">
                <a:solidFill>
                  <a:srgbClr val="8888AA"/>
                </a:solidFill>
                <a:latin typeface="Segoe UI"/>
              </a:defRPr>
            </a:pPr>
            <a:r>
              <a:rPr kumimoji="0" sz="1100" b="0" i="0" u="none" strike="noStrike" kern="1200" cap="none" spc="0" normalizeH="0" baseline="0" noProof="0">
                <a:ln>
                  <a:noFill/>
                </a:ln>
                <a:solidFill>
                  <a:srgbClr val="8888AA"/>
                </a:solidFill>
                <a:effectLst/>
                <a:uLnTx/>
                <a:uFillTx/>
                <a:latin typeface="Segoe UI"/>
                <a:ea typeface="+mn-ea"/>
                <a:cs typeface="+mn-cs"/>
              </a:rPr>
              <a:t>Thales Digital Trust Index 2026</a:t>
            </a:r>
          </a:p>
        </p:txBody>
      </p:sp>
      <p:sp>
        <p:nvSpPr>
          <p:cNvPr id="5" name="Rounded Rectangle 4"/>
          <p:cNvSpPr/>
          <p:nvPr/>
        </p:nvSpPr>
        <p:spPr>
          <a:xfrm>
            <a:off x="4846320" y="1371600"/>
            <a:ext cx="3108960" cy="2560320"/>
          </a:xfrm>
          <a:prstGeom prst="roundRect">
            <a:avLst/>
          </a:prstGeom>
          <a:solidFill>
            <a:srgbClr val="25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 name="TextBox 5"/>
          <p:cNvSpPr txBox="1"/>
          <p:nvPr/>
        </p:nvSpPr>
        <p:spPr>
          <a:xfrm>
            <a:off x="5120640" y="1645920"/>
            <a:ext cx="256032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800" b="1">
                <a:solidFill>
                  <a:srgbClr val="E84B3C"/>
                </a:solidFill>
                <a:latin typeface="Segoe UI"/>
              </a:defRPr>
            </a:pPr>
            <a:r>
              <a:rPr kumimoji="0" sz="4800" b="1" i="0" u="none" strike="noStrike" kern="1200" cap="none" spc="0" normalizeH="0" baseline="0" noProof="0">
                <a:ln>
                  <a:noFill/>
                </a:ln>
                <a:solidFill>
                  <a:srgbClr val="E84B3C"/>
                </a:solidFill>
                <a:effectLst/>
                <a:uLnTx/>
                <a:uFillTx/>
                <a:latin typeface="Segoe UI"/>
                <a:ea typeface="+mn-ea"/>
                <a:cs typeface="+mn-cs"/>
              </a:rPr>
              <a:t>96%</a:t>
            </a:r>
          </a:p>
          <a:p>
            <a:pPr marL="0" marR="0" lvl="0" indent="0" algn="ctr" defTabSz="457200" rtl="0" eaLnBrk="1" fontAlgn="auto" latinLnBrk="0" hangingPunct="1">
              <a:lnSpc>
                <a:spcPct val="100000"/>
              </a:lnSpc>
              <a:spcBef>
                <a:spcPts val="0"/>
              </a:spcBef>
              <a:spcAft>
                <a:spcPts val="0"/>
              </a:spcAft>
              <a:buClrTx/>
              <a:buSzTx/>
              <a:buFontTx/>
              <a:buNone/>
              <a:tabLst/>
              <a:defRPr sz="1400" b="0">
                <a:solidFill>
                  <a:srgbClr val="BBBBCC"/>
                </a:solidFill>
                <a:latin typeface="Segoe UI"/>
              </a:defRPr>
            </a:pPr>
            <a:r>
              <a:rPr kumimoji="0" sz="1400" b="0" i="0" u="none" strike="noStrike" kern="1200" cap="none" spc="0" normalizeH="0" baseline="0" noProof="0">
                <a:ln>
                  <a:noFill/>
                </a:ln>
                <a:solidFill>
                  <a:srgbClr val="BBBBCC"/>
                </a:solidFill>
                <a:effectLst/>
                <a:uLnTx/>
                <a:uFillTx/>
                <a:latin typeface="Segoe UI"/>
                <a:ea typeface="+mn-ea"/>
                <a:cs typeface="+mn-cs"/>
              </a:rPr>
              <a:t>of developers don't trust AI</a:t>
            </a:r>
          </a:p>
          <a:p>
            <a:pPr marL="0" marR="0" lvl="0" indent="0" algn="ctr" defTabSz="457200" rtl="0" eaLnBrk="1" fontAlgn="auto" latinLnBrk="0" hangingPunct="1">
              <a:lnSpc>
                <a:spcPct val="100000"/>
              </a:lnSpc>
              <a:spcBef>
                <a:spcPts val="0"/>
              </a:spcBef>
              <a:spcAft>
                <a:spcPts val="0"/>
              </a:spcAft>
              <a:buClrTx/>
              <a:buSzTx/>
              <a:buFontTx/>
              <a:buNone/>
              <a:tabLst/>
              <a:defRPr sz="1400" b="0">
                <a:solidFill>
                  <a:srgbClr val="BBBBCC"/>
                </a:solidFill>
                <a:latin typeface="Segoe UI"/>
              </a:defRPr>
            </a:pPr>
            <a:r>
              <a:rPr kumimoji="0" sz="1400" b="0" i="0" u="none" strike="noStrike" kern="1200" cap="none" spc="0" normalizeH="0" baseline="0" noProof="0">
                <a:ln>
                  <a:noFill/>
                </a:ln>
                <a:solidFill>
                  <a:srgbClr val="BBBBCC"/>
                </a:solidFill>
                <a:effectLst/>
                <a:uLnTx/>
                <a:uFillTx/>
                <a:latin typeface="Segoe UI"/>
                <a:ea typeface="+mn-ea"/>
                <a:cs typeface="+mn-cs"/>
              </a:rPr>
              <a:t>output — yet 52% ship it unverified</a:t>
            </a:r>
          </a:p>
          <a:p>
            <a:pPr marL="0" marR="0" lvl="0" indent="0" algn="l" defTabSz="457200" rtl="0" eaLnBrk="1" fontAlgn="auto" latinLnBrk="0" hangingPunct="1">
              <a:lnSpc>
                <a:spcPct val="100000"/>
              </a:lnSpc>
              <a:spcBef>
                <a:spcPts val="0"/>
              </a:spcBef>
              <a:spcAft>
                <a:spcPts val="0"/>
              </a:spcAft>
              <a:buClrTx/>
              <a:buSzTx/>
              <a:buFontTx/>
              <a:buNone/>
              <a:tabLst/>
              <a:defRPr sz="800" b="0">
                <a:solidFill>
                  <a:srgbClr val="FFFFFF"/>
                </a:solidFill>
                <a:latin typeface="Segoe UI"/>
              </a:defRPr>
            </a:pPr>
            <a:endParaRPr kumimoji="0" sz="800" b="0" i="0" u="none" strike="noStrike" kern="1200" cap="none" spc="0" normalizeH="0" baseline="0" noProof="0">
              <a:ln>
                <a:noFill/>
              </a:ln>
              <a:solidFill>
                <a:srgbClr val="FFFFFF"/>
              </a:solidFill>
              <a:effectLst/>
              <a:uLnTx/>
              <a:uFillTx/>
              <a:latin typeface="Segoe UI"/>
              <a:ea typeface="+mn-ea"/>
              <a:cs typeface="+mn-cs"/>
            </a:endParaRPr>
          </a:p>
          <a:p>
            <a:pPr marL="0" marR="0" lvl="0" indent="0" algn="ctr" defTabSz="457200" rtl="0" eaLnBrk="1" fontAlgn="auto" latinLnBrk="0" hangingPunct="1">
              <a:lnSpc>
                <a:spcPct val="100000"/>
              </a:lnSpc>
              <a:spcBef>
                <a:spcPts val="0"/>
              </a:spcBef>
              <a:spcAft>
                <a:spcPts val="0"/>
              </a:spcAft>
              <a:buClrTx/>
              <a:buSzTx/>
              <a:buFontTx/>
              <a:buNone/>
              <a:tabLst/>
              <a:defRPr sz="1100" b="0">
                <a:solidFill>
                  <a:srgbClr val="8888AA"/>
                </a:solidFill>
                <a:latin typeface="Segoe UI"/>
              </a:defRPr>
            </a:pPr>
            <a:r>
              <a:rPr kumimoji="0" sz="1100" b="0" i="0" u="none" strike="noStrike" kern="1200" cap="none" spc="0" normalizeH="0" baseline="0" noProof="0">
                <a:ln>
                  <a:noFill/>
                </a:ln>
                <a:solidFill>
                  <a:srgbClr val="8888AA"/>
                </a:solidFill>
                <a:effectLst/>
                <a:uLnTx/>
                <a:uFillTx/>
                <a:latin typeface="Segoe UI"/>
                <a:ea typeface="+mn-ea"/>
                <a:cs typeface="+mn-cs"/>
              </a:rPr>
              <a:t>Sonar State of Code 2026</a:t>
            </a:r>
          </a:p>
        </p:txBody>
      </p:sp>
      <p:sp>
        <p:nvSpPr>
          <p:cNvPr id="7" name="Rounded Rectangle 6"/>
          <p:cNvSpPr/>
          <p:nvPr/>
        </p:nvSpPr>
        <p:spPr>
          <a:xfrm>
            <a:off x="8321040" y="1371600"/>
            <a:ext cx="3108960" cy="2560320"/>
          </a:xfrm>
          <a:prstGeom prst="roundRect">
            <a:avLst/>
          </a:prstGeom>
          <a:solidFill>
            <a:srgbClr val="25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TextBox 7"/>
          <p:cNvSpPr txBox="1"/>
          <p:nvPr/>
        </p:nvSpPr>
        <p:spPr>
          <a:xfrm>
            <a:off x="8595360" y="1645920"/>
            <a:ext cx="256032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800" b="1">
                <a:solidFill>
                  <a:srgbClr val="0078D4"/>
                </a:solidFill>
                <a:latin typeface="Segoe UI"/>
              </a:defRPr>
            </a:pPr>
            <a:r>
              <a:rPr kumimoji="0" sz="4800" b="1" i="0" u="none" strike="noStrike" kern="1200" cap="none" spc="0" normalizeH="0" baseline="0" noProof="0">
                <a:ln>
                  <a:noFill/>
                </a:ln>
                <a:solidFill>
                  <a:srgbClr val="0078D4"/>
                </a:solidFill>
                <a:effectLst/>
                <a:uLnTx/>
                <a:uFillTx/>
                <a:latin typeface="Segoe UI"/>
                <a:ea typeface="+mn-ea"/>
                <a:cs typeface="+mn-cs"/>
              </a:rPr>
              <a:t>0%</a:t>
            </a:r>
          </a:p>
          <a:p>
            <a:pPr marL="0" marR="0" lvl="0" indent="0" algn="ctr" defTabSz="457200" rtl="0" eaLnBrk="1" fontAlgn="auto" latinLnBrk="0" hangingPunct="1">
              <a:lnSpc>
                <a:spcPct val="100000"/>
              </a:lnSpc>
              <a:spcBef>
                <a:spcPts val="0"/>
              </a:spcBef>
              <a:spcAft>
                <a:spcPts val="0"/>
              </a:spcAft>
              <a:buClrTx/>
              <a:buSzTx/>
              <a:buFontTx/>
              <a:buNone/>
              <a:tabLst/>
              <a:defRPr sz="1400" b="0">
                <a:solidFill>
                  <a:srgbClr val="BBBBCC"/>
                </a:solidFill>
                <a:latin typeface="Segoe UI"/>
              </a:defRPr>
            </a:pPr>
            <a:r>
              <a:rPr kumimoji="0" sz="1400" b="0" i="0" u="none" strike="noStrike" kern="1200" cap="none" spc="0" normalizeH="0" baseline="0" noProof="0">
                <a:ln>
                  <a:noFill/>
                </a:ln>
                <a:solidFill>
                  <a:srgbClr val="BBBBCC"/>
                </a:solidFill>
                <a:effectLst/>
                <a:uLnTx/>
                <a:uFillTx/>
                <a:latin typeface="Segoe UI"/>
                <a:ea typeface="+mn-ea"/>
                <a:cs typeface="+mn-cs"/>
              </a:rPr>
              <a:t>of engineering leaders are</a:t>
            </a:r>
          </a:p>
          <a:p>
            <a:pPr marL="0" marR="0" lvl="0" indent="0" algn="ctr" defTabSz="457200" rtl="0" eaLnBrk="1" fontAlgn="auto" latinLnBrk="0" hangingPunct="1">
              <a:lnSpc>
                <a:spcPct val="100000"/>
              </a:lnSpc>
              <a:spcBef>
                <a:spcPts val="0"/>
              </a:spcBef>
              <a:spcAft>
                <a:spcPts val="0"/>
              </a:spcAft>
              <a:buClrTx/>
              <a:buSzTx/>
              <a:buFontTx/>
              <a:buNone/>
              <a:tabLst/>
              <a:defRPr sz="1400" b="0">
                <a:solidFill>
                  <a:srgbClr val="BBBBCC"/>
                </a:solidFill>
                <a:latin typeface="Segoe UI"/>
              </a:defRPr>
            </a:pPr>
            <a:r>
              <a:rPr kumimoji="0" sz="1400" b="0" i="0" u="none" strike="noStrike" kern="1200" cap="none" spc="0" normalizeH="0" baseline="0" noProof="0">
                <a:ln>
                  <a:noFill/>
                </a:ln>
                <a:solidFill>
                  <a:srgbClr val="BBBBCC"/>
                </a:solidFill>
                <a:effectLst/>
                <a:uLnTx/>
                <a:uFillTx/>
                <a:latin typeface="Segoe UI"/>
                <a:ea typeface="+mn-ea"/>
                <a:cs typeface="+mn-cs"/>
              </a:rPr>
              <a:t>"very confident" AI code</a:t>
            </a:r>
          </a:p>
          <a:p>
            <a:pPr marL="0" marR="0" lvl="0" indent="0" algn="ctr" defTabSz="457200" rtl="0" eaLnBrk="1" fontAlgn="auto" latinLnBrk="0" hangingPunct="1">
              <a:lnSpc>
                <a:spcPct val="100000"/>
              </a:lnSpc>
              <a:spcBef>
                <a:spcPts val="0"/>
              </a:spcBef>
              <a:spcAft>
                <a:spcPts val="0"/>
              </a:spcAft>
              <a:buClrTx/>
              <a:buSzTx/>
              <a:buFontTx/>
              <a:buNone/>
              <a:tabLst/>
              <a:defRPr sz="1400" b="0">
                <a:solidFill>
                  <a:srgbClr val="BBBBCC"/>
                </a:solidFill>
                <a:latin typeface="Segoe UI"/>
              </a:defRPr>
            </a:pPr>
            <a:r>
              <a:rPr kumimoji="0" sz="1400" b="0" i="0" u="none" strike="noStrike" kern="1200" cap="none" spc="0" normalizeH="0" baseline="0" noProof="0">
                <a:ln>
                  <a:noFill/>
                </a:ln>
                <a:solidFill>
                  <a:srgbClr val="BBBBCC"/>
                </a:solidFill>
                <a:effectLst/>
                <a:uLnTx/>
                <a:uFillTx/>
                <a:latin typeface="Segoe UI"/>
                <a:ea typeface="+mn-ea"/>
                <a:cs typeface="+mn-cs"/>
              </a:rPr>
              <a:t>behaves correctly in production</a:t>
            </a:r>
          </a:p>
          <a:p>
            <a:pPr marL="0" marR="0" lvl="0" indent="0" algn="l" defTabSz="457200" rtl="0" eaLnBrk="1" fontAlgn="auto" latinLnBrk="0" hangingPunct="1">
              <a:lnSpc>
                <a:spcPct val="100000"/>
              </a:lnSpc>
              <a:spcBef>
                <a:spcPts val="0"/>
              </a:spcBef>
              <a:spcAft>
                <a:spcPts val="0"/>
              </a:spcAft>
              <a:buClrTx/>
              <a:buSzTx/>
              <a:buFontTx/>
              <a:buNone/>
              <a:tabLst/>
              <a:defRPr sz="800" b="0">
                <a:solidFill>
                  <a:srgbClr val="FFFFFF"/>
                </a:solidFill>
                <a:latin typeface="Segoe UI"/>
              </a:defRPr>
            </a:pPr>
            <a:endParaRPr kumimoji="0" sz="800" b="0" i="0" u="none" strike="noStrike" kern="1200" cap="none" spc="0" normalizeH="0" baseline="0" noProof="0">
              <a:ln>
                <a:noFill/>
              </a:ln>
              <a:solidFill>
                <a:srgbClr val="FFFFFF"/>
              </a:solidFill>
              <a:effectLst/>
              <a:uLnTx/>
              <a:uFillTx/>
              <a:latin typeface="Segoe UI"/>
              <a:ea typeface="+mn-ea"/>
              <a:cs typeface="+mn-cs"/>
            </a:endParaRPr>
          </a:p>
          <a:p>
            <a:pPr marL="0" marR="0" lvl="0" indent="0" algn="ctr" defTabSz="457200" rtl="0" eaLnBrk="1" fontAlgn="auto" latinLnBrk="0" hangingPunct="1">
              <a:lnSpc>
                <a:spcPct val="100000"/>
              </a:lnSpc>
              <a:spcBef>
                <a:spcPts val="0"/>
              </a:spcBef>
              <a:spcAft>
                <a:spcPts val="0"/>
              </a:spcAft>
              <a:buClrTx/>
              <a:buSzTx/>
              <a:buFontTx/>
              <a:buNone/>
              <a:tabLst/>
              <a:defRPr sz="1100" b="0">
                <a:solidFill>
                  <a:srgbClr val="8888AA"/>
                </a:solidFill>
                <a:latin typeface="Segoe UI"/>
              </a:defRPr>
            </a:pPr>
            <a:r>
              <a:rPr kumimoji="0" sz="1100" b="0" i="0" u="none" strike="noStrike" kern="1200" cap="none" spc="0" normalizeH="0" baseline="0" noProof="0">
                <a:ln>
                  <a:noFill/>
                </a:ln>
                <a:solidFill>
                  <a:srgbClr val="8888AA"/>
                </a:solidFill>
                <a:effectLst/>
                <a:uLnTx/>
                <a:uFillTx/>
                <a:latin typeface="Segoe UI"/>
                <a:ea typeface="+mn-ea"/>
                <a:cs typeface="+mn-cs"/>
              </a:rPr>
              <a:t>Stack Overflow 2025</a:t>
            </a:r>
          </a:p>
        </p:txBody>
      </p:sp>
      <p:sp>
        <p:nvSpPr>
          <p:cNvPr id="9" name="TextBox 8"/>
          <p:cNvSpPr txBox="1"/>
          <p:nvPr/>
        </p:nvSpPr>
        <p:spPr>
          <a:xfrm>
            <a:off x="1097280" y="4206240"/>
            <a:ext cx="9997135" cy="78483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500" b="0">
                <a:solidFill>
                  <a:srgbClr val="BBBBCC"/>
                </a:solidFill>
                <a:latin typeface="Segoe UI"/>
              </a:defRPr>
            </a:pPr>
            <a:r>
              <a:rPr kumimoji="0" sz="1500" b="0" i="0" u="none" strike="noStrike" kern="1200" cap="none" spc="0" normalizeH="0" baseline="0" noProof="0" dirty="0">
                <a:ln>
                  <a:noFill/>
                </a:ln>
                <a:solidFill>
                  <a:srgbClr val="BBBBCC"/>
                </a:solidFill>
                <a:effectLst/>
                <a:uLnTx/>
                <a:uFillTx/>
                <a:latin typeface="Segoe UI"/>
                <a:ea typeface="+mn-ea"/>
                <a:cs typeface="+mn-cs"/>
              </a:rPr>
              <a:t>Your customers are living with AI's limitations every day.</a:t>
            </a:r>
          </a:p>
          <a:p>
            <a:pPr marL="0" marR="0" lvl="0" indent="0" algn="l" defTabSz="457200" rtl="0" eaLnBrk="1" fontAlgn="auto" latinLnBrk="0" hangingPunct="1">
              <a:lnSpc>
                <a:spcPct val="100000"/>
              </a:lnSpc>
              <a:spcBef>
                <a:spcPts val="0"/>
              </a:spcBef>
              <a:spcAft>
                <a:spcPts val="0"/>
              </a:spcAft>
              <a:buClrTx/>
              <a:buSzTx/>
              <a:buFontTx/>
              <a:buNone/>
              <a:tabLst/>
              <a:defRPr sz="1500" b="0">
                <a:solidFill>
                  <a:srgbClr val="BBBBCC"/>
                </a:solidFill>
                <a:latin typeface="Segoe UI"/>
              </a:defRPr>
            </a:pPr>
            <a:r>
              <a:rPr kumimoji="0" sz="1500" b="0" i="0" u="none" strike="noStrike" kern="1200" cap="none" spc="0" normalizeH="0" baseline="0" noProof="0" dirty="0">
                <a:ln>
                  <a:noFill/>
                </a:ln>
                <a:solidFill>
                  <a:srgbClr val="BBBBCC"/>
                </a:solidFill>
                <a:effectLst/>
                <a:uLnTx/>
                <a:uFillTx/>
                <a:latin typeface="Segoe UI"/>
                <a:ea typeface="+mn-ea"/>
                <a:cs typeface="+mn-cs"/>
              </a:rPr>
              <a:t>They're forming strong opinions your product team may not be hearing.</a:t>
            </a:r>
          </a:p>
          <a:p>
            <a:pPr marL="0" marR="0" lvl="0" indent="0" algn="l" defTabSz="457200" rtl="0" eaLnBrk="1" fontAlgn="auto" latinLnBrk="0" hangingPunct="1">
              <a:lnSpc>
                <a:spcPct val="100000"/>
              </a:lnSpc>
              <a:spcBef>
                <a:spcPts val="0"/>
              </a:spcBef>
              <a:spcAft>
                <a:spcPts val="0"/>
              </a:spcAft>
              <a:buClrTx/>
              <a:buSzTx/>
              <a:buFontTx/>
              <a:buNone/>
              <a:tabLst/>
              <a:defRPr sz="1500" b="0">
                <a:solidFill>
                  <a:srgbClr val="BBBBCC"/>
                </a:solidFill>
                <a:latin typeface="Segoe UI"/>
              </a:defRPr>
            </a:pPr>
            <a:r>
              <a:rPr kumimoji="0" sz="1500" b="0" i="0" u="none" strike="noStrike" kern="1200" cap="none" spc="0" normalizeH="0" baseline="0" noProof="0" dirty="0">
                <a:ln>
                  <a:noFill/>
                </a:ln>
                <a:solidFill>
                  <a:srgbClr val="BBBBCC"/>
                </a:solidFill>
                <a:effectLst/>
                <a:uLnTx/>
                <a:uFillTx/>
                <a:latin typeface="Segoe UI"/>
                <a:ea typeface="+mn-ea"/>
                <a:cs typeface="+mn-cs"/>
              </a:rPr>
              <a:t>They are finding issues in production that test environments can't identify.</a:t>
            </a:r>
          </a:p>
        </p:txBody>
      </p:sp>
      <p:sp>
        <p:nvSpPr>
          <p:cNvPr id="10" name="TextBox 9"/>
          <p:cNvSpPr txBox="1"/>
          <p:nvPr/>
        </p:nvSpPr>
        <p:spPr>
          <a:xfrm>
            <a:off x="1097280" y="5760720"/>
            <a:ext cx="9997135" cy="73152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00B294"/>
                </a:solidFill>
                <a:latin typeface="Segoe UI"/>
              </a:defRPr>
            </a:pPr>
            <a:r>
              <a:rPr kumimoji="0" sz="1600" b="1" i="0" u="none" strike="noStrike" kern="1200" cap="none" spc="0" normalizeH="0" baseline="0" noProof="0" dirty="0">
                <a:ln>
                  <a:noFill/>
                </a:ln>
                <a:solidFill>
                  <a:srgbClr val="00B294"/>
                </a:solidFill>
                <a:effectLst/>
                <a:uLnTx/>
                <a:uFillTx/>
                <a:latin typeface="Segoe UI"/>
                <a:ea typeface="+mn-ea"/>
                <a:cs typeface="+mn-cs"/>
              </a:rPr>
              <a:t>Your customers know exactly where AI breaks. They're the experts you're not listening to.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73152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000" b="1">
                <a:solidFill>
                  <a:srgbClr val="FFFFFF"/>
                </a:solidFill>
                <a:latin typeface="Segoe UI"/>
              </a:defRPr>
            </a:pPr>
            <a:r>
              <a:rPr kumimoji="0" sz="3000" b="1" i="0" u="none" strike="noStrike" kern="1200" cap="none" spc="0" normalizeH="0" baseline="0" noProof="0">
                <a:ln>
                  <a:noFill/>
                </a:ln>
                <a:solidFill>
                  <a:srgbClr val="FFFFFF"/>
                </a:solidFill>
                <a:effectLst/>
                <a:uLnTx/>
                <a:uFillTx/>
                <a:latin typeface="Segoe UI"/>
                <a:ea typeface="+mn-ea"/>
                <a:cs typeface="+mn-cs"/>
              </a:rPr>
              <a:t>The Problem: We Collect Feedback but Don't Listen</a:t>
            </a:r>
          </a:p>
        </p:txBody>
      </p:sp>
      <p:sp>
        <p:nvSpPr>
          <p:cNvPr id="3" name="Rounded Rectangle 2"/>
          <p:cNvSpPr/>
          <p:nvPr/>
        </p:nvSpPr>
        <p:spPr>
          <a:xfrm>
            <a:off x="1371600" y="1645920"/>
            <a:ext cx="3108960" cy="2560320"/>
          </a:xfrm>
          <a:prstGeom prst="roundRect">
            <a:avLst/>
          </a:prstGeom>
          <a:solidFill>
            <a:srgbClr val="25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1645920" y="1920240"/>
            <a:ext cx="2560320" cy="1554272"/>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800" b="1">
                <a:solidFill>
                  <a:srgbClr val="FF8C00"/>
                </a:solidFill>
                <a:latin typeface="Segoe UI"/>
              </a:defRPr>
            </a:pPr>
            <a:r>
              <a:rPr kumimoji="0" sz="4800" b="1" i="0" u="none" strike="noStrike" kern="1200" cap="none" spc="0" normalizeH="0" baseline="0" noProof="0" dirty="0">
                <a:ln>
                  <a:noFill/>
                </a:ln>
                <a:solidFill>
                  <a:srgbClr val="FF8C00"/>
                </a:solidFill>
                <a:effectLst/>
                <a:uLnTx/>
                <a:uFillTx/>
                <a:latin typeface="Segoe UI"/>
                <a:ea typeface="+mn-ea"/>
                <a:cs typeface="+mn-cs"/>
              </a:rPr>
              <a:t>93%</a:t>
            </a:r>
          </a:p>
          <a:p>
            <a:pPr marL="0" marR="0" lvl="0" indent="0" algn="ctr" defTabSz="457200" rtl="0" eaLnBrk="1" fontAlgn="auto" latinLnBrk="0" hangingPunct="1">
              <a:lnSpc>
                <a:spcPct val="100000"/>
              </a:lnSpc>
              <a:spcBef>
                <a:spcPts val="0"/>
              </a:spcBef>
              <a:spcAft>
                <a:spcPts val="0"/>
              </a:spcAft>
              <a:buClrTx/>
              <a:buSzTx/>
              <a:buFontTx/>
              <a:buNone/>
              <a:tabLst/>
              <a:defRPr sz="1400" b="0">
                <a:solidFill>
                  <a:srgbClr val="BBBBCC"/>
                </a:solidFill>
                <a:latin typeface="Segoe UI"/>
              </a:defRPr>
            </a:pPr>
            <a:r>
              <a:rPr kumimoji="0" sz="1400" b="0" i="0" u="none" strike="noStrike" kern="1200" cap="none" spc="0" normalizeH="0" baseline="0" noProof="0" dirty="0">
                <a:ln>
                  <a:noFill/>
                </a:ln>
                <a:solidFill>
                  <a:srgbClr val="BBBBCC"/>
                </a:solidFill>
                <a:effectLst/>
                <a:uLnTx/>
                <a:uFillTx/>
                <a:latin typeface="Segoe UI"/>
                <a:ea typeface="+mn-ea"/>
                <a:cs typeface="+mn-cs"/>
              </a:rPr>
              <a:t>of customer feedback data</a:t>
            </a:r>
          </a:p>
          <a:p>
            <a:pPr marL="0" marR="0" lvl="0" indent="0" algn="ctr" defTabSz="457200" rtl="0" eaLnBrk="1" fontAlgn="auto" latinLnBrk="0" hangingPunct="1">
              <a:lnSpc>
                <a:spcPct val="100000"/>
              </a:lnSpc>
              <a:spcBef>
                <a:spcPts val="0"/>
              </a:spcBef>
              <a:spcAft>
                <a:spcPts val="0"/>
              </a:spcAft>
              <a:buClrTx/>
              <a:buSzTx/>
              <a:buFontTx/>
              <a:buNone/>
              <a:tabLst/>
              <a:defRPr sz="1400" b="0">
                <a:solidFill>
                  <a:srgbClr val="BBBBCC"/>
                </a:solidFill>
                <a:latin typeface="Segoe UI"/>
              </a:defRPr>
            </a:pPr>
            <a:r>
              <a:rPr kumimoji="0" sz="1400" b="0" i="0" u="none" strike="noStrike" kern="1200" cap="none" spc="0" normalizeH="0" baseline="0" noProof="0" dirty="0">
                <a:ln>
                  <a:noFill/>
                </a:ln>
                <a:solidFill>
                  <a:srgbClr val="BBBBCC"/>
                </a:solidFill>
                <a:effectLst/>
                <a:uLnTx/>
                <a:uFillTx/>
                <a:latin typeface="Segoe UI"/>
                <a:ea typeface="+mn-ea"/>
                <a:cs typeface="+mn-cs"/>
              </a:rPr>
              <a:t>is never analyzed</a:t>
            </a:r>
          </a:p>
          <a:p>
            <a:pPr marL="0" marR="0" lvl="0" indent="0" algn="l" defTabSz="457200" rtl="0" eaLnBrk="1" fontAlgn="auto" latinLnBrk="0" hangingPunct="1">
              <a:lnSpc>
                <a:spcPct val="100000"/>
              </a:lnSpc>
              <a:spcBef>
                <a:spcPts val="0"/>
              </a:spcBef>
              <a:spcAft>
                <a:spcPts val="0"/>
              </a:spcAft>
              <a:buClrTx/>
              <a:buSzTx/>
              <a:buFontTx/>
              <a:buNone/>
              <a:tabLst/>
              <a:defRPr sz="800" b="0">
                <a:solidFill>
                  <a:srgbClr val="FFFFFF"/>
                </a:solidFill>
                <a:latin typeface="Segoe UI"/>
              </a:defRPr>
            </a:pPr>
            <a:endParaRPr kumimoji="0" sz="800" b="0" i="0" u="none" strike="noStrike" kern="1200" cap="none" spc="0" normalizeH="0" baseline="0" noProof="0" dirty="0">
              <a:ln>
                <a:noFill/>
              </a:ln>
              <a:solidFill>
                <a:srgbClr val="FFFFFF"/>
              </a:solidFill>
              <a:effectLst/>
              <a:uLnTx/>
              <a:uFillTx/>
              <a:latin typeface="Segoe UI"/>
              <a:ea typeface="+mn-ea"/>
              <a:cs typeface="+mn-cs"/>
            </a:endParaRPr>
          </a:p>
          <a:p>
            <a:pPr marL="0" marR="0" lvl="0" indent="0" algn="ctr" defTabSz="457200" rtl="0" eaLnBrk="1" fontAlgn="auto" latinLnBrk="0" hangingPunct="1">
              <a:lnSpc>
                <a:spcPct val="100000"/>
              </a:lnSpc>
              <a:spcBef>
                <a:spcPts val="0"/>
              </a:spcBef>
              <a:spcAft>
                <a:spcPts val="0"/>
              </a:spcAft>
              <a:buClrTx/>
              <a:buSzTx/>
              <a:buFontTx/>
              <a:buNone/>
              <a:tabLst/>
              <a:defRPr sz="1100" b="0">
                <a:solidFill>
                  <a:srgbClr val="8888AA"/>
                </a:solidFill>
                <a:latin typeface="Segoe UI"/>
              </a:defRPr>
            </a:pPr>
            <a:r>
              <a:rPr kumimoji="0" sz="1100" b="0" i="0" u="none" strike="noStrike" kern="1200" cap="none" spc="0" normalizeH="0" baseline="0" noProof="0" dirty="0">
                <a:ln>
                  <a:noFill/>
                </a:ln>
                <a:solidFill>
                  <a:srgbClr val="8888AA"/>
                </a:solidFill>
                <a:effectLst/>
                <a:uLnTx/>
                <a:uFillTx/>
                <a:latin typeface="Segoe UI"/>
                <a:ea typeface="+mn-ea"/>
                <a:cs typeface="+mn-cs"/>
              </a:rPr>
              <a:t>Gartner</a:t>
            </a:r>
            <a:r>
              <a:rPr kumimoji="0" lang="en-US" sz="1100" b="0" i="0" u="none" strike="noStrike" kern="1200" cap="none" spc="0" normalizeH="0" baseline="0" noProof="0" dirty="0">
                <a:ln>
                  <a:noFill/>
                </a:ln>
                <a:solidFill>
                  <a:srgbClr val="8888AA"/>
                </a:solidFill>
                <a:effectLst/>
                <a:uLnTx/>
                <a:uFillTx/>
                <a:latin typeface="Segoe UI"/>
                <a:ea typeface="+mn-ea"/>
                <a:cs typeface="+mn-cs"/>
              </a:rPr>
              <a:t> 2025</a:t>
            </a:r>
            <a:endParaRPr kumimoji="0" sz="1100" b="0" i="0" u="none" strike="noStrike" kern="1200" cap="none" spc="0" normalizeH="0" baseline="0" noProof="0" dirty="0">
              <a:ln>
                <a:noFill/>
              </a:ln>
              <a:solidFill>
                <a:srgbClr val="8888AA"/>
              </a:solidFill>
              <a:effectLst/>
              <a:uLnTx/>
              <a:uFillTx/>
              <a:latin typeface="Segoe UI"/>
              <a:ea typeface="+mn-ea"/>
              <a:cs typeface="+mn-cs"/>
            </a:endParaRPr>
          </a:p>
        </p:txBody>
      </p:sp>
      <p:sp>
        <p:nvSpPr>
          <p:cNvPr id="5" name="Rounded Rectangle 4"/>
          <p:cNvSpPr/>
          <p:nvPr/>
        </p:nvSpPr>
        <p:spPr>
          <a:xfrm>
            <a:off x="4846320" y="1645920"/>
            <a:ext cx="3108960" cy="2560320"/>
          </a:xfrm>
          <a:prstGeom prst="roundRect">
            <a:avLst/>
          </a:prstGeom>
          <a:solidFill>
            <a:srgbClr val="25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 name="TextBox 5"/>
          <p:cNvSpPr txBox="1"/>
          <p:nvPr/>
        </p:nvSpPr>
        <p:spPr>
          <a:xfrm>
            <a:off x="5120640" y="1920240"/>
            <a:ext cx="256032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800" b="1">
                <a:solidFill>
                  <a:srgbClr val="E84B3C"/>
                </a:solidFill>
                <a:latin typeface="Segoe UI"/>
              </a:defRPr>
            </a:pPr>
            <a:r>
              <a:rPr kumimoji="0" sz="4800" b="1" i="0" u="none" strike="noStrike" kern="1200" cap="none" spc="0" normalizeH="0" baseline="0" noProof="0">
                <a:ln>
                  <a:noFill/>
                </a:ln>
                <a:solidFill>
                  <a:srgbClr val="E84B3C"/>
                </a:solidFill>
                <a:effectLst/>
                <a:uLnTx/>
                <a:uFillTx/>
                <a:latin typeface="Segoe UI"/>
                <a:ea typeface="+mn-ea"/>
                <a:cs typeface="+mn-cs"/>
              </a:rPr>
              <a:t>95%</a:t>
            </a:r>
          </a:p>
          <a:p>
            <a:pPr marL="0" marR="0" lvl="0" indent="0" algn="ctr" defTabSz="457200" rtl="0" eaLnBrk="1" fontAlgn="auto" latinLnBrk="0" hangingPunct="1">
              <a:lnSpc>
                <a:spcPct val="100000"/>
              </a:lnSpc>
              <a:spcBef>
                <a:spcPts val="0"/>
              </a:spcBef>
              <a:spcAft>
                <a:spcPts val="0"/>
              </a:spcAft>
              <a:buClrTx/>
              <a:buSzTx/>
              <a:buFontTx/>
              <a:buNone/>
              <a:tabLst/>
              <a:defRPr sz="1400" b="0">
                <a:solidFill>
                  <a:srgbClr val="BBBBCC"/>
                </a:solidFill>
                <a:latin typeface="Segoe UI"/>
              </a:defRPr>
            </a:pPr>
            <a:r>
              <a:rPr kumimoji="0" sz="1400" b="0" i="0" u="none" strike="noStrike" kern="1200" cap="none" spc="0" normalizeH="0" baseline="0" noProof="0">
                <a:ln>
                  <a:noFill/>
                </a:ln>
                <a:solidFill>
                  <a:srgbClr val="BBBBCC"/>
                </a:solidFill>
                <a:effectLst/>
                <a:uLnTx/>
                <a:uFillTx/>
                <a:latin typeface="Segoe UI"/>
                <a:ea typeface="+mn-ea"/>
                <a:cs typeface="+mn-cs"/>
              </a:rPr>
              <a:t>of companies collect feedback</a:t>
            </a:r>
          </a:p>
          <a:p>
            <a:pPr marL="0" marR="0" lvl="0" indent="0" algn="ctr" defTabSz="457200" rtl="0" eaLnBrk="1" fontAlgn="auto" latinLnBrk="0" hangingPunct="1">
              <a:lnSpc>
                <a:spcPct val="100000"/>
              </a:lnSpc>
              <a:spcBef>
                <a:spcPts val="0"/>
              </a:spcBef>
              <a:spcAft>
                <a:spcPts val="0"/>
              </a:spcAft>
              <a:buClrTx/>
              <a:buSzTx/>
              <a:buFontTx/>
              <a:buNone/>
              <a:tabLst/>
              <a:defRPr sz="1400" b="0">
                <a:solidFill>
                  <a:srgbClr val="BBBBCC"/>
                </a:solidFill>
                <a:latin typeface="Segoe UI"/>
              </a:defRPr>
            </a:pPr>
            <a:r>
              <a:rPr kumimoji="0" sz="1400" b="0" i="0" u="none" strike="noStrike" kern="1200" cap="none" spc="0" normalizeH="0" baseline="0" noProof="0">
                <a:ln>
                  <a:noFill/>
                </a:ln>
                <a:solidFill>
                  <a:srgbClr val="BBBBCC"/>
                </a:solidFill>
                <a:effectLst/>
                <a:uLnTx/>
                <a:uFillTx/>
                <a:latin typeface="Segoe UI"/>
                <a:ea typeface="+mn-ea"/>
                <a:cs typeface="+mn-cs"/>
              </a:rPr>
              <a:t>but only 10% act on it</a:t>
            </a:r>
          </a:p>
          <a:p>
            <a:pPr marL="0" marR="0" lvl="0" indent="0" algn="l" defTabSz="457200" rtl="0" eaLnBrk="1" fontAlgn="auto" latinLnBrk="0" hangingPunct="1">
              <a:lnSpc>
                <a:spcPct val="100000"/>
              </a:lnSpc>
              <a:spcBef>
                <a:spcPts val="0"/>
              </a:spcBef>
              <a:spcAft>
                <a:spcPts val="0"/>
              </a:spcAft>
              <a:buClrTx/>
              <a:buSzTx/>
              <a:buFontTx/>
              <a:buNone/>
              <a:tabLst/>
              <a:defRPr sz="800" b="0">
                <a:solidFill>
                  <a:srgbClr val="FFFFFF"/>
                </a:solidFill>
                <a:latin typeface="Segoe UI"/>
              </a:defRPr>
            </a:pPr>
            <a:endParaRPr kumimoji="0" sz="800" b="0" i="0" u="none" strike="noStrike" kern="1200" cap="none" spc="0" normalizeH="0" baseline="0" noProof="0">
              <a:ln>
                <a:noFill/>
              </a:ln>
              <a:solidFill>
                <a:srgbClr val="FFFFFF"/>
              </a:solidFill>
              <a:effectLst/>
              <a:uLnTx/>
              <a:uFillTx/>
              <a:latin typeface="Segoe UI"/>
              <a:ea typeface="+mn-ea"/>
              <a:cs typeface="+mn-cs"/>
            </a:endParaRPr>
          </a:p>
          <a:p>
            <a:pPr marL="0" marR="0" lvl="0" indent="0" algn="ctr" defTabSz="457200" rtl="0" eaLnBrk="1" fontAlgn="auto" latinLnBrk="0" hangingPunct="1">
              <a:lnSpc>
                <a:spcPct val="100000"/>
              </a:lnSpc>
              <a:spcBef>
                <a:spcPts val="0"/>
              </a:spcBef>
              <a:spcAft>
                <a:spcPts val="0"/>
              </a:spcAft>
              <a:buClrTx/>
              <a:buSzTx/>
              <a:buFontTx/>
              <a:buNone/>
              <a:tabLst/>
              <a:defRPr sz="1100" b="0">
                <a:solidFill>
                  <a:srgbClr val="8888AA"/>
                </a:solidFill>
                <a:latin typeface="Segoe UI"/>
              </a:defRPr>
            </a:pPr>
            <a:r>
              <a:rPr kumimoji="0" sz="1100" b="0" i="0" u="none" strike="noStrike" kern="1200" cap="none" spc="0" normalizeH="0" baseline="0" noProof="0">
                <a:ln>
                  <a:noFill/>
                </a:ln>
                <a:solidFill>
                  <a:srgbClr val="8888AA"/>
                </a:solidFill>
                <a:effectLst/>
                <a:uLnTx/>
                <a:uFillTx/>
                <a:latin typeface="Segoe UI"/>
                <a:ea typeface="+mn-ea"/>
                <a:cs typeface="+mn-cs"/>
              </a:rPr>
              <a:t>Bain &amp; Company 2024</a:t>
            </a:r>
          </a:p>
        </p:txBody>
      </p:sp>
      <p:sp>
        <p:nvSpPr>
          <p:cNvPr id="7" name="Rounded Rectangle 6"/>
          <p:cNvSpPr/>
          <p:nvPr/>
        </p:nvSpPr>
        <p:spPr>
          <a:xfrm>
            <a:off x="8321040" y="1645920"/>
            <a:ext cx="3108960" cy="2560320"/>
          </a:xfrm>
          <a:prstGeom prst="roundRect">
            <a:avLst/>
          </a:prstGeom>
          <a:solidFill>
            <a:srgbClr val="25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TextBox 7"/>
          <p:cNvSpPr txBox="1"/>
          <p:nvPr/>
        </p:nvSpPr>
        <p:spPr>
          <a:xfrm>
            <a:off x="8595360" y="1920240"/>
            <a:ext cx="2560320" cy="1554272"/>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800" b="1">
                <a:solidFill>
                  <a:srgbClr val="0078D4"/>
                </a:solidFill>
                <a:latin typeface="Segoe UI"/>
              </a:defRPr>
            </a:pPr>
            <a:r>
              <a:rPr kumimoji="0" sz="4800" b="1" i="0" u="none" strike="noStrike" kern="1200" cap="none" spc="0" normalizeH="0" baseline="0" noProof="0" dirty="0">
                <a:ln>
                  <a:noFill/>
                </a:ln>
                <a:solidFill>
                  <a:srgbClr val="0078D4"/>
                </a:solidFill>
                <a:effectLst/>
                <a:uLnTx/>
                <a:uFillTx/>
                <a:latin typeface="Segoe UI"/>
                <a:ea typeface="+mn-ea"/>
                <a:cs typeface="+mn-cs"/>
              </a:rPr>
              <a:t>16%</a:t>
            </a:r>
          </a:p>
          <a:p>
            <a:pPr marL="0" marR="0" lvl="0" indent="0" algn="ctr" defTabSz="457200" rtl="0" eaLnBrk="1" fontAlgn="auto" latinLnBrk="0" hangingPunct="1">
              <a:lnSpc>
                <a:spcPct val="100000"/>
              </a:lnSpc>
              <a:spcBef>
                <a:spcPts val="0"/>
              </a:spcBef>
              <a:spcAft>
                <a:spcPts val="0"/>
              </a:spcAft>
              <a:buClrTx/>
              <a:buSzTx/>
              <a:buFontTx/>
              <a:buNone/>
              <a:tabLst/>
              <a:defRPr sz="1400" b="0">
                <a:solidFill>
                  <a:srgbClr val="BBBBCC"/>
                </a:solidFill>
                <a:latin typeface="Segoe UI"/>
              </a:defRPr>
            </a:pPr>
            <a:r>
              <a:rPr kumimoji="0" sz="1400" b="0" i="0" u="none" strike="noStrike" kern="1200" cap="none" spc="0" normalizeH="0" baseline="0" noProof="0" dirty="0">
                <a:ln>
                  <a:noFill/>
                </a:ln>
                <a:solidFill>
                  <a:srgbClr val="BBBBCC"/>
                </a:solidFill>
                <a:effectLst/>
                <a:uLnTx/>
                <a:uFillTx/>
                <a:latin typeface="Segoe UI"/>
                <a:ea typeface="+mn-ea"/>
                <a:cs typeface="+mn-cs"/>
              </a:rPr>
              <a:t>of customers believe their</a:t>
            </a:r>
          </a:p>
          <a:p>
            <a:pPr marL="0" marR="0" lvl="0" indent="0" algn="ctr" defTabSz="457200" rtl="0" eaLnBrk="1" fontAlgn="auto" latinLnBrk="0" hangingPunct="1">
              <a:lnSpc>
                <a:spcPct val="100000"/>
              </a:lnSpc>
              <a:spcBef>
                <a:spcPts val="0"/>
              </a:spcBef>
              <a:spcAft>
                <a:spcPts val="0"/>
              </a:spcAft>
              <a:buClrTx/>
              <a:buSzTx/>
              <a:buFontTx/>
              <a:buNone/>
              <a:tabLst/>
              <a:defRPr sz="1400" b="0">
                <a:solidFill>
                  <a:srgbClr val="BBBBCC"/>
                </a:solidFill>
                <a:latin typeface="Segoe UI"/>
              </a:defRPr>
            </a:pPr>
            <a:r>
              <a:rPr kumimoji="0" sz="1400" b="0" i="0" u="none" strike="noStrike" kern="1200" cap="none" spc="0" normalizeH="0" baseline="0" noProof="0" dirty="0">
                <a:ln>
                  <a:noFill/>
                </a:ln>
                <a:solidFill>
                  <a:srgbClr val="BBBBCC"/>
                </a:solidFill>
                <a:effectLst/>
                <a:uLnTx/>
                <a:uFillTx/>
                <a:latin typeface="Segoe UI"/>
                <a:ea typeface="+mn-ea"/>
                <a:cs typeface="+mn-cs"/>
              </a:rPr>
              <a:t>feedback drives actual change</a:t>
            </a:r>
          </a:p>
          <a:p>
            <a:pPr marL="0" marR="0" lvl="0" indent="0" algn="l" defTabSz="457200" rtl="0" eaLnBrk="1" fontAlgn="auto" latinLnBrk="0" hangingPunct="1">
              <a:lnSpc>
                <a:spcPct val="100000"/>
              </a:lnSpc>
              <a:spcBef>
                <a:spcPts val="0"/>
              </a:spcBef>
              <a:spcAft>
                <a:spcPts val="0"/>
              </a:spcAft>
              <a:buClrTx/>
              <a:buSzTx/>
              <a:buFontTx/>
              <a:buNone/>
              <a:tabLst/>
              <a:defRPr sz="800" b="0">
                <a:solidFill>
                  <a:srgbClr val="FFFFFF"/>
                </a:solidFill>
                <a:latin typeface="Segoe UI"/>
              </a:defRPr>
            </a:pPr>
            <a:endParaRPr kumimoji="0" sz="800" b="0" i="0" u="none" strike="noStrike" kern="1200" cap="none" spc="0" normalizeH="0" baseline="0" noProof="0" dirty="0">
              <a:ln>
                <a:noFill/>
              </a:ln>
              <a:solidFill>
                <a:srgbClr val="FFFFFF"/>
              </a:solidFill>
              <a:effectLst/>
              <a:uLnTx/>
              <a:uFillTx/>
              <a:latin typeface="Segoe UI"/>
              <a:ea typeface="+mn-ea"/>
              <a:cs typeface="+mn-cs"/>
            </a:endParaRPr>
          </a:p>
          <a:p>
            <a:pPr marL="0" marR="0" lvl="0" indent="0" algn="ctr" defTabSz="457200" rtl="0" eaLnBrk="1" fontAlgn="auto" latinLnBrk="0" hangingPunct="1">
              <a:lnSpc>
                <a:spcPct val="100000"/>
              </a:lnSpc>
              <a:spcBef>
                <a:spcPts val="0"/>
              </a:spcBef>
              <a:spcAft>
                <a:spcPts val="0"/>
              </a:spcAft>
              <a:buClrTx/>
              <a:buSzTx/>
              <a:buFontTx/>
              <a:buNone/>
              <a:tabLst/>
              <a:defRPr sz="1100" b="0">
                <a:solidFill>
                  <a:srgbClr val="8888AA"/>
                </a:solidFill>
                <a:latin typeface="Segoe UI"/>
              </a:defRPr>
            </a:pPr>
            <a:r>
              <a:rPr kumimoji="0" sz="1100" b="0" i="0" u="none" strike="noStrike" kern="1200" cap="none" spc="0" normalizeH="0" baseline="0" noProof="0" dirty="0">
                <a:ln>
                  <a:noFill/>
                </a:ln>
                <a:solidFill>
                  <a:srgbClr val="8888AA"/>
                </a:solidFill>
                <a:effectLst/>
                <a:uLnTx/>
                <a:uFillTx/>
                <a:latin typeface="Segoe UI"/>
                <a:ea typeface="+mn-ea"/>
                <a:cs typeface="+mn-cs"/>
              </a:rPr>
              <a:t>Gartner</a:t>
            </a:r>
            <a:r>
              <a:rPr kumimoji="0" lang="en-US" sz="1100" b="0" i="0" u="none" strike="noStrike" kern="1200" cap="none" spc="0" normalizeH="0" baseline="0" noProof="0" dirty="0">
                <a:ln>
                  <a:noFill/>
                </a:ln>
                <a:solidFill>
                  <a:srgbClr val="8888AA"/>
                </a:solidFill>
                <a:effectLst/>
                <a:uLnTx/>
                <a:uFillTx/>
                <a:latin typeface="Segoe UI"/>
                <a:ea typeface="+mn-ea"/>
                <a:cs typeface="+mn-cs"/>
              </a:rPr>
              <a:t> 2026</a:t>
            </a:r>
            <a:endParaRPr kumimoji="0" sz="1100" b="0" i="0" u="none" strike="noStrike" kern="1200" cap="none" spc="0" normalizeH="0" baseline="0" noProof="0" dirty="0">
              <a:ln>
                <a:noFill/>
              </a:ln>
              <a:solidFill>
                <a:srgbClr val="8888AA"/>
              </a:solidFill>
              <a:effectLst/>
              <a:uLnTx/>
              <a:uFillTx/>
              <a:latin typeface="Segoe UI"/>
              <a:ea typeface="+mn-ea"/>
              <a:cs typeface="+mn-cs"/>
            </a:endParaRPr>
          </a:p>
        </p:txBody>
      </p:sp>
      <p:sp>
        <p:nvSpPr>
          <p:cNvPr id="9" name="TextBox 8"/>
          <p:cNvSpPr txBox="1"/>
          <p:nvPr/>
        </p:nvSpPr>
        <p:spPr>
          <a:xfrm>
            <a:off x="1371600" y="4754880"/>
            <a:ext cx="9448495" cy="1077218"/>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b="0">
                <a:solidFill>
                  <a:srgbClr val="BBBBCC"/>
                </a:solidFill>
                <a:latin typeface="Segoe UI"/>
              </a:defRPr>
            </a:pPr>
            <a:r>
              <a:rPr kumimoji="0" lang="en-US" sz="1600" b="0" i="0" u="none" strike="noStrike" kern="1200" cap="none" spc="0" normalizeH="0" baseline="0" noProof="0" dirty="0">
                <a:ln>
                  <a:noFill/>
                </a:ln>
                <a:solidFill>
                  <a:srgbClr val="BBBBCC"/>
                </a:solidFill>
                <a:effectLst/>
                <a:uLnTx/>
                <a:uFillTx/>
                <a:latin typeface="Segoe UI"/>
                <a:ea typeface="+mn-ea"/>
                <a:cs typeface="+mn-cs"/>
              </a:rPr>
              <a:t>As product teams, it’s our mission to fix this and build customer confidence.</a:t>
            </a:r>
          </a:p>
          <a:p>
            <a:pPr marL="0" marR="0" lvl="0" indent="0" algn="ctr" defTabSz="457200" rtl="0" eaLnBrk="1" fontAlgn="auto" latinLnBrk="0" hangingPunct="1">
              <a:lnSpc>
                <a:spcPct val="100000"/>
              </a:lnSpc>
              <a:spcBef>
                <a:spcPts val="0"/>
              </a:spcBef>
              <a:spcAft>
                <a:spcPts val="0"/>
              </a:spcAft>
              <a:buClrTx/>
              <a:buSzTx/>
              <a:buFontTx/>
              <a:buNone/>
              <a:tabLst/>
              <a:defRPr sz="1600" b="0">
                <a:solidFill>
                  <a:srgbClr val="BBBBCC"/>
                </a:solidFill>
                <a:latin typeface="Segoe UI"/>
              </a:defRPr>
            </a:pPr>
            <a:r>
              <a:rPr kumimoji="0" sz="1600" b="0" i="0" u="none" strike="noStrike" kern="1200" cap="none" spc="0" normalizeH="0" baseline="0" noProof="0" dirty="0">
                <a:ln>
                  <a:noFill/>
                </a:ln>
                <a:solidFill>
                  <a:srgbClr val="BBBBCC"/>
                </a:solidFill>
                <a:effectLst/>
                <a:uLnTx/>
                <a:uFillTx/>
                <a:latin typeface="Segoe UI"/>
                <a:ea typeface="+mn-ea"/>
                <a:cs typeface="+mn-cs"/>
              </a:rPr>
              <a:t>The gap between collecting and acting on feedback is where products fail.</a:t>
            </a:r>
          </a:p>
          <a:p>
            <a:pPr marL="0" marR="0" lvl="0" indent="0" algn="ctr" defTabSz="457200" rtl="0" eaLnBrk="1" fontAlgn="auto" latinLnBrk="0" hangingPunct="1">
              <a:lnSpc>
                <a:spcPct val="100000"/>
              </a:lnSpc>
              <a:spcBef>
                <a:spcPts val="0"/>
              </a:spcBef>
              <a:spcAft>
                <a:spcPts val="0"/>
              </a:spcAft>
              <a:buClrTx/>
              <a:buSzTx/>
              <a:buFontTx/>
              <a:buNone/>
              <a:tabLst/>
              <a:defRPr sz="1600" b="0">
                <a:solidFill>
                  <a:srgbClr val="BBBBCC"/>
                </a:solidFill>
                <a:latin typeface="Segoe UI"/>
              </a:defRPr>
            </a:pPr>
            <a:r>
              <a:rPr kumimoji="0" sz="1600" b="0" i="0" u="none" strike="noStrike" kern="1200" cap="none" spc="0" normalizeH="0" baseline="0" noProof="0" dirty="0">
                <a:ln>
                  <a:noFill/>
                </a:ln>
                <a:solidFill>
                  <a:srgbClr val="BBBBCC"/>
                </a:solidFill>
                <a:effectLst/>
                <a:uLnTx/>
                <a:uFillTx/>
                <a:latin typeface="Segoe UI"/>
                <a:ea typeface="+mn-ea"/>
                <a:cs typeface="+mn-cs"/>
              </a:rPr>
              <a:t>Customers have essentially given up expecting to be heard</a:t>
            </a:r>
            <a:r>
              <a:rPr kumimoji="0" lang="en-US" sz="1600" b="0" i="0" u="none" strike="noStrike" kern="1200" cap="none" spc="0" normalizeH="0" baseline="0" noProof="0" dirty="0">
                <a:ln>
                  <a:noFill/>
                </a:ln>
                <a:solidFill>
                  <a:srgbClr val="BBBBCC"/>
                </a:solidFill>
                <a:effectLst/>
                <a:uLnTx/>
                <a:uFillTx/>
                <a:latin typeface="Segoe UI"/>
                <a:ea typeface="+mn-ea"/>
                <a:cs typeface="+mn-cs"/>
              </a:rPr>
              <a:t>.</a:t>
            </a:r>
            <a:endParaRPr kumimoji="0" sz="1600" b="0" i="0" u="none" strike="noStrike" kern="1200" cap="none" spc="0" normalizeH="0" baseline="0" noProof="0" dirty="0">
              <a:ln>
                <a:noFill/>
              </a:ln>
              <a:solidFill>
                <a:srgbClr val="BBBBCC"/>
              </a:solidFill>
              <a:effectLst/>
              <a:uLnTx/>
              <a:uFillTx/>
              <a:latin typeface="Segoe UI"/>
              <a:ea typeface="+mn-ea"/>
              <a:cs typeface="+mn-cs"/>
            </a:endParaRPr>
          </a:p>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00B294"/>
                </a:solidFill>
                <a:latin typeface="Segoe UI"/>
              </a:defRPr>
            </a:pPr>
            <a:r>
              <a:rPr kumimoji="0" sz="1600" b="1" i="0" u="none" strike="noStrike" kern="1200" cap="none" spc="0" normalizeH="0" baseline="0" noProof="0" dirty="0">
                <a:ln>
                  <a:noFill/>
                </a:ln>
                <a:solidFill>
                  <a:srgbClr val="00B294"/>
                </a:solidFill>
                <a:effectLst/>
                <a:uLnTx/>
                <a:uFillTx/>
                <a:latin typeface="Segoe UI"/>
                <a:ea typeface="+mn-ea"/>
                <a:cs typeface="+mn-cs"/>
              </a:rPr>
              <a:t>This is the trust gap we must close</a:t>
            </a:r>
            <a:r>
              <a:rPr kumimoji="0" lang="en-US" sz="1600" b="1" i="0" u="none" strike="noStrike" kern="1200" cap="none" spc="0" normalizeH="0" baseline="0" noProof="0" dirty="0">
                <a:ln>
                  <a:noFill/>
                </a:ln>
                <a:solidFill>
                  <a:srgbClr val="00B294"/>
                </a:solidFill>
                <a:effectLst/>
                <a:uLnTx/>
                <a:uFillTx/>
                <a:latin typeface="Segoe UI"/>
                <a:ea typeface="+mn-ea"/>
                <a:cs typeface="+mn-cs"/>
              </a:rPr>
              <a:t>, </a:t>
            </a:r>
            <a:r>
              <a:rPr kumimoji="0" sz="1600" b="1" i="0" u="none" strike="noStrike" kern="1200" cap="none" spc="0" normalizeH="0" baseline="0" noProof="0" dirty="0">
                <a:ln>
                  <a:noFill/>
                </a:ln>
                <a:solidFill>
                  <a:srgbClr val="00B294"/>
                </a:solidFill>
                <a:effectLst/>
                <a:uLnTx/>
                <a:uFillTx/>
                <a:latin typeface="Segoe UI"/>
                <a:ea typeface="+mn-ea"/>
                <a:cs typeface="+mn-cs"/>
              </a:rPr>
              <a:t>especially for AI products.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73152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000" b="1">
                <a:solidFill>
                  <a:srgbClr val="FFFFFF"/>
                </a:solidFill>
                <a:latin typeface="Segoe UI"/>
              </a:defRPr>
            </a:pPr>
            <a:r>
              <a:rPr kumimoji="0" sz="3000" b="1" i="0" u="none" strike="noStrike" kern="1200" cap="none" spc="0" normalizeH="0" baseline="0" noProof="0">
                <a:ln>
                  <a:noFill/>
                </a:ln>
                <a:solidFill>
                  <a:srgbClr val="FFFFFF"/>
                </a:solidFill>
                <a:effectLst/>
                <a:uLnTx/>
                <a:uFillTx/>
                <a:latin typeface="Segoe UI"/>
                <a:ea typeface="+mn-ea"/>
                <a:cs typeface="+mn-cs"/>
              </a:rPr>
              <a:t>The Cost of Not Listening</a:t>
            </a:r>
          </a:p>
        </p:txBody>
      </p:sp>
      <p:sp>
        <p:nvSpPr>
          <p:cNvPr id="3" name="Rounded Rectangle 2"/>
          <p:cNvSpPr/>
          <p:nvPr/>
        </p:nvSpPr>
        <p:spPr>
          <a:xfrm>
            <a:off x="1371600" y="1645920"/>
            <a:ext cx="3108960" cy="2560320"/>
          </a:xfrm>
          <a:prstGeom prst="roundRect">
            <a:avLst/>
          </a:prstGeom>
          <a:solidFill>
            <a:srgbClr val="25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1645920" y="1920240"/>
            <a:ext cx="256032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800" b="1">
                <a:solidFill>
                  <a:srgbClr val="E84B3C"/>
                </a:solidFill>
                <a:latin typeface="Segoe UI"/>
              </a:defRPr>
            </a:pPr>
            <a:r>
              <a:rPr kumimoji="0" sz="4800" b="1" i="0" u="none" strike="noStrike" kern="1200" cap="none" spc="0" normalizeH="0" baseline="0" noProof="0" dirty="0">
                <a:ln>
                  <a:noFill/>
                </a:ln>
                <a:solidFill>
                  <a:srgbClr val="E84B3C"/>
                </a:solidFill>
                <a:effectLst/>
                <a:uLnTx/>
                <a:uFillTx/>
                <a:latin typeface="Segoe UI"/>
                <a:ea typeface="+mn-ea"/>
                <a:cs typeface="+mn-cs"/>
              </a:rPr>
              <a:t>95%</a:t>
            </a:r>
          </a:p>
          <a:p>
            <a:pPr marL="0" marR="0" lvl="0" indent="0" algn="ctr" defTabSz="457200" rtl="0" eaLnBrk="1" fontAlgn="auto" latinLnBrk="0" hangingPunct="1">
              <a:lnSpc>
                <a:spcPct val="100000"/>
              </a:lnSpc>
              <a:spcBef>
                <a:spcPts val="0"/>
              </a:spcBef>
              <a:spcAft>
                <a:spcPts val="0"/>
              </a:spcAft>
              <a:buClrTx/>
              <a:buSzTx/>
              <a:buFontTx/>
              <a:buNone/>
              <a:tabLst/>
              <a:defRPr sz="1400" b="0">
                <a:solidFill>
                  <a:srgbClr val="BBBBCC"/>
                </a:solidFill>
                <a:latin typeface="Segoe UI"/>
              </a:defRPr>
            </a:pPr>
            <a:r>
              <a:rPr kumimoji="0" sz="1400" b="0" i="0" u="none" strike="noStrike" kern="1200" cap="none" spc="0" normalizeH="0" baseline="0" noProof="0" dirty="0">
                <a:ln>
                  <a:noFill/>
                </a:ln>
                <a:solidFill>
                  <a:srgbClr val="BBBBCC"/>
                </a:solidFill>
                <a:effectLst/>
                <a:uLnTx/>
                <a:uFillTx/>
                <a:latin typeface="Segoe UI"/>
                <a:ea typeface="+mn-ea"/>
                <a:cs typeface="+mn-cs"/>
              </a:rPr>
              <a:t>of GenAI projects deliver</a:t>
            </a:r>
          </a:p>
          <a:p>
            <a:pPr marL="0" marR="0" lvl="0" indent="0" algn="ctr" defTabSz="457200" rtl="0" eaLnBrk="1" fontAlgn="auto" latinLnBrk="0" hangingPunct="1">
              <a:lnSpc>
                <a:spcPct val="100000"/>
              </a:lnSpc>
              <a:spcBef>
                <a:spcPts val="0"/>
              </a:spcBef>
              <a:spcAft>
                <a:spcPts val="0"/>
              </a:spcAft>
              <a:buClrTx/>
              <a:buSzTx/>
              <a:buFontTx/>
              <a:buNone/>
              <a:tabLst/>
              <a:defRPr sz="1400" b="0">
                <a:solidFill>
                  <a:srgbClr val="BBBBCC"/>
                </a:solidFill>
                <a:latin typeface="Segoe UI"/>
              </a:defRPr>
            </a:pPr>
            <a:r>
              <a:rPr kumimoji="0" sz="1400" b="0" i="0" u="none" strike="noStrike" kern="1200" cap="none" spc="0" normalizeH="0" baseline="0" noProof="0" dirty="0">
                <a:ln>
                  <a:noFill/>
                </a:ln>
                <a:solidFill>
                  <a:srgbClr val="BBBBCC"/>
                </a:solidFill>
                <a:effectLst/>
                <a:uLnTx/>
                <a:uFillTx/>
                <a:latin typeface="Segoe UI"/>
                <a:ea typeface="+mn-ea"/>
                <a:cs typeface="+mn-cs"/>
              </a:rPr>
              <a:t>zero return — often lacking</a:t>
            </a:r>
          </a:p>
          <a:p>
            <a:pPr marL="0" marR="0" lvl="0" indent="0" algn="ctr" defTabSz="457200" rtl="0" eaLnBrk="1" fontAlgn="auto" latinLnBrk="0" hangingPunct="1">
              <a:lnSpc>
                <a:spcPct val="100000"/>
              </a:lnSpc>
              <a:spcBef>
                <a:spcPts val="0"/>
              </a:spcBef>
              <a:spcAft>
                <a:spcPts val="0"/>
              </a:spcAft>
              <a:buClrTx/>
              <a:buSzTx/>
              <a:buFontTx/>
              <a:buNone/>
              <a:tabLst/>
              <a:defRPr sz="1400" b="0">
                <a:solidFill>
                  <a:srgbClr val="BBBBCC"/>
                </a:solidFill>
                <a:latin typeface="Segoe UI"/>
              </a:defRPr>
            </a:pPr>
            <a:r>
              <a:rPr kumimoji="0" sz="1400" b="0" i="0" u="none" strike="noStrike" kern="1200" cap="none" spc="0" normalizeH="0" baseline="0" noProof="0" dirty="0">
                <a:ln>
                  <a:noFill/>
                </a:ln>
                <a:solidFill>
                  <a:srgbClr val="BBBBCC"/>
                </a:solidFill>
                <a:effectLst/>
                <a:uLnTx/>
                <a:uFillTx/>
                <a:latin typeface="Segoe UI"/>
                <a:ea typeface="+mn-ea"/>
                <a:cs typeface="+mn-cs"/>
              </a:rPr>
              <a:t>meaningful feedback loops</a:t>
            </a:r>
          </a:p>
          <a:p>
            <a:pPr marL="0" marR="0" lvl="0" indent="0" algn="l" defTabSz="457200" rtl="0" eaLnBrk="1" fontAlgn="auto" latinLnBrk="0" hangingPunct="1">
              <a:lnSpc>
                <a:spcPct val="100000"/>
              </a:lnSpc>
              <a:spcBef>
                <a:spcPts val="0"/>
              </a:spcBef>
              <a:spcAft>
                <a:spcPts val="0"/>
              </a:spcAft>
              <a:buClrTx/>
              <a:buSzTx/>
              <a:buFontTx/>
              <a:buNone/>
              <a:tabLst/>
              <a:defRPr sz="800" b="0">
                <a:solidFill>
                  <a:srgbClr val="FFFFFF"/>
                </a:solidFill>
                <a:latin typeface="Segoe UI"/>
              </a:defRPr>
            </a:pPr>
            <a:endParaRPr kumimoji="0" sz="800" b="0" i="0" u="none" strike="noStrike" kern="1200" cap="none" spc="0" normalizeH="0" baseline="0" noProof="0" dirty="0">
              <a:ln>
                <a:noFill/>
              </a:ln>
              <a:solidFill>
                <a:srgbClr val="FFFFFF"/>
              </a:solidFill>
              <a:effectLst/>
              <a:uLnTx/>
              <a:uFillTx/>
              <a:latin typeface="Segoe UI"/>
              <a:ea typeface="+mn-ea"/>
              <a:cs typeface="+mn-cs"/>
            </a:endParaRPr>
          </a:p>
          <a:p>
            <a:pPr marL="0" marR="0" lvl="0" indent="0" algn="ctr" defTabSz="457200" rtl="0" eaLnBrk="1" fontAlgn="auto" latinLnBrk="0" hangingPunct="1">
              <a:lnSpc>
                <a:spcPct val="100000"/>
              </a:lnSpc>
              <a:spcBef>
                <a:spcPts val="0"/>
              </a:spcBef>
              <a:spcAft>
                <a:spcPts val="0"/>
              </a:spcAft>
              <a:buClrTx/>
              <a:buSzTx/>
              <a:buFontTx/>
              <a:buNone/>
              <a:tabLst/>
              <a:defRPr sz="1100" b="0">
                <a:solidFill>
                  <a:srgbClr val="8888AA"/>
                </a:solidFill>
                <a:latin typeface="Segoe UI"/>
              </a:defRPr>
            </a:pPr>
            <a:r>
              <a:rPr kumimoji="0" sz="1100" b="0" i="0" u="none" strike="noStrike" kern="1200" cap="none" spc="0" normalizeH="0" baseline="0" noProof="0" dirty="0">
                <a:ln>
                  <a:noFill/>
                </a:ln>
                <a:solidFill>
                  <a:srgbClr val="8888AA"/>
                </a:solidFill>
                <a:effectLst/>
                <a:uLnTx/>
                <a:uFillTx/>
                <a:latin typeface="Segoe UI"/>
                <a:ea typeface="+mn-ea"/>
                <a:cs typeface="+mn-cs"/>
              </a:rPr>
              <a:t>MIT AI Report 2025</a:t>
            </a:r>
          </a:p>
        </p:txBody>
      </p:sp>
      <p:sp>
        <p:nvSpPr>
          <p:cNvPr id="5" name="Rounded Rectangle 4"/>
          <p:cNvSpPr/>
          <p:nvPr/>
        </p:nvSpPr>
        <p:spPr>
          <a:xfrm>
            <a:off x="4846320" y="1645920"/>
            <a:ext cx="3108960" cy="2560320"/>
          </a:xfrm>
          <a:prstGeom prst="roundRect">
            <a:avLst/>
          </a:prstGeom>
          <a:solidFill>
            <a:srgbClr val="25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 name="TextBox 5"/>
          <p:cNvSpPr txBox="1"/>
          <p:nvPr/>
        </p:nvSpPr>
        <p:spPr>
          <a:xfrm>
            <a:off x="5120640" y="1920240"/>
            <a:ext cx="2560320" cy="20116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800" b="1">
                <a:solidFill>
                  <a:srgbClr val="FF8C00"/>
                </a:solidFill>
                <a:latin typeface="Segoe UI"/>
              </a:defRPr>
            </a:pPr>
            <a:r>
              <a:rPr kumimoji="0" sz="4800" b="1" i="0" u="none" strike="noStrike" kern="1200" cap="none" spc="0" normalizeH="0" baseline="0" noProof="0" dirty="0">
                <a:ln>
                  <a:noFill/>
                </a:ln>
                <a:solidFill>
                  <a:srgbClr val="FF8C00"/>
                </a:solidFill>
                <a:effectLst/>
                <a:uLnTx/>
                <a:uFillTx/>
                <a:latin typeface="Segoe UI"/>
                <a:ea typeface="+mn-ea"/>
                <a:cs typeface="+mn-cs"/>
              </a:rPr>
              <a:t>$3.7T</a:t>
            </a:r>
          </a:p>
          <a:p>
            <a:pPr marL="0" marR="0" lvl="0" indent="0" algn="ctr" defTabSz="457200" rtl="0" eaLnBrk="1" fontAlgn="auto" latinLnBrk="0" hangingPunct="1">
              <a:lnSpc>
                <a:spcPct val="100000"/>
              </a:lnSpc>
              <a:spcBef>
                <a:spcPts val="0"/>
              </a:spcBef>
              <a:spcAft>
                <a:spcPts val="0"/>
              </a:spcAft>
              <a:buClrTx/>
              <a:buSzTx/>
              <a:buFontTx/>
              <a:buNone/>
              <a:tabLst/>
              <a:defRPr sz="1400" b="0">
                <a:solidFill>
                  <a:srgbClr val="BBBBCC"/>
                </a:solidFill>
                <a:latin typeface="Segoe UI"/>
              </a:defRPr>
            </a:pPr>
            <a:r>
              <a:rPr kumimoji="0" sz="1400" b="0" i="0" u="none" strike="noStrike" kern="1200" cap="none" spc="0" normalizeH="0" baseline="0" noProof="0" dirty="0">
                <a:ln>
                  <a:noFill/>
                </a:ln>
                <a:solidFill>
                  <a:srgbClr val="BBBBCC"/>
                </a:solidFill>
                <a:effectLst/>
                <a:uLnTx/>
                <a:uFillTx/>
                <a:latin typeface="Segoe UI"/>
                <a:ea typeface="+mn-ea"/>
                <a:cs typeface="+mn-cs"/>
              </a:rPr>
              <a:t>lost annually due to</a:t>
            </a:r>
          </a:p>
          <a:p>
            <a:pPr marL="0" marR="0" lvl="0" indent="0" algn="ctr" defTabSz="457200" rtl="0" eaLnBrk="1" fontAlgn="auto" latinLnBrk="0" hangingPunct="1">
              <a:lnSpc>
                <a:spcPct val="100000"/>
              </a:lnSpc>
              <a:spcBef>
                <a:spcPts val="0"/>
              </a:spcBef>
              <a:spcAft>
                <a:spcPts val="0"/>
              </a:spcAft>
              <a:buClrTx/>
              <a:buSzTx/>
              <a:buFontTx/>
              <a:buNone/>
              <a:tabLst/>
              <a:defRPr sz="1400" b="0">
                <a:solidFill>
                  <a:srgbClr val="BBBBCC"/>
                </a:solidFill>
                <a:latin typeface="Segoe UI"/>
              </a:defRPr>
            </a:pPr>
            <a:r>
              <a:rPr kumimoji="0" sz="1400" b="0" i="0" u="none" strike="noStrike" kern="1200" cap="none" spc="0" normalizeH="0" baseline="0" noProof="0" dirty="0">
                <a:ln>
                  <a:noFill/>
                </a:ln>
                <a:solidFill>
                  <a:srgbClr val="BBBBCC"/>
                </a:solidFill>
                <a:effectLst/>
                <a:uLnTx/>
                <a:uFillTx/>
                <a:latin typeface="Segoe UI"/>
                <a:ea typeface="+mn-ea"/>
                <a:cs typeface="+mn-cs"/>
              </a:rPr>
              <a:t>poor customer experience</a:t>
            </a:r>
          </a:p>
          <a:p>
            <a:pPr marL="0" marR="0" lvl="0" indent="0" algn="l" defTabSz="457200" rtl="0" eaLnBrk="1" fontAlgn="auto" latinLnBrk="0" hangingPunct="1">
              <a:lnSpc>
                <a:spcPct val="100000"/>
              </a:lnSpc>
              <a:spcBef>
                <a:spcPts val="0"/>
              </a:spcBef>
              <a:spcAft>
                <a:spcPts val="0"/>
              </a:spcAft>
              <a:buClrTx/>
              <a:buSzTx/>
              <a:buFontTx/>
              <a:buNone/>
              <a:tabLst/>
              <a:defRPr sz="800" b="0">
                <a:solidFill>
                  <a:srgbClr val="FFFFFF"/>
                </a:solidFill>
                <a:latin typeface="Segoe UI"/>
              </a:defRPr>
            </a:pPr>
            <a:endParaRPr kumimoji="0" sz="800" b="0" i="0" u="none" strike="noStrike" kern="1200" cap="none" spc="0" normalizeH="0" baseline="0" noProof="0" dirty="0">
              <a:ln>
                <a:noFill/>
              </a:ln>
              <a:solidFill>
                <a:srgbClr val="FFFFFF"/>
              </a:solidFill>
              <a:effectLst/>
              <a:uLnTx/>
              <a:uFillTx/>
              <a:latin typeface="Segoe UI"/>
              <a:ea typeface="+mn-ea"/>
              <a:cs typeface="+mn-cs"/>
            </a:endParaRPr>
          </a:p>
          <a:p>
            <a:pPr marL="0" marR="0" lvl="0" indent="0" algn="ctr" defTabSz="457200" rtl="0" eaLnBrk="1" fontAlgn="auto" latinLnBrk="0" hangingPunct="1">
              <a:lnSpc>
                <a:spcPct val="100000"/>
              </a:lnSpc>
              <a:spcBef>
                <a:spcPts val="0"/>
              </a:spcBef>
              <a:spcAft>
                <a:spcPts val="0"/>
              </a:spcAft>
              <a:buClrTx/>
              <a:buSzTx/>
              <a:buFontTx/>
              <a:buNone/>
              <a:tabLst/>
              <a:defRPr sz="1100" b="0">
                <a:solidFill>
                  <a:srgbClr val="8888AA"/>
                </a:solidFill>
                <a:latin typeface="Segoe UI"/>
              </a:defRPr>
            </a:pPr>
            <a:r>
              <a:rPr kumimoji="0" sz="1100" b="0" i="0" u="none" strike="noStrike" kern="1200" cap="none" spc="0" normalizeH="0" baseline="0" noProof="0" dirty="0">
                <a:ln>
                  <a:noFill/>
                </a:ln>
                <a:solidFill>
                  <a:srgbClr val="8888AA"/>
                </a:solidFill>
                <a:effectLst/>
                <a:uLnTx/>
                <a:uFillTx/>
                <a:latin typeface="Segoe UI"/>
                <a:ea typeface="+mn-ea"/>
                <a:cs typeface="+mn-cs"/>
              </a:rPr>
              <a:t>Qualtrics XM Institute 2024</a:t>
            </a:r>
          </a:p>
        </p:txBody>
      </p:sp>
      <p:sp>
        <p:nvSpPr>
          <p:cNvPr id="7" name="Rounded Rectangle 6"/>
          <p:cNvSpPr/>
          <p:nvPr/>
        </p:nvSpPr>
        <p:spPr>
          <a:xfrm>
            <a:off x="8321040" y="1645920"/>
            <a:ext cx="3108960" cy="2560320"/>
          </a:xfrm>
          <a:prstGeom prst="roundRect">
            <a:avLst/>
          </a:prstGeom>
          <a:solidFill>
            <a:srgbClr val="25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TextBox 7"/>
          <p:cNvSpPr txBox="1"/>
          <p:nvPr/>
        </p:nvSpPr>
        <p:spPr>
          <a:xfrm>
            <a:off x="8595360" y="1920240"/>
            <a:ext cx="2560320" cy="1769715"/>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800" b="1">
                <a:solidFill>
                  <a:srgbClr val="00B294"/>
                </a:solidFill>
                <a:latin typeface="Segoe UI"/>
              </a:defRPr>
            </a:pPr>
            <a:r>
              <a:rPr kumimoji="0" sz="4800" b="1" i="0" u="none" strike="noStrike" kern="1200" cap="none" spc="0" normalizeH="0" baseline="0" noProof="0" dirty="0">
                <a:ln>
                  <a:noFill/>
                </a:ln>
                <a:solidFill>
                  <a:srgbClr val="00B294"/>
                </a:solidFill>
                <a:effectLst/>
                <a:uLnTx/>
                <a:uFillTx/>
                <a:latin typeface="Segoe UI"/>
                <a:ea typeface="+mn-ea"/>
                <a:cs typeface="+mn-cs"/>
              </a:rPr>
              <a:t>41%</a:t>
            </a:r>
          </a:p>
          <a:p>
            <a:pPr marL="0" marR="0" lvl="0" indent="0" algn="ctr" defTabSz="457200" rtl="0" eaLnBrk="1" fontAlgn="auto" latinLnBrk="0" hangingPunct="1">
              <a:lnSpc>
                <a:spcPct val="100000"/>
              </a:lnSpc>
              <a:spcBef>
                <a:spcPts val="0"/>
              </a:spcBef>
              <a:spcAft>
                <a:spcPts val="0"/>
              </a:spcAft>
              <a:buClrTx/>
              <a:buSzTx/>
              <a:buFontTx/>
              <a:buNone/>
              <a:tabLst/>
              <a:defRPr sz="1400" b="0">
                <a:solidFill>
                  <a:srgbClr val="BBBBCC"/>
                </a:solidFill>
                <a:latin typeface="Segoe UI"/>
              </a:defRPr>
            </a:pPr>
            <a:r>
              <a:rPr kumimoji="0" sz="1400" b="0" i="0" u="none" strike="noStrike" kern="1200" cap="none" spc="0" normalizeH="0" baseline="0" noProof="0" dirty="0">
                <a:ln>
                  <a:noFill/>
                </a:ln>
                <a:solidFill>
                  <a:srgbClr val="BBBBCC"/>
                </a:solidFill>
                <a:effectLst/>
                <a:uLnTx/>
                <a:uFillTx/>
                <a:latin typeface="Segoe UI"/>
                <a:ea typeface="+mn-ea"/>
                <a:cs typeface="+mn-cs"/>
              </a:rPr>
              <a:t>faster revenue growth for</a:t>
            </a:r>
          </a:p>
          <a:p>
            <a:pPr marL="0" marR="0" lvl="0" indent="0" algn="ctr" defTabSz="457200" rtl="0" eaLnBrk="1" fontAlgn="auto" latinLnBrk="0" hangingPunct="1">
              <a:lnSpc>
                <a:spcPct val="100000"/>
              </a:lnSpc>
              <a:spcBef>
                <a:spcPts val="0"/>
              </a:spcBef>
              <a:spcAft>
                <a:spcPts val="0"/>
              </a:spcAft>
              <a:buClrTx/>
              <a:buSzTx/>
              <a:buFontTx/>
              <a:buNone/>
              <a:tabLst/>
              <a:defRPr sz="1400" b="0">
                <a:solidFill>
                  <a:srgbClr val="BBBBCC"/>
                </a:solidFill>
                <a:latin typeface="Segoe UI"/>
              </a:defRPr>
            </a:pPr>
            <a:r>
              <a:rPr kumimoji="0" sz="1400" b="0" i="0" u="none" strike="noStrike" kern="1200" cap="none" spc="0" normalizeH="0" baseline="0" noProof="0" dirty="0">
                <a:ln>
                  <a:noFill/>
                </a:ln>
                <a:solidFill>
                  <a:srgbClr val="BBBBCC"/>
                </a:solidFill>
                <a:effectLst/>
                <a:uLnTx/>
                <a:uFillTx/>
                <a:latin typeface="Segoe UI"/>
                <a:ea typeface="+mn-ea"/>
                <a:cs typeface="+mn-cs"/>
              </a:rPr>
              <a:t>customer-obsessed companies</a:t>
            </a:r>
          </a:p>
          <a:p>
            <a:pPr marL="0" marR="0" lvl="0" indent="0" algn="l" defTabSz="457200" rtl="0" eaLnBrk="1" fontAlgn="auto" latinLnBrk="0" hangingPunct="1">
              <a:lnSpc>
                <a:spcPct val="100000"/>
              </a:lnSpc>
              <a:spcBef>
                <a:spcPts val="0"/>
              </a:spcBef>
              <a:spcAft>
                <a:spcPts val="0"/>
              </a:spcAft>
              <a:buClrTx/>
              <a:buSzTx/>
              <a:buFontTx/>
              <a:buNone/>
              <a:tabLst/>
              <a:defRPr sz="800" b="0">
                <a:solidFill>
                  <a:srgbClr val="FFFFFF"/>
                </a:solidFill>
                <a:latin typeface="Segoe UI"/>
              </a:defRPr>
            </a:pPr>
            <a:endParaRPr kumimoji="0" sz="800" b="0" i="0" u="none" strike="noStrike" kern="1200" cap="none" spc="0" normalizeH="0" baseline="0" noProof="0" dirty="0">
              <a:ln>
                <a:noFill/>
              </a:ln>
              <a:solidFill>
                <a:srgbClr val="FFFFFF"/>
              </a:solidFill>
              <a:effectLst/>
              <a:uLnTx/>
              <a:uFillTx/>
              <a:latin typeface="Segoe UI"/>
              <a:ea typeface="+mn-ea"/>
              <a:cs typeface="+mn-cs"/>
            </a:endParaRPr>
          </a:p>
          <a:p>
            <a:pPr marL="0" marR="0" lvl="0" indent="0" algn="ctr" defTabSz="457200" rtl="0" eaLnBrk="1" fontAlgn="auto" latinLnBrk="0" hangingPunct="1">
              <a:lnSpc>
                <a:spcPct val="100000"/>
              </a:lnSpc>
              <a:spcBef>
                <a:spcPts val="0"/>
              </a:spcBef>
              <a:spcAft>
                <a:spcPts val="0"/>
              </a:spcAft>
              <a:buClrTx/>
              <a:buSzTx/>
              <a:buFontTx/>
              <a:buNone/>
              <a:tabLst/>
              <a:defRPr sz="1100" b="0">
                <a:solidFill>
                  <a:srgbClr val="8888AA"/>
                </a:solidFill>
                <a:latin typeface="Segoe UI"/>
              </a:defRPr>
            </a:pPr>
            <a:r>
              <a:rPr kumimoji="0" sz="1100" b="0" i="0" u="none" strike="noStrike" kern="1200" cap="none" spc="0" normalizeH="0" baseline="0" noProof="0" dirty="0">
                <a:ln>
                  <a:noFill/>
                </a:ln>
                <a:solidFill>
                  <a:srgbClr val="8888AA"/>
                </a:solidFill>
                <a:effectLst/>
                <a:uLnTx/>
                <a:uFillTx/>
                <a:latin typeface="Segoe UI"/>
                <a:ea typeface="+mn-ea"/>
                <a:cs typeface="+mn-cs"/>
              </a:rPr>
              <a:t>Forrester 202</a:t>
            </a:r>
            <a:r>
              <a:rPr kumimoji="0" lang="en-US" sz="1100" b="0" i="0" u="none" strike="noStrike" kern="1200" cap="none" spc="0" normalizeH="0" baseline="0" noProof="0" dirty="0">
                <a:ln>
                  <a:noFill/>
                </a:ln>
                <a:solidFill>
                  <a:srgbClr val="8888AA"/>
                </a:solidFill>
                <a:effectLst/>
                <a:uLnTx/>
                <a:uFillTx/>
                <a:latin typeface="Segoe UI"/>
                <a:ea typeface="+mn-ea"/>
                <a:cs typeface="+mn-cs"/>
              </a:rPr>
              <a:t>5</a:t>
            </a:r>
            <a:endParaRPr kumimoji="0" sz="1100" b="0" i="0" u="none" strike="noStrike" kern="1200" cap="none" spc="0" normalizeH="0" baseline="0" noProof="0" dirty="0">
              <a:ln>
                <a:noFill/>
              </a:ln>
              <a:solidFill>
                <a:srgbClr val="8888AA"/>
              </a:solidFill>
              <a:effectLst/>
              <a:uLnTx/>
              <a:uFillTx/>
              <a:latin typeface="Segoe UI"/>
              <a:ea typeface="+mn-ea"/>
              <a:cs typeface="+mn-cs"/>
            </a:endParaRPr>
          </a:p>
        </p:txBody>
      </p:sp>
      <p:sp>
        <p:nvSpPr>
          <p:cNvPr id="9" name="TextBox 8"/>
          <p:cNvSpPr txBox="1"/>
          <p:nvPr/>
        </p:nvSpPr>
        <p:spPr>
          <a:xfrm>
            <a:off x="1371600" y="4754880"/>
            <a:ext cx="9448495" cy="83099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b="0">
                <a:solidFill>
                  <a:srgbClr val="BBBBCC"/>
                </a:solidFill>
                <a:latin typeface="Segoe UI"/>
              </a:defRPr>
            </a:pPr>
            <a:r>
              <a:rPr kumimoji="0" sz="1600" b="0" i="0" u="none" strike="noStrike" kern="1200" cap="none" spc="0" normalizeH="0" baseline="0" noProof="0" dirty="0">
                <a:ln>
                  <a:noFill/>
                </a:ln>
                <a:solidFill>
                  <a:srgbClr val="BBBBCC"/>
                </a:solidFill>
                <a:effectLst/>
                <a:uLnTx/>
                <a:uFillTx/>
                <a:latin typeface="Segoe UI"/>
                <a:ea typeface="+mn-ea"/>
                <a:cs typeface="+mn-cs"/>
              </a:rPr>
              <a:t>Most AI products fail because they skip the feedback loop.</a:t>
            </a:r>
          </a:p>
          <a:p>
            <a:pPr marL="0" marR="0" lvl="0" indent="0" algn="ctr" defTabSz="457200" rtl="0" eaLnBrk="1" fontAlgn="auto" latinLnBrk="0" hangingPunct="1">
              <a:lnSpc>
                <a:spcPct val="100000"/>
              </a:lnSpc>
              <a:spcBef>
                <a:spcPts val="0"/>
              </a:spcBef>
              <a:spcAft>
                <a:spcPts val="0"/>
              </a:spcAft>
              <a:buClrTx/>
              <a:buSzTx/>
              <a:buFontTx/>
              <a:buNone/>
              <a:tabLst/>
              <a:defRPr sz="1600" b="0">
                <a:solidFill>
                  <a:srgbClr val="BBBBCC"/>
                </a:solidFill>
                <a:latin typeface="Segoe UI"/>
              </a:defRPr>
            </a:pPr>
            <a:r>
              <a:rPr kumimoji="0" sz="1600" b="0" i="0" u="none" strike="noStrike" kern="1200" cap="none" spc="0" normalizeH="0" baseline="0" noProof="0" dirty="0">
                <a:ln>
                  <a:noFill/>
                </a:ln>
                <a:solidFill>
                  <a:srgbClr val="BBBBCC"/>
                </a:solidFill>
                <a:effectLst/>
                <a:uLnTx/>
                <a:uFillTx/>
                <a:latin typeface="Segoe UI"/>
                <a:ea typeface="+mn-ea"/>
                <a:cs typeface="+mn-cs"/>
              </a:rPr>
              <a:t>The cost is measured in trillions. But the companies that listen grow 41% faster.</a:t>
            </a:r>
          </a:p>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00B294"/>
                </a:solidFill>
                <a:latin typeface="Segoe UI"/>
              </a:defRPr>
            </a:pPr>
            <a:r>
              <a:rPr kumimoji="0" lang="en-US" sz="1600" b="1" i="0" u="none" strike="noStrike" kern="1200" cap="none" spc="0" normalizeH="0" baseline="0" noProof="0" dirty="0">
                <a:ln>
                  <a:noFill/>
                </a:ln>
                <a:solidFill>
                  <a:srgbClr val="00B294"/>
                </a:solidFill>
                <a:effectLst/>
                <a:uLnTx/>
                <a:uFillTx/>
                <a:latin typeface="Segoe UI"/>
                <a:ea typeface="+mn-ea"/>
                <a:cs typeface="+mn-cs"/>
              </a:rPr>
              <a:t>Customers are your best friends in this process</a:t>
            </a:r>
            <a:r>
              <a:rPr kumimoji="0" sz="1600" b="1" i="0" u="none" strike="noStrike" kern="1200" cap="none" spc="0" normalizeH="0" baseline="0" noProof="0" dirty="0">
                <a:ln>
                  <a:noFill/>
                </a:ln>
                <a:solidFill>
                  <a:srgbClr val="00B294"/>
                </a:solidFill>
                <a:effectLst/>
                <a:uLnTx/>
                <a:uFillTx/>
                <a:latin typeface="Segoe UI"/>
                <a:ea typeface="+mn-ea"/>
                <a:cs typeface="+mn-cs"/>
              </a:rPr>
              <a: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728655" cy="73152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000" b="1">
                <a:solidFill>
                  <a:srgbClr val="FFFFFF"/>
                </a:solidFill>
                <a:latin typeface="Segoe UI"/>
              </a:defRPr>
            </a:pPr>
            <a:r>
              <a:rPr kumimoji="0" sz="3000" b="1" i="0" u="none" strike="noStrike" kern="1200" cap="none" spc="0" normalizeH="0" baseline="0" noProof="0">
                <a:ln>
                  <a:noFill/>
                </a:ln>
                <a:solidFill>
                  <a:srgbClr val="FFFFFF"/>
                </a:solidFill>
                <a:effectLst/>
                <a:uLnTx/>
                <a:uFillTx/>
                <a:latin typeface="Segoe UI"/>
                <a:ea typeface="+mn-ea"/>
                <a:cs typeface="+mn-cs"/>
              </a:rPr>
              <a:t>The Dual Challenge of Customer Feedback</a:t>
            </a:r>
          </a:p>
        </p:txBody>
      </p:sp>
      <p:sp>
        <p:nvSpPr>
          <p:cNvPr id="3" name="Rounded Rectangle 2"/>
          <p:cNvSpPr/>
          <p:nvPr/>
        </p:nvSpPr>
        <p:spPr>
          <a:xfrm>
            <a:off x="1097280" y="1645920"/>
            <a:ext cx="4754880" cy="3474720"/>
          </a:xfrm>
          <a:prstGeom prst="roundRect">
            <a:avLst/>
          </a:prstGeom>
          <a:solidFill>
            <a:srgbClr val="25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1463040" y="1920240"/>
            <a:ext cx="4023360" cy="216982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200" b="1">
                <a:solidFill>
                  <a:srgbClr val="FF8C00"/>
                </a:solidFill>
                <a:latin typeface="Segoe UI"/>
              </a:defRPr>
            </a:pPr>
            <a:r>
              <a:rPr kumimoji="0" sz="2200" b="1" i="0" u="none" strike="noStrike" kern="1200" cap="none" spc="0" normalizeH="0" baseline="0" noProof="0" dirty="0">
                <a:ln>
                  <a:noFill/>
                </a:ln>
                <a:solidFill>
                  <a:srgbClr val="FF8C00"/>
                </a:solidFill>
                <a:effectLst/>
                <a:uLnTx/>
                <a:uFillTx/>
                <a:latin typeface="Segoe UI"/>
                <a:ea typeface="+mn-ea"/>
                <a:cs typeface="+mn-cs"/>
              </a:rPr>
              <a:t>Challenge 1: Scale</a:t>
            </a:r>
          </a:p>
          <a:p>
            <a:pPr marL="0" marR="0" lvl="0" indent="0" algn="l" defTabSz="457200" rtl="0" eaLnBrk="1" fontAlgn="auto" latinLnBrk="0" hangingPunct="1">
              <a:lnSpc>
                <a:spcPct val="100000"/>
              </a:lnSpc>
              <a:spcBef>
                <a:spcPts val="0"/>
              </a:spcBef>
              <a:spcAft>
                <a:spcPts val="0"/>
              </a:spcAft>
              <a:buClrTx/>
              <a:buSzTx/>
              <a:buFontTx/>
              <a:buNone/>
              <a:tabLst/>
              <a:defRPr sz="800" b="0">
                <a:solidFill>
                  <a:srgbClr val="FFFFFF"/>
                </a:solidFill>
                <a:latin typeface="Segoe UI"/>
              </a:defRPr>
            </a:pPr>
            <a:endParaRPr kumimoji="0" sz="800" b="0" i="0" u="none" strike="noStrike" kern="1200" cap="none" spc="0" normalizeH="0" baseline="0" noProof="0" dirty="0">
              <a:ln>
                <a:noFill/>
              </a:ln>
              <a:solidFill>
                <a:srgbClr val="FFFFFF"/>
              </a:solidFill>
              <a:effectLst/>
              <a:uLnTx/>
              <a:uFillTx/>
              <a:latin typeface="Segoe U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sz="1500" b="0">
                <a:solidFill>
                  <a:srgbClr val="BBBBCC"/>
                </a:solidFill>
                <a:latin typeface="Segoe UI"/>
              </a:defRPr>
            </a:pPr>
            <a:r>
              <a:rPr kumimoji="0" sz="1500" b="0" i="0" u="none" strike="noStrike" kern="1200" cap="none" spc="0" normalizeH="0" baseline="0" noProof="0" dirty="0">
                <a:ln>
                  <a:noFill/>
                </a:ln>
                <a:solidFill>
                  <a:srgbClr val="BBBBCC"/>
                </a:solidFill>
                <a:effectLst/>
                <a:uLnTx/>
                <a:uFillTx/>
                <a:latin typeface="Segoe UI"/>
                <a:ea typeface="+mn-ea"/>
                <a:cs typeface="+mn-cs"/>
              </a:rPr>
              <a:t>• Feedback comes from dozens of channels</a:t>
            </a:r>
          </a:p>
          <a:p>
            <a:pPr marL="0" marR="0" lvl="0" indent="0" algn="l" defTabSz="457200" rtl="0" eaLnBrk="1" fontAlgn="auto" latinLnBrk="0" hangingPunct="1">
              <a:lnSpc>
                <a:spcPct val="100000"/>
              </a:lnSpc>
              <a:spcBef>
                <a:spcPts val="0"/>
              </a:spcBef>
              <a:spcAft>
                <a:spcPts val="0"/>
              </a:spcAft>
              <a:buClrTx/>
              <a:buSzTx/>
              <a:buFontTx/>
              <a:buNone/>
              <a:tabLst/>
              <a:defRPr sz="1500" b="0">
                <a:solidFill>
                  <a:srgbClr val="BBBBCC"/>
                </a:solidFill>
                <a:latin typeface="Segoe UI"/>
              </a:defRPr>
            </a:pPr>
            <a:r>
              <a:rPr kumimoji="0" sz="1500" b="0" i="0" u="none" strike="noStrike" kern="1200" cap="none" spc="0" normalizeH="0" baseline="0" noProof="0" dirty="0">
                <a:ln>
                  <a:noFill/>
                </a:ln>
                <a:solidFill>
                  <a:srgbClr val="BBBBCC"/>
                </a:solidFill>
                <a:effectLst/>
                <a:uLnTx/>
                <a:uFillTx/>
                <a:latin typeface="Segoe UI"/>
                <a:ea typeface="+mn-ea"/>
                <a:cs typeface="+mn-cs"/>
              </a:rPr>
              <a:t>• Meetings, </a:t>
            </a:r>
            <a:r>
              <a:rPr kumimoji="0" lang="en-US" sz="1500" b="0" i="0" u="none" strike="noStrike" kern="1200" cap="none" spc="0" normalizeH="0" baseline="0" noProof="0" dirty="0">
                <a:ln>
                  <a:noFill/>
                </a:ln>
                <a:solidFill>
                  <a:srgbClr val="BBBBCC"/>
                </a:solidFill>
                <a:effectLst/>
                <a:uLnTx/>
                <a:uFillTx/>
                <a:latin typeface="Segoe UI"/>
                <a:ea typeface="+mn-ea"/>
                <a:cs typeface="+mn-cs"/>
              </a:rPr>
              <a:t>supports </a:t>
            </a:r>
            <a:r>
              <a:rPr kumimoji="0" sz="1500" b="0" i="0" u="none" strike="noStrike" kern="1200" cap="none" spc="0" normalizeH="0" baseline="0" noProof="0" dirty="0">
                <a:ln>
                  <a:noFill/>
                </a:ln>
                <a:solidFill>
                  <a:srgbClr val="BBBBCC"/>
                </a:solidFill>
                <a:effectLst/>
                <a:uLnTx/>
                <a:uFillTx/>
                <a:latin typeface="Segoe UI"/>
                <a:ea typeface="+mn-ea"/>
                <a:cs typeface="+mn-cs"/>
              </a:rPr>
              <a:t>tickets, surveys, Slack, Teams</a:t>
            </a:r>
          </a:p>
          <a:p>
            <a:pPr marL="0" marR="0" lvl="0" indent="0" algn="l" defTabSz="457200" rtl="0" eaLnBrk="1" fontAlgn="auto" latinLnBrk="0" hangingPunct="1">
              <a:lnSpc>
                <a:spcPct val="100000"/>
              </a:lnSpc>
              <a:spcBef>
                <a:spcPts val="0"/>
              </a:spcBef>
              <a:spcAft>
                <a:spcPts val="0"/>
              </a:spcAft>
              <a:buClrTx/>
              <a:buSzTx/>
              <a:buFontTx/>
              <a:buNone/>
              <a:tabLst/>
              <a:defRPr sz="1500" b="0">
                <a:solidFill>
                  <a:srgbClr val="BBBBCC"/>
                </a:solidFill>
                <a:latin typeface="Segoe UI"/>
              </a:defRPr>
            </a:pPr>
            <a:r>
              <a:rPr kumimoji="0" sz="1500" b="0" i="0" u="none" strike="noStrike" kern="1200" cap="none" spc="0" normalizeH="0" baseline="0" noProof="0" dirty="0">
                <a:ln>
                  <a:noFill/>
                </a:ln>
                <a:solidFill>
                  <a:srgbClr val="BBBBCC"/>
                </a:solidFill>
                <a:effectLst/>
                <a:uLnTx/>
                <a:uFillTx/>
                <a:latin typeface="Segoe UI"/>
                <a:ea typeface="+mn-ea"/>
                <a:cs typeface="+mn-cs"/>
              </a:rPr>
              <a:t>• 73% of PMs say manual analysis</a:t>
            </a:r>
          </a:p>
          <a:p>
            <a:pPr marL="0" marR="0" lvl="0" indent="0" algn="l" defTabSz="457200" rtl="0" eaLnBrk="1" fontAlgn="auto" latinLnBrk="0" hangingPunct="1">
              <a:lnSpc>
                <a:spcPct val="100000"/>
              </a:lnSpc>
              <a:spcBef>
                <a:spcPts val="0"/>
              </a:spcBef>
              <a:spcAft>
                <a:spcPts val="0"/>
              </a:spcAft>
              <a:buClrTx/>
              <a:buSzTx/>
              <a:buFontTx/>
              <a:buNone/>
              <a:tabLst/>
              <a:defRPr sz="1500" b="0">
                <a:solidFill>
                  <a:srgbClr val="BBBBCC"/>
                </a:solidFill>
                <a:latin typeface="Segoe UI"/>
              </a:defRPr>
            </a:pPr>
            <a:r>
              <a:rPr kumimoji="0" sz="1500" b="0" i="0" u="none" strike="noStrike" kern="1200" cap="none" spc="0" normalizeH="0" baseline="0" noProof="0" dirty="0">
                <a:ln>
                  <a:noFill/>
                </a:ln>
                <a:solidFill>
                  <a:srgbClr val="BBBBCC"/>
                </a:solidFill>
                <a:effectLst/>
                <a:uLnTx/>
                <a:uFillTx/>
                <a:latin typeface="Segoe UI"/>
                <a:ea typeface="+mn-ea"/>
                <a:cs typeface="+mn-cs"/>
              </a:rPr>
              <a:t>  creates significant delays</a:t>
            </a:r>
          </a:p>
          <a:p>
            <a:pPr marL="0" marR="0" lvl="0" indent="0" algn="l" defTabSz="457200" rtl="0" eaLnBrk="1" fontAlgn="auto" latinLnBrk="0" hangingPunct="1">
              <a:lnSpc>
                <a:spcPct val="100000"/>
              </a:lnSpc>
              <a:spcBef>
                <a:spcPts val="0"/>
              </a:spcBef>
              <a:spcAft>
                <a:spcPts val="0"/>
              </a:spcAft>
              <a:buClrTx/>
              <a:buSzTx/>
              <a:buFontTx/>
              <a:buNone/>
              <a:tabLst/>
              <a:defRPr sz="1500" b="0">
                <a:solidFill>
                  <a:srgbClr val="BBBBCC"/>
                </a:solidFill>
                <a:latin typeface="Segoe UI"/>
              </a:defRPr>
            </a:pPr>
            <a:r>
              <a:rPr kumimoji="0" sz="1500" b="0" i="0" u="none" strike="noStrike" kern="1200" cap="none" spc="0" normalizeH="0" baseline="0" noProof="0" dirty="0">
                <a:ln>
                  <a:noFill/>
                </a:ln>
                <a:solidFill>
                  <a:srgbClr val="BBBBCC"/>
                </a:solidFill>
                <a:effectLst/>
                <a:uLnTx/>
                <a:uFillTx/>
                <a:latin typeface="Segoe UI"/>
                <a:ea typeface="+mn-ea"/>
                <a:cs typeface="+mn-cs"/>
              </a:rPr>
              <a:t>• You can't read every transcript</a:t>
            </a:r>
            <a:endParaRPr kumimoji="0" lang="en-US" sz="1500" b="0" i="0" u="none" strike="noStrike" kern="1200" cap="none" spc="0" normalizeH="0" baseline="0" noProof="0" dirty="0">
              <a:ln>
                <a:noFill/>
              </a:ln>
              <a:solidFill>
                <a:srgbClr val="BBBBCC"/>
              </a:solidFill>
              <a:effectLst/>
              <a:uLnTx/>
              <a:uFillTx/>
              <a:latin typeface="Segoe U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sz="1500" b="0">
                <a:solidFill>
                  <a:srgbClr val="BBBBCC"/>
                </a:solidFill>
                <a:latin typeface="Segoe UI"/>
              </a:defRPr>
            </a:pPr>
            <a:endParaRPr kumimoji="0" sz="1500" b="0" i="0" u="none" strike="noStrike" kern="1200" cap="none" spc="0" normalizeH="0" baseline="0" noProof="0" dirty="0">
              <a:ln>
                <a:noFill/>
              </a:ln>
              <a:solidFill>
                <a:srgbClr val="BBBBCC"/>
              </a:solidFill>
              <a:effectLst/>
              <a:uLnTx/>
              <a:uFillTx/>
              <a:latin typeface="Segoe UI"/>
              <a:ea typeface="+mn-ea"/>
              <a:cs typeface="+mn-cs"/>
            </a:endParaRPr>
          </a:p>
        </p:txBody>
      </p:sp>
      <p:sp>
        <p:nvSpPr>
          <p:cNvPr id="5" name="Rounded Rectangle 4"/>
          <p:cNvSpPr/>
          <p:nvPr/>
        </p:nvSpPr>
        <p:spPr>
          <a:xfrm>
            <a:off x="6339535" y="1645920"/>
            <a:ext cx="4754880" cy="3474720"/>
          </a:xfrm>
          <a:prstGeom prst="roundRect">
            <a:avLst/>
          </a:prstGeom>
          <a:solidFill>
            <a:srgbClr val="25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 name="TextBox 5"/>
          <p:cNvSpPr txBox="1"/>
          <p:nvPr/>
        </p:nvSpPr>
        <p:spPr>
          <a:xfrm>
            <a:off x="6705295" y="1920240"/>
            <a:ext cx="4023360" cy="170816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200" b="1">
                <a:solidFill>
                  <a:srgbClr val="0078D4"/>
                </a:solidFill>
                <a:latin typeface="Segoe UI"/>
              </a:defRPr>
            </a:pPr>
            <a:r>
              <a:rPr kumimoji="0" sz="2200" b="1" i="0" u="none" strike="noStrike" kern="1200" cap="none" spc="0" normalizeH="0" baseline="0" noProof="0" dirty="0">
                <a:ln>
                  <a:noFill/>
                </a:ln>
                <a:solidFill>
                  <a:srgbClr val="0078D4"/>
                </a:solidFill>
                <a:effectLst/>
                <a:uLnTx/>
                <a:uFillTx/>
                <a:latin typeface="Segoe UI"/>
                <a:ea typeface="+mn-ea"/>
                <a:cs typeface="+mn-cs"/>
              </a:rPr>
              <a:t>Challenge 2: Signal</a:t>
            </a:r>
          </a:p>
          <a:p>
            <a:pPr marL="0" marR="0" lvl="0" indent="0" algn="l" defTabSz="457200" rtl="0" eaLnBrk="1" fontAlgn="auto" latinLnBrk="0" hangingPunct="1">
              <a:lnSpc>
                <a:spcPct val="100000"/>
              </a:lnSpc>
              <a:spcBef>
                <a:spcPts val="0"/>
              </a:spcBef>
              <a:spcAft>
                <a:spcPts val="0"/>
              </a:spcAft>
              <a:buClrTx/>
              <a:buSzTx/>
              <a:buFontTx/>
              <a:buNone/>
              <a:tabLst/>
              <a:defRPr sz="800" b="0">
                <a:solidFill>
                  <a:srgbClr val="FFFFFF"/>
                </a:solidFill>
                <a:latin typeface="Segoe UI"/>
              </a:defRPr>
            </a:pPr>
            <a:endParaRPr kumimoji="0" sz="800" b="0" i="0" u="none" strike="noStrike" kern="1200" cap="none" spc="0" normalizeH="0" baseline="0" noProof="0" dirty="0">
              <a:ln>
                <a:noFill/>
              </a:ln>
              <a:solidFill>
                <a:srgbClr val="FFFFFF"/>
              </a:solidFill>
              <a:effectLst/>
              <a:uLnTx/>
              <a:uFillTx/>
              <a:latin typeface="Segoe U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sz="1500" b="0">
                <a:solidFill>
                  <a:srgbClr val="BBBBCC"/>
                </a:solidFill>
                <a:latin typeface="Segoe UI"/>
              </a:defRPr>
            </a:pPr>
            <a:r>
              <a:rPr kumimoji="0" sz="1500" b="0" i="0" u="none" strike="noStrike" kern="1200" cap="none" spc="0" normalizeH="0" baseline="0" noProof="0" dirty="0">
                <a:ln>
                  <a:noFill/>
                </a:ln>
                <a:solidFill>
                  <a:srgbClr val="BBBBCC"/>
                </a:solidFill>
                <a:effectLst/>
                <a:uLnTx/>
                <a:uFillTx/>
                <a:latin typeface="Segoe UI"/>
                <a:ea typeface="+mn-ea"/>
                <a:cs typeface="+mn-cs"/>
              </a:rPr>
              <a:t>• Not all feedback is equally important</a:t>
            </a:r>
          </a:p>
          <a:p>
            <a:pPr marL="0" marR="0" lvl="0" indent="0" algn="l" defTabSz="457200" rtl="0" eaLnBrk="1" fontAlgn="auto" latinLnBrk="0" hangingPunct="1">
              <a:lnSpc>
                <a:spcPct val="100000"/>
              </a:lnSpc>
              <a:spcBef>
                <a:spcPts val="0"/>
              </a:spcBef>
              <a:spcAft>
                <a:spcPts val="0"/>
              </a:spcAft>
              <a:buClrTx/>
              <a:buSzTx/>
              <a:buFontTx/>
              <a:buNone/>
              <a:tabLst/>
              <a:defRPr sz="1500" b="0">
                <a:solidFill>
                  <a:srgbClr val="BBBBCC"/>
                </a:solidFill>
                <a:latin typeface="Segoe UI"/>
              </a:defRPr>
            </a:pPr>
            <a:r>
              <a:rPr kumimoji="0" sz="1500" b="0" i="0" u="none" strike="noStrike" kern="1200" cap="none" spc="0" normalizeH="0" baseline="0" noProof="0" dirty="0">
                <a:ln>
                  <a:noFill/>
                </a:ln>
                <a:solidFill>
                  <a:srgbClr val="BBBBCC"/>
                </a:solidFill>
                <a:effectLst/>
                <a:uLnTx/>
                <a:uFillTx/>
                <a:latin typeface="Segoe UI"/>
                <a:ea typeface="+mn-ea"/>
                <a:cs typeface="+mn-cs"/>
              </a:rPr>
              <a:t>• Loudest voices ≠ most impactful issues</a:t>
            </a:r>
          </a:p>
          <a:p>
            <a:pPr marL="0" marR="0" lvl="0" indent="0" algn="l" defTabSz="457200" rtl="0" eaLnBrk="1" fontAlgn="auto" latinLnBrk="0" hangingPunct="1">
              <a:lnSpc>
                <a:spcPct val="100000"/>
              </a:lnSpc>
              <a:spcBef>
                <a:spcPts val="0"/>
              </a:spcBef>
              <a:spcAft>
                <a:spcPts val="0"/>
              </a:spcAft>
              <a:buClrTx/>
              <a:buSzTx/>
              <a:buFontTx/>
              <a:buNone/>
              <a:tabLst/>
              <a:defRPr sz="1500" b="0">
                <a:solidFill>
                  <a:srgbClr val="BBBBCC"/>
                </a:solidFill>
                <a:latin typeface="Segoe UI"/>
              </a:defRPr>
            </a:pPr>
            <a:r>
              <a:rPr kumimoji="0" sz="1500" b="0" i="0" u="none" strike="noStrike" kern="1200" cap="none" spc="0" normalizeH="0" baseline="0" noProof="0" dirty="0">
                <a:ln>
                  <a:noFill/>
                </a:ln>
                <a:solidFill>
                  <a:srgbClr val="BBBBCC"/>
                </a:solidFill>
                <a:effectLst/>
                <a:uLnTx/>
                <a:uFillTx/>
                <a:latin typeface="Segoe UI"/>
                <a:ea typeface="+mn-ea"/>
                <a:cs typeface="+mn-cs"/>
              </a:rPr>
              <a:t>• Must separate trends from one-offs</a:t>
            </a:r>
            <a:endParaRPr kumimoji="0" lang="en-US" sz="1500" b="0" i="0" u="none" strike="noStrike" kern="1200" cap="none" spc="0" normalizeH="0" baseline="0" noProof="0" dirty="0">
              <a:ln>
                <a:noFill/>
              </a:ln>
              <a:solidFill>
                <a:srgbClr val="BBBBCC"/>
              </a:solidFill>
              <a:effectLst/>
              <a:uLnTx/>
              <a:uFillTx/>
              <a:latin typeface="Segoe U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sz="1500" b="0">
                <a:solidFill>
                  <a:srgbClr val="BBBBCC"/>
                </a:solidFill>
                <a:latin typeface="Segoe UI"/>
              </a:defRPr>
            </a:pPr>
            <a:r>
              <a:rPr kumimoji="0" lang="en-US" sz="1500" b="0" i="0" u="none" strike="noStrike" kern="1200" cap="none" spc="0" normalizeH="0" baseline="0" noProof="0" dirty="0">
                <a:ln>
                  <a:noFill/>
                </a:ln>
                <a:solidFill>
                  <a:srgbClr val="BBBBCC"/>
                </a:solidFill>
                <a:effectLst/>
                <a:uLnTx/>
                <a:uFillTx/>
                <a:latin typeface="Segoe UI"/>
                <a:ea typeface="+mn-ea"/>
                <a:cs typeface="+mn-cs"/>
              </a:rPr>
              <a:t>• Eliminate recency bias</a:t>
            </a:r>
          </a:p>
          <a:p>
            <a:pPr marL="0" marR="0" lvl="0" indent="0" algn="l" defTabSz="457200" rtl="0" eaLnBrk="1" fontAlgn="auto" latinLnBrk="0" hangingPunct="1">
              <a:lnSpc>
                <a:spcPct val="100000"/>
              </a:lnSpc>
              <a:spcBef>
                <a:spcPts val="0"/>
              </a:spcBef>
              <a:spcAft>
                <a:spcPts val="0"/>
              </a:spcAft>
              <a:buClrTx/>
              <a:buSzTx/>
              <a:buFontTx/>
              <a:buNone/>
              <a:tabLst/>
              <a:defRPr sz="1500" b="0">
                <a:solidFill>
                  <a:srgbClr val="BBBBCC"/>
                </a:solidFill>
                <a:latin typeface="Segoe UI"/>
              </a:defRPr>
            </a:pPr>
            <a:r>
              <a:rPr kumimoji="0" sz="1500" b="0" i="0" u="none" strike="noStrike" kern="1200" cap="none" spc="0" normalizeH="0" baseline="0" noProof="0" dirty="0">
                <a:ln>
                  <a:noFill/>
                </a:ln>
                <a:solidFill>
                  <a:srgbClr val="BBBBCC"/>
                </a:solidFill>
                <a:effectLst/>
                <a:uLnTx/>
                <a:uFillTx/>
                <a:latin typeface="Segoe UI"/>
                <a:ea typeface="+mn-ea"/>
                <a:cs typeface="+mn-cs"/>
              </a:rPr>
              <a:t>• Translation gap: feedback → action</a:t>
            </a:r>
          </a:p>
        </p:txBody>
      </p:sp>
      <p:sp>
        <p:nvSpPr>
          <p:cNvPr id="7" name="TextBox 6"/>
          <p:cNvSpPr txBox="1"/>
          <p:nvPr/>
        </p:nvSpPr>
        <p:spPr>
          <a:xfrm>
            <a:off x="1371600" y="5669280"/>
            <a:ext cx="9448495" cy="73152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800" b="1">
                <a:solidFill>
                  <a:srgbClr val="00B294"/>
                </a:solidFill>
                <a:latin typeface="Segoe UI"/>
              </a:defRPr>
            </a:pPr>
            <a:r>
              <a:rPr kumimoji="0" sz="1800" b="1" i="0" u="none" strike="noStrike" kern="1200" cap="none" spc="0" normalizeH="0" baseline="0" noProof="0">
                <a:ln>
                  <a:noFill/>
                </a:ln>
                <a:solidFill>
                  <a:srgbClr val="00B294"/>
                </a:solidFill>
                <a:effectLst/>
                <a:uLnTx/>
                <a:uFillTx/>
                <a:latin typeface="Segoe UI"/>
                <a:ea typeface="+mn-ea"/>
                <a:cs typeface="+mn-cs"/>
              </a:rPr>
              <a:t>You need to capture everything AND identify what matters most → AI solves both.</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p:cNvGrpSpPr/>
        <p:nvPr/>
      </p:nvGrpSpPr>
      <p:grpSpPr>
        <a:xfrm>
          <a:off x="0" y="0"/>
          <a:ext cx="0" cy="0"/>
          <a:chOff x="0" y="0"/>
          <a:chExt cx="0" cy="0"/>
        </a:xfrm>
      </p:grpSpPr>
      <p:sp>
        <p:nvSpPr>
          <p:cNvPr id="2" name="TextBox 1"/>
          <p:cNvSpPr txBox="1"/>
          <p:nvPr/>
        </p:nvSpPr>
        <p:spPr>
          <a:xfrm>
            <a:off x="731520" y="274320"/>
            <a:ext cx="10728655" cy="4572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600" b="1">
                <a:solidFill>
                  <a:srgbClr val="FFFFFF"/>
                </a:solidFill>
                <a:latin typeface="Segoe UI"/>
              </a:defRPr>
            </a:pPr>
            <a:r>
              <a:rPr kumimoji="0" sz="2600" b="1" i="0" u="none" strike="noStrike" kern="1200" cap="none" spc="0" normalizeH="0" baseline="0" noProof="0">
                <a:ln>
                  <a:noFill/>
                </a:ln>
                <a:solidFill>
                  <a:srgbClr val="FFFFFF"/>
                </a:solidFill>
                <a:effectLst/>
                <a:uLnTx/>
                <a:uFillTx/>
                <a:latin typeface="Segoe UI"/>
                <a:ea typeface="+mn-ea"/>
                <a:cs typeface="+mn-cs"/>
              </a:rPr>
              <a:t>Putting It Into Practice: AI Skills for Feedback Analysis</a:t>
            </a:r>
          </a:p>
        </p:txBody>
      </p:sp>
      <p:sp>
        <p:nvSpPr>
          <p:cNvPr id="3" name="TextBox 2"/>
          <p:cNvSpPr txBox="1"/>
          <p:nvPr/>
        </p:nvSpPr>
        <p:spPr>
          <a:xfrm>
            <a:off x="731520" y="822960"/>
            <a:ext cx="10728655" cy="33855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600" b="0">
                <a:solidFill>
                  <a:srgbClr val="BBBBCC"/>
                </a:solidFill>
                <a:latin typeface="Segoe UI"/>
              </a:defRPr>
            </a:pPr>
            <a:r>
              <a:rPr kumimoji="0" sz="1600" b="0" i="0" u="none" strike="noStrike" kern="1200" cap="none" spc="0" normalizeH="0" baseline="0" noProof="0" dirty="0">
                <a:ln>
                  <a:noFill/>
                </a:ln>
                <a:solidFill>
                  <a:srgbClr val="BBBBCC"/>
                </a:solidFill>
                <a:effectLst/>
                <a:uLnTx/>
                <a:uFillTx/>
                <a:latin typeface="Segoe UI"/>
                <a:ea typeface="+mn-ea"/>
                <a:cs typeface="+mn-cs"/>
              </a:rPr>
              <a:t>Here's what this looks like in practice — two AI skills I built to automate this </a:t>
            </a:r>
            <a:r>
              <a:rPr kumimoji="0" lang="en-US" sz="1600" b="0" i="0" u="none" strike="noStrike" kern="1200" cap="none" spc="0" normalizeH="0" baseline="0" noProof="0" dirty="0">
                <a:ln>
                  <a:noFill/>
                </a:ln>
                <a:solidFill>
                  <a:srgbClr val="BBBBCC"/>
                </a:solidFill>
                <a:effectLst/>
                <a:uLnTx/>
                <a:uFillTx/>
                <a:latin typeface="Segoe UI"/>
                <a:ea typeface="+mn-ea"/>
                <a:cs typeface="+mn-cs"/>
              </a:rPr>
              <a:t>process</a:t>
            </a:r>
            <a:r>
              <a:rPr kumimoji="0" sz="1600" b="0" i="0" u="none" strike="noStrike" kern="1200" cap="none" spc="0" normalizeH="0" baseline="0" noProof="0" dirty="0">
                <a:ln>
                  <a:noFill/>
                </a:ln>
                <a:solidFill>
                  <a:srgbClr val="BBBBCC"/>
                </a:solidFill>
                <a:effectLst/>
                <a:uLnTx/>
                <a:uFillTx/>
                <a:latin typeface="Segoe UI"/>
                <a:ea typeface="+mn-ea"/>
                <a:cs typeface="+mn-cs"/>
              </a:rPr>
              <a:t>.</a:t>
            </a:r>
          </a:p>
        </p:txBody>
      </p:sp>
      <p:sp>
        <p:nvSpPr>
          <p:cNvPr id="4" name="Rounded Rectangle 3"/>
          <p:cNvSpPr/>
          <p:nvPr/>
        </p:nvSpPr>
        <p:spPr>
          <a:xfrm>
            <a:off x="731520" y="1463040"/>
            <a:ext cx="5029200" cy="4114800"/>
          </a:xfrm>
          <a:prstGeom prst="roundRect">
            <a:avLst/>
          </a:prstGeom>
          <a:solidFill>
            <a:srgbClr val="25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Rectangle 4"/>
          <p:cNvSpPr/>
          <p:nvPr/>
        </p:nvSpPr>
        <p:spPr>
          <a:xfrm>
            <a:off x="731520" y="1463040"/>
            <a:ext cx="5029200" cy="36576"/>
          </a:xfrm>
          <a:prstGeom prst="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 name="TextBox 5"/>
          <p:cNvSpPr txBox="1"/>
          <p:nvPr/>
        </p:nvSpPr>
        <p:spPr>
          <a:xfrm>
            <a:off x="1097280" y="1691640"/>
            <a:ext cx="4297680" cy="4572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800" b="1">
                <a:solidFill>
                  <a:srgbClr val="00B294"/>
                </a:solidFill>
                <a:latin typeface="Segoe UI"/>
              </a:defRPr>
            </a:pPr>
            <a:r>
              <a:rPr kumimoji="0" sz="1800" b="1" i="0" u="none" strike="noStrike" kern="1200" cap="none" spc="0" normalizeH="0" baseline="0" noProof="0">
                <a:ln>
                  <a:noFill/>
                </a:ln>
                <a:solidFill>
                  <a:srgbClr val="00B294"/>
                </a:solidFill>
                <a:effectLst/>
                <a:uLnTx/>
                <a:uFillTx/>
                <a:latin typeface="Segoe UI"/>
                <a:ea typeface="+mn-ea"/>
                <a:cs typeface="+mn-cs"/>
              </a:rPr>
              <a:t>Skill 1: Weekly Feedback Analyzer</a:t>
            </a:r>
          </a:p>
        </p:txBody>
      </p:sp>
      <p:sp>
        <p:nvSpPr>
          <p:cNvPr id="7" name="TextBox 6"/>
          <p:cNvSpPr txBox="1"/>
          <p:nvPr/>
        </p:nvSpPr>
        <p:spPr>
          <a:xfrm>
            <a:off x="1097280" y="2240280"/>
            <a:ext cx="4297680" cy="206210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300" b="1">
                <a:solidFill>
                  <a:srgbClr val="FFFFFF"/>
                </a:solidFill>
                <a:latin typeface="Segoe UI"/>
              </a:defRPr>
            </a:pPr>
            <a:r>
              <a:rPr kumimoji="0" sz="1300" b="1" i="0" u="none" strike="noStrike" kern="1200" cap="none" spc="0" normalizeH="0" baseline="0" noProof="0" dirty="0">
                <a:ln>
                  <a:noFill/>
                </a:ln>
                <a:solidFill>
                  <a:srgbClr val="FFFFFF"/>
                </a:solidFill>
                <a:effectLst/>
                <a:uLnTx/>
                <a:uFillTx/>
                <a:latin typeface="Segoe UI"/>
                <a:ea typeface="+mn-ea"/>
                <a:cs typeface="+mn-cs"/>
              </a:rPr>
              <a:t>What it does:</a:t>
            </a:r>
          </a:p>
          <a:p>
            <a:pPr marL="0" marR="0" lvl="0" indent="0" algn="l" defTabSz="457200" rtl="0" eaLnBrk="1" fontAlgn="auto" latinLnBrk="0" hangingPunct="1">
              <a:lnSpc>
                <a:spcPct val="100000"/>
              </a:lnSpc>
              <a:spcBef>
                <a:spcPts val="0"/>
              </a:spcBef>
              <a:spcAft>
                <a:spcPts val="0"/>
              </a:spcAft>
              <a:buClrTx/>
              <a:buSzTx/>
              <a:buFontTx/>
              <a:buNone/>
              <a:tabLst/>
              <a:defRPr sz="1200" b="0">
                <a:solidFill>
                  <a:srgbClr val="BBBBCC"/>
                </a:solidFill>
                <a:latin typeface="Segoe UI"/>
              </a:defRPr>
            </a:pPr>
            <a:r>
              <a:rPr kumimoji="0" sz="1200" b="0" i="0" u="none" strike="noStrike" kern="1200" cap="none" spc="0" normalizeH="0" baseline="0" noProof="0" dirty="0">
                <a:ln>
                  <a:noFill/>
                </a:ln>
                <a:solidFill>
                  <a:srgbClr val="BBBBCC"/>
                </a:solidFill>
                <a:effectLst/>
                <a:uLnTx/>
                <a:uFillTx/>
                <a:latin typeface="Segoe UI"/>
                <a:ea typeface="+mn-ea"/>
                <a:cs typeface="+mn-cs"/>
              </a:rPr>
              <a:t>• Runs weekly as an agentic AI skill</a:t>
            </a:r>
          </a:p>
          <a:p>
            <a:pPr marL="0" marR="0" lvl="0" indent="0" algn="l" defTabSz="457200" rtl="0" eaLnBrk="1" fontAlgn="auto" latinLnBrk="0" hangingPunct="1">
              <a:lnSpc>
                <a:spcPct val="100000"/>
              </a:lnSpc>
              <a:spcBef>
                <a:spcPts val="0"/>
              </a:spcBef>
              <a:spcAft>
                <a:spcPts val="0"/>
              </a:spcAft>
              <a:buClrTx/>
              <a:buSzTx/>
              <a:buFontTx/>
              <a:buNone/>
              <a:tabLst/>
              <a:defRPr sz="1200" b="0">
                <a:solidFill>
                  <a:srgbClr val="BBBBCC"/>
                </a:solidFill>
                <a:latin typeface="Segoe UI"/>
              </a:defRPr>
            </a:pPr>
            <a:r>
              <a:rPr kumimoji="0" sz="1200" b="0" i="0" u="none" strike="noStrike" kern="1200" cap="none" spc="0" normalizeH="0" baseline="0" noProof="0" dirty="0">
                <a:ln>
                  <a:noFill/>
                </a:ln>
                <a:solidFill>
                  <a:srgbClr val="BBBBCC"/>
                </a:solidFill>
                <a:effectLst/>
                <a:uLnTx/>
                <a:uFillTx/>
                <a:latin typeface="Segoe UI"/>
                <a:ea typeface="+mn-ea"/>
                <a:cs typeface="+mn-cs"/>
              </a:rPr>
              <a:t>• Ingests all new customer feedback files</a:t>
            </a:r>
          </a:p>
          <a:p>
            <a:pPr marL="0" marR="0" lvl="0" indent="0" algn="l" defTabSz="457200" rtl="0" eaLnBrk="1" fontAlgn="auto" latinLnBrk="0" hangingPunct="1">
              <a:lnSpc>
                <a:spcPct val="100000"/>
              </a:lnSpc>
              <a:spcBef>
                <a:spcPts val="0"/>
              </a:spcBef>
              <a:spcAft>
                <a:spcPts val="0"/>
              </a:spcAft>
              <a:buClrTx/>
              <a:buSzTx/>
              <a:buFontTx/>
              <a:buNone/>
              <a:tabLst/>
              <a:defRPr sz="1200" b="0">
                <a:solidFill>
                  <a:srgbClr val="BBBBCC"/>
                </a:solidFill>
                <a:latin typeface="Segoe UI"/>
              </a:defRPr>
            </a:pPr>
            <a:r>
              <a:rPr kumimoji="0" sz="1200" b="0" i="0" u="none" strike="noStrike" kern="1200" cap="none" spc="0" normalizeH="0" baseline="0" noProof="0" dirty="0">
                <a:ln>
                  <a:noFill/>
                </a:ln>
                <a:solidFill>
                  <a:srgbClr val="BBBBCC"/>
                </a:solidFill>
                <a:effectLst/>
                <a:uLnTx/>
                <a:uFillTx/>
                <a:latin typeface="Segoe UI"/>
                <a:ea typeface="+mn-ea"/>
                <a:cs typeface="+mn-cs"/>
              </a:rPr>
              <a:t>• Extracts trends, sentiment shifts, blockers</a:t>
            </a:r>
          </a:p>
          <a:p>
            <a:pPr marL="0" marR="0" lvl="0" indent="0" algn="l" defTabSz="457200" rtl="0" eaLnBrk="1" fontAlgn="auto" latinLnBrk="0" hangingPunct="1">
              <a:lnSpc>
                <a:spcPct val="100000"/>
              </a:lnSpc>
              <a:spcBef>
                <a:spcPts val="0"/>
              </a:spcBef>
              <a:spcAft>
                <a:spcPts val="0"/>
              </a:spcAft>
              <a:buClrTx/>
              <a:buSzTx/>
              <a:buFontTx/>
              <a:buNone/>
              <a:tabLst/>
              <a:defRPr sz="1200" b="0">
                <a:solidFill>
                  <a:srgbClr val="BBBBCC"/>
                </a:solidFill>
                <a:latin typeface="Segoe UI"/>
              </a:defRPr>
            </a:pPr>
            <a:r>
              <a:rPr kumimoji="0" sz="1200" b="0" i="0" u="none" strike="noStrike" kern="1200" cap="none" spc="0" normalizeH="0" baseline="0" noProof="0" dirty="0">
                <a:ln>
                  <a:noFill/>
                </a:ln>
                <a:solidFill>
                  <a:srgbClr val="BBBBCC"/>
                </a:solidFill>
                <a:effectLst/>
                <a:uLnTx/>
                <a:uFillTx/>
                <a:latin typeface="Segoe UI"/>
                <a:ea typeface="+mn-ea"/>
                <a:cs typeface="+mn-cs"/>
              </a:rPr>
              <a:t>• Generates a pulse report with recommendations</a:t>
            </a:r>
          </a:p>
          <a:p>
            <a:pPr marL="0" marR="0" lvl="0" indent="0" algn="l" defTabSz="457200" rtl="0" eaLnBrk="1" fontAlgn="auto" latinLnBrk="0" hangingPunct="1">
              <a:lnSpc>
                <a:spcPct val="100000"/>
              </a:lnSpc>
              <a:spcBef>
                <a:spcPts val="0"/>
              </a:spcBef>
              <a:spcAft>
                <a:spcPts val="0"/>
              </a:spcAft>
              <a:buClrTx/>
              <a:buSzTx/>
              <a:buFontTx/>
              <a:buNone/>
              <a:tabLst/>
              <a:defRPr sz="600" b="0">
                <a:solidFill>
                  <a:srgbClr val="FFFFFF"/>
                </a:solidFill>
                <a:latin typeface="Segoe UI"/>
              </a:defRPr>
            </a:pPr>
            <a:endParaRPr kumimoji="0" sz="600" b="0" i="0" u="none" strike="noStrike" kern="1200" cap="none" spc="0" normalizeH="0" baseline="0" noProof="0" dirty="0">
              <a:ln>
                <a:noFill/>
              </a:ln>
              <a:solidFill>
                <a:srgbClr val="FFFFFF"/>
              </a:solidFill>
              <a:effectLst/>
              <a:uLnTx/>
              <a:uFillTx/>
              <a:latin typeface="Segoe U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sz="1300" b="1">
                <a:solidFill>
                  <a:srgbClr val="FFFFFF"/>
                </a:solidFill>
                <a:latin typeface="Segoe UI"/>
              </a:defRPr>
            </a:pPr>
            <a:r>
              <a:rPr kumimoji="0" sz="1300" b="1" i="0" u="none" strike="noStrike" kern="1200" cap="none" spc="0" normalizeH="0" baseline="0" noProof="0" dirty="0">
                <a:ln>
                  <a:noFill/>
                </a:ln>
                <a:solidFill>
                  <a:srgbClr val="FFFFFF"/>
                </a:solidFill>
                <a:effectLst/>
                <a:uLnTx/>
                <a:uFillTx/>
                <a:latin typeface="Segoe UI"/>
                <a:ea typeface="+mn-ea"/>
                <a:cs typeface="+mn-cs"/>
              </a:rPr>
              <a:t>How it works:</a:t>
            </a:r>
          </a:p>
          <a:p>
            <a:pPr marL="0" marR="0" lvl="0" indent="0" algn="l" defTabSz="457200" rtl="0" eaLnBrk="1" fontAlgn="auto" latinLnBrk="0" hangingPunct="1">
              <a:lnSpc>
                <a:spcPct val="100000"/>
              </a:lnSpc>
              <a:spcBef>
                <a:spcPts val="0"/>
              </a:spcBef>
              <a:spcAft>
                <a:spcPts val="0"/>
              </a:spcAft>
              <a:buClrTx/>
              <a:buSzTx/>
              <a:buFontTx/>
              <a:buNone/>
              <a:tabLst/>
              <a:defRPr sz="1200" b="0">
                <a:solidFill>
                  <a:srgbClr val="BBBBCC"/>
                </a:solidFill>
                <a:latin typeface="Segoe UI"/>
              </a:defRPr>
            </a:pPr>
            <a:r>
              <a:rPr kumimoji="0" sz="1200" b="0" i="0" u="none" strike="noStrike" kern="1200" cap="none" spc="0" normalizeH="0" baseline="0" noProof="0" dirty="0">
                <a:ln>
                  <a:noFill/>
                </a:ln>
                <a:solidFill>
                  <a:srgbClr val="BBBBCC"/>
                </a:solidFill>
                <a:effectLst/>
                <a:uLnTx/>
                <a:uFillTx/>
                <a:latin typeface="Segoe UI"/>
                <a:ea typeface="+mn-ea"/>
                <a:cs typeface="+mn-cs"/>
              </a:rPr>
              <a:t>• Structured</a:t>
            </a:r>
            <a:r>
              <a:rPr kumimoji="0" lang="en-US" sz="1200" b="0" i="0" u="none" strike="noStrike" kern="1200" cap="none" spc="0" normalizeH="0" baseline="0" noProof="0" dirty="0">
                <a:ln>
                  <a:noFill/>
                </a:ln>
                <a:solidFill>
                  <a:srgbClr val="BBBBCC"/>
                </a:solidFill>
                <a:effectLst/>
                <a:uLnTx/>
                <a:uFillTx/>
                <a:latin typeface="Segoe UI"/>
                <a:ea typeface="+mn-ea"/>
                <a:cs typeface="+mn-cs"/>
              </a:rPr>
              <a:t> markdown</a:t>
            </a:r>
            <a:r>
              <a:rPr kumimoji="0" sz="1200" b="0" i="0" u="none" strike="noStrike" kern="1200" cap="none" spc="0" normalizeH="0" baseline="0" noProof="0" dirty="0">
                <a:ln>
                  <a:noFill/>
                </a:ln>
                <a:solidFill>
                  <a:srgbClr val="BBBBCC"/>
                </a:solidFill>
                <a:effectLst/>
                <a:uLnTx/>
                <a:uFillTx/>
                <a:latin typeface="Segoe UI"/>
                <a:ea typeface="+mn-ea"/>
                <a:cs typeface="+mn-cs"/>
              </a:rPr>
              <a:t> template: </a:t>
            </a:r>
            <a:r>
              <a:rPr kumimoji="0" lang="en-US" sz="1200" b="0" i="0" u="none" strike="noStrike" kern="1200" cap="none" spc="0" normalizeH="0" baseline="0" noProof="0" dirty="0">
                <a:ln>
                  <a:noFill/>
                </a:ln>
                <a:solidFill>
                  <a:srgbClr val="BBBBCC"/>
                </a:solidFill>
                <a:effectLst/>
                <a:uLnTx/>
                <a:uFillTx/>
                <a:latin typeface="Segoe UI"/>
                <a:ea typeface="+mn-ea"/>
                <a:cs typeface="+mn-cs"/>
              </a:rPr>
              <a:t>Key </a:t>
            </a:r>
            <a:r>
              <a:rPr kumimoji="0" sz="1200" b="0" i="0" u="none" strike="noStrike" kern="1200" cap="none" spc="0" normalizeH="0" baseline="0" noProof="0" dirty="0">
                <a:ln>
                  <a:noFill/>
                </a:ln>
                <a:solidFill>
                  <a:srgbClr val="BBBBCC"/>
                </a:solidFill>
                <a:effectLst/>
                <a:uLnTx/>
                <a:uFillTx/>
                <a:latin typeface="Segoe UI"/>
                <a:ea typeface="+mn-ea"/>
                <a:cs typeface="+mn-cs"/>
              </a:rPr>
              <a:t>Takeaways, </a:t>
            </a:r>
            <a:r>
              <a:rPr kumimoji="0" lang="en-US" sz="1200" b="0" i="0" u="none" strike="noStrike" kern="1200" cap="none" spc="0" normalizeH="0" baseline="0" noProof="0" dirty="0">
                <a:ln>
                  <a:noFill/>
                </a:ln>
                <a:solidFill>
                  <a:srgbClr val="BBBBCC"/>
                </a:solidFill>
                <a:effectLst/>
                <a:uLnTx/>
                <a:uFillTx/>
                <a:latin typeface="Segoe UI"/>
                <a:ea typeface="+mn-ea"/>
                <a:cs typeface="+mn-cs"/>
              </a:rPr>
              <a:t>Feature </a:t>
            </a:r>
            <a:r>
              <a:rPr kumimoji="0" sz="1200" b="0" i="0" u="none" strike="noStrike" kern="1200" cap="none" spc="0" normalizeH="0" baseline="0" noProof="0" dirty="0">
                <a:ln>
                  <a:noFill/>
                </a:ln>
                <a:solidFill>
                  <a:srgbClr val="BBBBCC"/>
                </a:solidFill>
                <a:effectLst/>
                <a:uLnTx/>
                <a:uFillTx/>
                <a:latin typeface="Segoe UI"/>
                <a:ea typeface="+mn-ea"/>
                <a:cs typeface="+mn-cs"/>
              </a:rPr>
              <a:t>Requests,</a:t>
            </a:r>
            <a:r>
              <a:rPr kumimoji="0" lang="en-US" sz="1200" b="0" i="0" u="none" strike="noStrike" kern="1200" cap="none" spc="0" normalizeH="0" baseline="0" noProof="0" dirty="0">
                <a:ln>
                  <a:noFill/>
                </a:ln>
                <a:solidFill>
                  <a:srgbClr val="BBBBCC"/>
                </a:solidFill>
                <a:effectLst/>
                <a:uLnTx/>
                <a:uFillTx/>
                <a:latin typeface="Segoe UI"/>
                <a:ea typeface="+mn-ea"/>
                <a:cs typeface="+mn-cs"/>
              </a:rPr>
              <a:t> </a:t>
            </a:r>
            <a:r>
              <a:rPr kumimoji="0" sz="1200" b="0" i="0" u="none" strike="noStrike" kern="1200" cap="none" spc="0" normalizeH="0" baseline="0" noProof="0" dirty="0">
                <a:ln>
                  <a:noFill/>
                </a:ln>
                <a:solidFill>
                  <a:srgbClr val="BBBBCC"/>
                </a:solidFill>
                <a:effectLst/>
                <a:uLnTx/>
                <a:uFillTx/>
                <a:latin typeface="Segoe UI"/>
                <a:ea typeface="+mn-ea"/>
                <a:cs typeface="+mn-cs"/>
              </a:rPr>
              <a:t>Pain Points, Quotes,</a:t>
            </a:r>
            <a:r>
              <a:rPr kumimoji="0" lang="en-US" sz="1200" b="0" i="0" u="none" strike="noStrike" kern="1200" cap="none" spc="0" normalizeH="0" baseline="0" noProof="0" dirty="0">
                <a:ln>
                  <a:noFill/>
                </a:ln>
                <a:solidFill>
                  <a:srgbClr val="BBBBCC"/>
                </a:solidFill>
                <a:effectLst/>
                <a:uLnTx/>
                <a:uFillTx/>
                <a:latin typeface="Segoe UI"/>
                <a:ea typeface="+mn-ea"/>
                <a:cs typeface="+mn-cs"/>
              </a:rPr>
              <a:t> Sentiment,</a:t>
            </a:r>
            <a:r>
              <a:rPr kumimoji="0" sz="1200" b="0" i="0" u="none" strike="noStrike" kern="1200" cap="none" spc="0" normalizeH="0" baseline="0" noProof="0" dirty="0">
                <a:ln>
                  <a:noFill/>
                </a:ln>
                <a:solidFill>
                  <a:srgbClr val="BBBBCC"/>
                </a:solidFill>
                <a:effectLst/>
                <a:uLnTx/>
                <a:uFillTx/>
                <a:latin typeface="Segoe UI"/>
                <a:ea typeface="+mn-ea"/>
                <a:cs typeface="+mn-cs"/>
              </a:rPr>
              <a:t> Follow-ups</a:t>
            </a:r>
          </a:p>
          <a:p>
            <a:pPr marL="0" marR="0" lvl="0" indent="0" algn="l" defTabSz="457200" rtl="0" eaLnBrk="1" fontAlgn="auto" latinLnBrk="0" hangingPunct="1">
              <a:lnSpc>
                <a:spcPct val="100000"/>
              </a:lnSpc>
              <a:spcBef>
                <a:spcPts val="0"/>
              </a:spcBef>
              <a:spcAft>
                <a:spcPts val="0"/>
              </a:spcAft>
              <a:buClrTx/>
              <a:buSzTx/>
              <a:buFontTx/>
              <a:buNone/>
              <a:tabLst/>
              <a:defRPr sz="1200" b="0">
                <a:solidFill>
                  <a:srgbClr val="BBBBCC"/>
                </a:solidFill>
                <a:latin typeface="Segoe UI"/>
              </a:defRPr>
            </a:pPr>
            <a:r>
              <a:rPr kumimoji="0" sz="1200" b="0" i="0" u="none" strike="noStrike" kern="1200" cap="none" spc="0" normalizeH="0" baseline="0" noProof="0" dirty="0">
                <a:ln>
                  <a:noFill/>
                </a:ln>
                <a:solidFill>
                  <a:srgbClr val="BBBBCC"/>
                </a:solidFill>
                <a:effectLst/>
                <a:uLnTx/>
                <a:uFillTx/>
                <a:latin typeface="Segoe UI"/>
                <a:ea typeface="+mn-ea"/>
                <a:cs typeface="+mn-cs"/>
              </a:rPr>
              <a:t>• Compares with previous week's report</a:t>
            </a:r>
            <a:r>
              <a:rPr kumimoji="0" lang="en-US" sz="1200" b="0" i="0" u="none" strike="noStrike" kern="1200" cap="none" spc="0" normalizeH="0" baseline="0" noProof="0" dirty="0">
                <a:ln>
                  <a:noFill/>
                </a:ln>
                <a:solidFill>
                  <a:srgbClr val="BBBBCC"/>
                </a:solidFill>
                <a:effectLst/>
                <a:uLnTx/>
                <a:uFillTx/>
                <a:latin typeface="Segoe UI"/>
                <a:ea typeface="+mn-ea"/>
                <a:cs typeface="+mn-cs"/>
              </a:rPr>
              <a:t> and provides status update</a:t>
            </a:r>
            <a:endParaRPr kumimoji="0" sz="1200" b="0" i="0" u="none" strike="noStrike" kern="1200" cap="none" spc="0" normalizeH="0" baseline="0" noProof="0" dirty="0">
              <a:ln>
                <a:noFill/>
              </a:ln>
              <a:solidFill>
                <a:srgbClr val="BBBBCC"/>
              </a:solidFill>
              <a:effectLst/>
              <a:uLnTx/>
              <a:uFillTx/>
              <a:latin typeface="Segoe UI"/>
              <a:ea typeface="+mn-ea"/>
              <a:cs typeface="+mn-cs"/>
            </a:endParaRPr>
          </a:p>
        </p:txBody>
      </p:sp>
      <p:sp>
        <p:nvSpPr>
          <p:cNvPr id="8" name="Rounded Rectangle 7"/>
          <p:cNvSpPr/>
          <p:nvPr/>
        </p:nvSpPr>
        <p:spPr>
          <a:xfrm>
            <a:off x="6339535" y="1463040"/>
            <a:ext cx="5029200" cy="4114800"/>
          </a:xfrm>
          <a:prstGeom prst="roundRect">
            <a:avLst/>
          </a:prstGeom>
          <a:solidFill>
            <a:srgbClr val="25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Rectangle 8"/>
          <p:cNvSpPr/>
          <p:nvPr/>
        </p:nvSpPr>
        <p:spPr>
          <a:xfrm>
            <a:off x="6339535" y="1463040"/>
            <a:ext cx="5029200" cy="36576"/>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0" name="TextBox 9"/>
          <p:cNvSpPr txBox="1"/>
          <p:nvPr/>
        </p:nvSpPr>
        <p:spPr>
          <a:xfrm>
            <a:off x="6705295" y="1691640"/>
            <a:ext cx="4297680" cy="4572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800" b="1">
                <a:solidFill>
                  <a:srgbClr val="9B59B6"/>
                </a:solidFill>
                <a:latin typeface="Segoe UI"/>
              </a:defRPr>
            </a:pPr>
            <a:r>
              <a:rPr kumimoji="0" sz="1800" b="1" i="0" u="none" strike="noStrike" kern="1200" cap="none" spc="0" normalizeH="0" baseline="0" noProof="0">
                <a:ln>
                  <a:noFill/>
                </a:ln>
                <a:solidFill>
                  <a:srgbClr val="9B59B6"/>
                </a:solidFill>
                <a:effectLst/>
                <a:uLnTx/>
                <a:uFillTx/>
                <a:latin typeface="Segoe UI"/>
                <a:ea typeface="+mn-ea"/>
                <a:cs typeface="+mn-cs"/>
              </a:rPr>
              <a:t>Skill 2: Cumulative Feedback Report</a:t>
            </a:r>
          </a:p>
        </p:txBody>
      </p:sp>
      <p:sp>
        <p:nvSpPr>
          <p:cNvPr id="11" name="TextBox 10"/>
          <p:cNvSpPr txBox="1"/>
          <p:nvPr/>
        </p:nvSpPr>
        <p:spPr>
          <a:xfrm>
            <a:off x="6705295" y="2240280"/>
            <a:ext cx="4297680" cy="213904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300" b="1">
                <a:solidFill>
                  <a:srgbClr val="FFFFFF"/>
                </a:solidFill>
                <a:latin typeface="Segoe UI"/>
              </a:defRPr>
            </a:pPr>
            <a:r>
              <a:rPr kumimoji="0" sz="1300" b="1" i="0" u="none" strike="noStrike" kern="1200" cap="none" spc="0" normalizeH="0" baseline="0" noProof="0" dirty="0">
                <a:ln>
                  <a:noFill/>
                </a:ln>
                <a:solidFill>
                  <a:srgbClr val="FFFFFF"/>
                </a:solidFill>
                <a:effectLst/>
                <a:uLnTx/>
                <a:uFillTx/>
                <a:latin typeface="Segoe UI"/>
                <a:ea typeface="+mn-ea"/>
                <a:cs typeface="+mn-cs"/>
              </a:rPr>
              <a:t>What it does:</a:t>
            </a:r>
          </a:p>
          <a:p>
            <a:pPr marL="0" marR="0" lvl="0" indent="0" algn="l" defTabSz="457200" rtl="0" eaLnBrk="1" fontAlgn="auto" latinLnBrk="0" hangingPunct="1">
              <a:lnSpc>
                <a:spcPct val="100000"/>
              </a:lnSpc>
              <a:spcBef>
                <a:spcPts val="0"/>
              </a:spcBef>
              <a:spcAft>
                <a:spcPts val="0"/>
              </a:spcAft>
              <a:buClrTx/>
              <a:buSzTx/>
              <a:buFontTx/>
              <a:buNone/>
              <a:tabLst/>
              <a:defRPr sz="1200" b="0">
                <a:solidFill>
                  <a:srgbClr val="BBBBCC"/>
                </a:solidFill>
                <a:latin typeface="Segoe UI"/>
              </a:defRPr>
            </a:pPr>
            <a:r>
              <a:rPr kumimoji="0" sz="1200" b="0" i="0" u="none" strike="noStrike" kern="1200" cap="none" spc="0" normalizeH="0" baseline="0" noProof="0" dirty="0">
                <a:ln>
                  <a:noFill/>
                </a:ln>
                <a:solidFill>
                  <a:srgbClr val="BBBBCC"/>
                </a:solidFill>
                <a:effectLst/>
                <a:uLnTx/>
                <a:uFillTx/>
                <a:latin typeface="Segoe UI"/>
                <a:ea typeface="+mn-ea"/>
                <a:cs typeface="+mn-cs"/>
              </a:rPr>
              <a:t>• Synthesizes ALL feedback across the preview</a:t>
            </a:r>
          </a:p>
          <a:p>
            <a:pPr marL="0" marR="0" lvl="0" indent="0" algn="l" defTabSz="457200" rtl="0" eaLnBrk="1" fontAlgn="auto" latinLnBrk="0" hangingPunct="1">
              <a:lnSpc>
                <a:spcPct val="100000"/>
              </a:lnSpc>
              <a:spcBef>
                <a:spcPts val="0"/>
              </a:spcBef>
              <a:spcAft>
                <a:spcPts val="0"/>
              </a:spcAft>
              <a:buClrTx/>
              <a:buSzTx/>
              <a:buFontTx/>
              <a:buNone/>
              <a:tabLst/>
              <a:defRPr sz="1200" b="0">
                <a:solidFill>
                  <a:srgbClr val="BBBBCC"/>
                </a:solidFill>
                <a:latin typeface="Segoe UI"/>
              </a:defRPr>
            </a:pPr>
            <a:r>
              <a:rPr kumimoji="0" sz="1200" b="0" i="0" u="none" strike="noStrike" kern="1200" cap="none" spc="0" normalizeH="0" baseline="0" noProof="0" dirty="0">
                <a:ln>
                  <a:noFill/>
                </a:ln>
                <a:solidFill>
                  <a:srgbClr val="BBBBCC"/>
                </a:solidFill>
                <a:effectLst/>
                <a:uLnTx/>
                <a:uFillTx/>
                <a:latin typeface="Segoe UI"/>
                <a:ea typeface="+mn-ea"/>
                <a:cs typeface="+mn-cs"/>
              </a:rPr>
              <a:t>• One strategic document from months of data</a:t>
            </a:r>
          </a:p>
          <a:p>
            <a:pPr marL="0" marR="0" lvl="0" indent="0" algn="l" defTabSz="457200" rtl="0" eaLnBrk="1" fontAlgn="auto" latinLnBrk="0" hangingPunct="1">
              <a:lnSpc>
                <a:spcPct val="100000"/>
              </a:lnSpc>
              <a:spcBef>
                <a:spcPts val="0"/>
              </a:spcBef>
              <a:spcAft>
                <a:spcPts val="0"/>
              </a:spcAft>
              <a:buClrTx/>
              <a:buSzTx/>
              <a:buFontTx/>
              <a:buNone/>
              <a:tabLst/>
              <a:defRPr sz="1200" b="0">
                <a:solidFill>
                  <a:srgbClr val="BBBBCC"/>
                </a:solidFill>
                <a:latin typeface="Segoe UI"/>
              </a:defRPr>
            </a:pPr>
            <a:endParaRPr kumimoji="0" lang="en-US" sz="1200" b="0" i="0" u="none" strike="noStrike" kern="1200" cap="none" spc="0" normalizeH="0" baseline="0" noProof="0" dirty="0">
              <a:ln>
                <a:noFill/>
              </a:ln>
              <a:solidFill>
                <a:srgbClr val="BBBBCC"/>
              </a:solidFill>
              <a:effectLst/>
              <a:uLnTx/>
              <a:uFillTx/>
              <a:latin typeface="Segoe U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sz="1200" b="0">
                <a:solidFill>
                  <a:srgbClr val="BBBBCC"/>
                </a:solidFill>
                <a:latin typeface="Segoe UI"/>
              </a:defRPr>
            </a:pPr>
            <a:r>
              <a:rPr kumimoji="0" sz="1200" b="0" i="0" u="none" strike="noStrike" kern="1200" cap="none" spc="0" normalizeH="0" baseline="0" noProof="0" dirty="0">
                <a:ln>
                  <a:noFill/>
                </a:ln>
                <a:solidFill>
                  <a:srgbClr val="BBBBCC"/>
                </a:solidFill>
                <a:effectLst/>
                <a:uLnTx/>
                <a:uFillTx/>
                <a:latin typeface="Segoe UI"/>
                <a:ea typeface="+mn-ea"/>
                <a:cs typeface="+mn-cs"/>
              </a:rPr>
              <a:t>What it produces:</a:t>
            </a:r>
          </a:p>
          <a:p>
            <a:pPr marL="0" marR="0" lvl="0" indent="0" algn="l" defTabSz="457200" rtl="0" eaLnBrk="1" fontAlgn="auto" latinLnBrk="0" hangingPunct="1">
              <a:lnSpc>
                <a:spcPct val="100000"/>
              </a:lnSpc>
              <a:spcBef>
                <a:spcPts val="0"/>
              </a:spcBef>
              <a:spcAft>
                <a:spcPts val="0"/>
              </a:spcAft>
              <a:buClrTx/>
              <a:buSzTx/>
              <a:buFontTx/>
              <a:buNone/>
              <a:tabLst/>
              <a:defRPr sz="1200" b="0">
                <a:solidFill>
                  <a:srgbClr val="BBBBCC"/>
                </a:solidFill>
                <a:latin typeface="Segoe UI"/>
              </a:defRPr>
            </a:pPr>
            <a:r>
              <a:rPr kumimoji="0" sz="1200" b="0" i="0" u="none" strike="noStrike" kern="1200" cap="none" spc="0" normalizeH="0" baseline="0" noProof="0" dirty="0">
                <a:ln>
                  <a:noFill/>
                </a:ln>
                <a:solidFill>
                  <a:srgbClr val="BBBBCC"/>
                </a:solidFill>
                <a:effectLst/>
                <a:uLnTx/>
                <a:uFillTx/>
                <a:latin typeface="Segoe UI"/>
                <a:ea typeface="+mn-ea"/>
                <a:cs typeface="+mn-cs"/>
              </a:rPr>
              <a:t>• Executive summary</a:t>
            </a:r>
          </a:p>
          <a:p>
            <a:pPr marL="0" marR="0" lvl="0" indent="0" algn="l" defTabSz="457200" rtl="0" eaLnBrk="1" fontAlgn="auto" latinLnBrk="0" hangingPunct="1">
              <a:lnSpc>
                <a:spcPct val="100000"/>
              </a:lnSpc>
              <a:spcBef>
                <a:spcPts val="0"/>
              </a:spcBef>
              <a:spcAft>
                <a:spcPts val="0"/>
              </a:spcAft>
              <a:buClrTx/>
              <a:buSzTx/>
              <a:buFontTx/>
              <a:buNone/>
              <a:tabLst/>
              <a:defRPr sz="1200" b="0">
                <a:solidFill>
                  <a:srgbClr val="BBBBCC"/>
                </a:solidFill>
                <a:latin typeface="Segoe UI"/>
              </a:defRPr>
            </a:pPr>
            <a:r>
              <a:rPr kumimoji="0" sz="1200" b="0" i="0" u="none" strike="noStrike" kern="1200" cap="none" spc="0" normalizeH="0" baseline="0" noProof="0" dirty="0">
                <a:ln>
                  <a:noFill/>
                </a:ln>
                <a:solidFill>
                  <a:srgbClr val="BBBBCC"/>
                </a:solidFill>
                <a:effectLst/>
                <a:uLnTx/>
                <a:uFillTx/>
                <a:latin typeface="Segoe UI"/>
                <a:ea typeface="+mn-ea"/>
                <a:cs typeface="+mn-cs"/>
              </a:rPr>
              <a:t>• Top trends ranked by frequency + trajectory</a:t>
            </a:r>
          </a:p>
          <a:p>
            <a:pPr marL="0" marR="0" lvl="0" indent="0" algn="l" defTabSz="457200" rtl="0" eaLnBrk="1" fontAlgn="auto" latinLnBrk="0" hangingPunct="1">
              <a:lnSpc>
                <a:spcPct val="100000"/>
              </a:lnSpc>
              <a:spcBef>
                <a:spcPts val="0"/>
              </a:spcBef>
              <a:spcAft>
                <a:spcPts val="0"/>
              </a:spcAft>
              <a:buClrTx/>
              <a:buSzTx/>
              <a:buFontTx/>
              <a:buNone/>
              <a:tabLst/>
              <a:defRPr sz="1200" b="0">
                <a:solidFill>
                  <a:srgbClr val="BBBBCC"/>
                </a:solidFill>
                <a:latin typeface="Segoe UI"/>
              </a:defRPr>
            </a:pPr>
            <a:r>
              <a:rPr kumimoji="0" sz="1200" b="0" i="0" u="none" strike="noStrike" kern="1200" cap="none" spc="0" normalizeH="0" baseline="0" noProof="0" dirty="0">
                <a:ln>
                  <a:noFill/>
                </a:ln>
                <a:solidFill>
                  <a:srgbClr val="BBBBCC"/>
                </a:solidFill>
                <a:effectLst/>
                <a:uLnTx/>
                <a:uFillTx/>
                <a:latin typeface="Segoe UI"/>
                <a:ea typeface="+mn-ea"/>
                <a:cs typeface="+mn-cs"/>
              </a:rPr>
              <a:t>• Feature requests ranked by priority</a:t>
            </a:r>
            <a:r>
              <a:rPr kumimoji="0" lang="en-US" sz="1200" b="0" i="0" u="none" strike="noStrike" kern="1200" cap="none" spc="0" normalizeH="0" baseline="0" noProof="0" dirty="0">
                <a:ln>
                  <a:noFill/>
                </a:ln>
                <a:solidFill>
                  <a:srgbClr val="BBBBCC"/>
                </a:solidFill>
                <a:effectLst/>
                <a:uLnTx/>
                <a:uFillTx/>
                <a:latin typeface="Segoe UI"/>
                <a:ea typeface="+mn-ea"/>
                <a:cs typeface="+mn-cs"/>
              </a:rPr>
              <a:t>/number of mentions</a:t>
            </a:r>
            <a:endParaRPr kumimoji="0" sz="1200" b="0" i="0" u="none" strike="noStrike" kern="1200" cap="none" spc="0" normalizeH="0" baseline="0" noProof="0" dirty="0">
              <a:ln>
                <a:noFill/>
              </a:ln>
              <a:solidFill>
                <a:srgbClr val="BBBBCC"/>
              </a:solidFill>
              <a:effectLst/>
              <a:uLnTx/>
              <a:uFillTx/>
              <a:latin typeface="Segoe U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sz="1200" b="0">
                <a:solidFill>
                  <a:srgbClr val="BBBBCC"/>
                </a:solidFill>
                <a:latin typeface="Segoe UI"/>
              </a:defRPr>
            </a:pPr>
            <a:r>
              <a:rPr kumimoji="0" sz="1200" b="0" i="0" u="none" strike="noStrike" kern="1200" cap="none" spc="0" normalizeH="0" baseline="0" noProof="0" dirty="0">
                <a:ln>
                  <a:noFill/>
                </a:ln>
                <a:solidFill>
                  <a:srgbClr val="BBBBCC"/>
                </a:solidFill>
                <a:effectLst/>
                <a:uLnTx/>
                <a:uFillTx/>
                <a:latin typeface="Segoe UI"/>
                <a:ea typeface="+mn-ea"/>
                <a:cs typeface="+mn-cs"/>
              </a:rPr>
              <a:t>• Bugs with severity and customer impact</a:t>
            </a:r>
          </a:p>
          <a:p>
            <a:pPr marL="0" marR="0" lvl="0" indent="0" algn="l" defTabSz="457200" rtl="0" eaLnBrk="1" fontAlgn="auto" latinLnBrk="0" hangingPunct="1">
              <a:lnSpc>
                <a:spcPct val="100000"/>
              </a:lnSpc>
              <a:spcBef>
                <a:spcPts val="0"/>
              </a:spcBef>
              <a:spcAft>
                <a:spcPts val="0"/>
              </a:spcAft>
              <a:buClrTx/>
              <a:buSzTx/>
              <a:buFontTx/>
              <a:buNone/>
              <a:tabLst/>
              <a:defRPr sz="1200" b="0">
                <a:solidFill>
                  <a:srgbClr val="BBBBCC"/>
                </a:solidFill>
                <a:latin typeface="Segoe UI"/>
              </a:defRPr>
            </a:pPr>
            <a:r>
              <a:rPr kumimoji="0" sz="1200" b="0" i="0" u="none" strike="noStrike" kern="1200" cap="none" spc="0" normalizeH="0" baseline="0" noProof="0" dirty="0">
                <a:ln>
                  <a:noFill/>
                </a:ln>
                <a:solidFill>
                  <a:srgbClr val="BBBBCC"/>
                </a:solidFill>
                <a:effectLst/>
                <a:uLnTx/>
                <a:uFillTx/>
                <a:latin typeface="Segoe UI"/>
                <a:ea typeface="+mn-ea"/>
                <a:cs typeface="+mn-cs"/>
              </a:rPr>
              <a:t>• Pain points with cross-customer validation</a:t>
            </a:r>
          </a:p>
          <a:p>
            <a:pPr marL="0" marR="0" lvl="0" indent="0" algn="l" defTabSz="457200" rtl="0" eaLnBrk="1" fontAlgn="auto" latinLnBrk="0" hangingPunct="1">
              <a:lnSpc>
                <a:spcPct val="100000"/>
              </a:lnSpc>
              <a:spcBef>
                <a:spcPts val="0"/>
              </a:spcBef>
              <a:spcAft>
                <a:spcPts val="0"/>
              </a:spcAft>
              <a:buClrTx/>
              <a:buSzTx/>
              <a:buFontTx/>
              <a:buNone/>
              <a:tabLst/>
              <a:defRPr sz="1200" b="0">
                <a:solidFill>
                  <a:srgbClr val="BBBBCC"/>
                </a:solidFill>
                <a:latin typeface="Segoe UI"/>
              </a:defRPr>
            </a:pPr>
            <a:r>
              <a:rPr kumimoji="0" sz="1200" b="0" i="0" u="none" strike="noStrike" kern="1200" cap="none" spc="0" normalizeH="0" baseline="0" noProof="0" dirty="0">
                <a:ln>
                  <a:noFill/>
                </a:ln>
                <a:solidFill>
                  <a:srgbClr val="BBBBCC"/>
                </a:solidFill>
                <a:effectLst/>
                <a:uLnTx/>
                <a:uFillTx/>
                <a:latin typeface="Segoe UI"/>
                <a:ea typeface="+mn-ea"/>
                <a:cs typeface="+mn-cs"/>
              </a:rPr>
              <a:t>• Per-customer sentiment over time</a:t>
            </a:r>
          </a:p>
        </p:txBody>
      </p:sp>
      <p:sp>
        <p:nvSpPr>
          <p:cNvPr id="12" name="TextBox 11"/>
          <p:cNvSpPr txBox="1"/>
          <p:nvPr/>
        </p:nvSpPr>
        <p:spPr>
          <a:xfrm>
            <a:off x="1371600" y="5852160"/>
            <a:ext cx="9448495" cy="54864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500" b="1">
                <a:solidFill>
                  <a:srgbClr val="00B294"/>
                </a:solidFill>
                <a:latin typeface="Segoe UI"/>
              </a:defRPr>
            </a:pPr>
            <a:r>
              <a:rPr kumimoji="0" sz="1500" b="1" i="0" u="none" strike="noStrike" kern="1200" cap="none" spc="0" normalizeH="0" baseline="0" noProof="0">
                <a:ln>
                  <a:noFill/>
                </a:ln>
                <a:solidFill>
                  <a:srgbClr val="00B294"/>
                </a:solidFill>
                <a:effectLst/>
                <a:uLnTx/>
                <a:uFillTx/>
                <a:latin typeface="Segoe UI"/>
                <a:ea typeface="+mn-ea"/>
                <a:cs typeface="+mn-cs"/>
              </a:rPr>
              <a:t>What took 4+ hours of manual analysis now runs in minutes — every single week, without fail.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a:extLst>
            <a:ext uri="{FF2B5EF4-FFF2-40B4-BE49-F238E27FC236}">
              <a16:creationId xmlns:a16="http://schemas.microsoft.com/office/drawing/2014/main" id="{95310EF8-2E54-8027-301E-72518FD1B22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E1C6027-3313-AD29-9B07-CC3910C93F14}"/>
              </a:ext>
            </a:extLst>
          </p:cNvPr>
          <p:cNvSpPr txBox="1"/>
          <p:nvPr/>
        </p:nvSpPr>
        <p:spPr>
          <a:xfrm>
            <a:off x="731520" y="274320"/>
            <a:ext cx="10728655" cy="49244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600" b="1">
                <a:solidFill>
                  <a:srgbClr val="FFFFFF"/>
                </a:solidFill>
                <a:latin typeface="Segoe UI"/>
              </a:defRPr>
            </a:pPr>
            <a:r>
              <a:rPr kumimoji="0" lang="en-US" sz="2600" b="1" i="0" u="none" strike="noStrike" kern="1200" cap="none" spc="0" normalizeH="0" baseline="0" noProof="0" dirty="0" err="1">
                <a:ln>
                  <a:noFill/>
                </a:ln>
                <a:solidFill>
                  <a:srgbClr val="FFFFFF"/>
                </a:solidFill>
                <a:effectLst/>
                <a:uLnTx/>
                <a:uFillTx/>
                <a:latin typeface="Segoe UI"/>
                <a:ea typeface="+mn-ea"/>
                <a:cs typeface="+mn-cs"/>
              </a:rPr>
              <a:t>Github</a:t>
            </a:r>
            <a:r>
              <a:rPr kumimoji="0" lang="en-US" sz="2600" b="1" i="0" u="none" strike="noStrike" kern="1200" cap="none" spc="0" normalizeH="0" baseline="0" noProof="0" dirty="0">
                <a:ln>
                  <a:noFill/>
                </a:ln>
                <a:solidFill>
                  <a:srgbClr val="FFFFFF"/>
                </a:solidFill>
                <a:effectLst/>
                <a:uLnTx/>
                <a:uFillTx/>
                <a:latin typeface="Segoe UI"/>
                <a:ea typeface="+mn-ea"/>
                <a:cs typeface="+mn-cs"/>
              </a:rPr>
              <a:t>: Customer Feedback Analyzer</a:t>
            </a:r>
            <a:endParaRPr kumimoji="0" sz="2600" b="1" i="0" u="none" strike="noStrike" kern="1200" cap="none" spc="0" normalizeH="0" baseline="0" noProof="0" dirty="0">
              <a:ln>
                <a:noFill/>
              </a:ln>
              <a:solidFill>
                <a:srgbClr val="FFFFFF"/>
              </a:solidFill>
              <a:effectLst/>
              <a:uLnTx/>
              <a:uFillTx/>
              <a:latin typeface="Segoe UI"/>
              <a:ea typeface="+mn-ea"/>
              <a:cs typeface="+mn-cs"/>
            </a:endParaRPr>
          </a:p>
        </p:txBody>
      </p:sp>
      <p:pic>
        <p:nvPicPr>
          <p:cNvPr id="14" name="Picture 13">
            <a:extLst>
              <a:ext uri="{FF2B5EF4-FFF2-40B4-BE49-F238E27FC236}">
                <a16:creationId xmlns:a16="http://schemas.microsoft.com/office/drawing/2014/main" id="{5D22B008-E751-1FBC-1957-CFE206093E42}"/>
              </a:ext>
            </a:extLst>
          </p:cNvPr>
          <p:cNvPicPr>
            <a:picLocks noChangeAspect="1"/>
          </p:cNvPicPr>
          <p:nvPr/>
        </p:nvPicPr>
        <p:blipFill>
          <a:blip r:embed="rId2"/>
          <a:stretch>
            <a:fillRect/>
          </a:stretch>
        </p:blipFill>
        <p:spPr>
          <a:xfrm>
            <a:off x="254243" y="1159625"/>
            <a:ext cx="7199048" cy="4355869"/>
          </a:xfrm>
          <a:prstGeom prst="rect">
            <a:avLst/>
          </a:prstGeom>
        </p:spPr>
      </p:pic>
      <p:sp>
        <p:nvSpPr>
          <p:cNvPr id="17" name="TextBox 16">
            <a:extLst>
              <a:ext uri="{FF2B5EF4-FFF2-40B4-BE49-F238E27FC236}">
                <a16:creationId xmlns:a16="http://schemas.microsoft.com/office/drawing/2014/main" id="{97E3C90B-88C6-7197-C693-8A0CF16D51AF}"/>
              </a:ext>
            </a:extLst>
          </p:cNvPr>
          <p:cNvSpPr txBox="1"/>
          <p:nvPr/>
        </p:nvSpPr>
        <p:spPr>
          <a:xfrm rot="10800000" flipH="1" flipV="1">
            <a:off x="7972471" y="1853291"/>
            <a:ext cx="3722251" cy="46166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Calibri"/>
                <a:ea typeface="+mn-ea"/>
                <a:cs typeface="+mn-cs"/>
              </a:rPr>
              <a:t>Aka.ms/</a:t>
            </a:r>
            <a:r>
              <a:rPr kumimoji="0" lang="en-US" sz="2400" b="0" i="0" u="none" strike="noStrike" kern="1200" cap="none" spc="0" normalizeH="0" baseline="0" noProof="0" dirty="0" err="1">
                <a:ln>
                  <a:noFill/>
                </a:ln>
                <a:solidFill>
                  <a:prstClr val="white"/>
                </a:solidFill>
                <a:effectLst/>
                <a:uLnTx/>
                <a:uFillTx/>
                <a:latin typeface="Calibri"/>
                <a:ea typeface="+mn-ea"/>
                <a:cs typeface="+mn-cs"/>
              </a:rPr>
              <a:t>feedbackanalyzer</a:t>
            </a:r>
            <a:endParaRPr kumimoji="0" lang="en-US" sz="2400" b="0" i="0" u="none" strike="noStrike" kern="1200" cap="none" spc="0" normalizeH="0" baseline="0" noProof="0" dirty="0">
              <a:ln>
                <a:noFill/>
              </a:ln>
              <a:solidFill>
                <a:prstClr val="white"/>
              </a:solidFill>
              <a:effectLst/>
              <a:uLnTx/>
              <a:uFillTx/>
              <a:latin typeface="Calibri"/>
              <a:ea typeface="+mn-ea"/>
              <a:cs typeface="+mn-cs"/>
            </a:endParaRPr>
          </a:p>
        </p:txBody>
      </p:sp>
    </p:spTree>
    <p:extLst>
      <p:ext uri="{BB962C8B-B14F-4D97-AF65-F5344CB8AC3E}">
        <p14:creationId xmlns:p14="http://schemas.microsoft.com/office/powerpoint/2010/main" val="38181610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a:extLst>
            <a:ext uri="{FF2B5EF4-FFF2-40B4-BE49-F238E27FC236}">
              <a16:creationId xmlns:a16="http://schemas.microsoft.com/office/drawing/2014/main" id="{B5A0D62B-DBCD-C67E-A1C9-401677F0DB6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2E16CE4-5B11-D8B9-4757-00FA722A790D}"/>
              </a:ext>
            </a:extLst>
          </p:cNvPr>
          <p:cNvSpPr txBox="1"/>
          <p:nvPr/>
        </p:nvSpPr>
        <p:spPr>
          <a:xfrm>
            <a:off x="731520" y="156549"/>
            <a:ext cx="10728655" cy="49244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600" b="1">
                <a:solidFill>
                  <a:srgbClr val="FFFFFF"/>
                </a:solidFill>
                <a:latin typeface="Segoe UI"/>
              </a:defRPr>
            </a:pPr>
            <a:r>
              <a:rPr kumimoji="0" lang="en-US" sz="2600" b="1" i="0" u="none" strike="noStrike" kern="1200" cap="none" spc="0" normalizeH="0" baseline="0" noProof="0" dirty="0" err="1">
                <a:ln>
                  <a:noFill/>
                </a:ln>
                <a:solidFill>
                  <a:srgbClr val="FFFFFF"/>
                </a:solidFill>
                <a:effectLst/>
                <a:uLnTx/>
                <a:uFillTx/>
                <a:latin typeface="Segoe UI"/>
                <a:ea typeface="+mn-ea"/>
                <a:cs typeface="+mn-cs"/>
              </a:rPr>
              <a:t>Github</a:t>
            </a:r>
            <a:r>
              <a:rPr kumimoji="0" lang="en-US" sz="2600" b="1" i="0" u="none" strike="noStrike" kern="1200" cap="none" spc="0" normalizeH="0" baseline="0" noProof="0" dirty="0">
                <a:ln>
                  <a:noFill/>
                </a:ln>
                <a:solidFill>
                  <a:srgbClr val="FFFFFF"/>
                </a:solidFill>
                <a:effectLst/>
                <a:uLnTx/>
                <a:uFillTx/>
                <a:latin typeface="Segoe UI"/>
                <a:ea typeface="+mn-ea"/>
                <a:cs typeface="+mn-cs"/>
              </a:rPr>
              <a:t>: Customer Feedback Analyzer</a:t>
            </a:r>
            <a:endParaRPr kumimoji="0" sz="2600" b="1" i="0" u="none" strike="noStrike" kern="1200" cap="none" spc="0" normalizeH="0" baseline="0" noProof="0" dirty="0">
              <a:ln>
                <a:noFill/>
              </a:ln>
              <a:solidFill>
                <a:srgbClr val="FFFFFF"/>
              </a:solidFill>
              <a:effectLst/>
              <a:uLnTx/>
              <a:uFillTx/>
              <a:latin typeface="Segoe UI"/>
              <a:ea typeface="+mn-ea"/>
              <a:cs typeface="+mn-cs"/>
            </a:endParaRPr>
          </a:p>
        </p:txBody>
      </p:sp>
      <p:pic>
        <p:nvPicPr>
          <p:cNvPr id="4" name="Picture 3">
            <a:extLst>
              <a:ext uri="{FF2B5EF4-FFF2-40B4-BE49-F238E27FC236}">
                <a16:creationId xmlns:a16="http://schemas.microsoft.com/office/drawing/2014/main" id="{4732976F-AA77-4785-EC7B-BE722EB19945}"/>
              </a:ext>
            </a:extLst>
          </p:cNvPr>
          <p:cNvPicPr>
            <a:picLocks noChangeAspect="1"/>
          </p:cNvPicPr>
          <p:nvPr/>
        </p:nvPicPr>
        <p:blipFill>
          <a:blip r:embed="rId2"/>
          <a:stretch>
            <a:fillRect/>
          </a:stretch>
        </p:blipFill>
        <p:spPr>
          <a:xfrm>
            <a:off x="6553201" y="1069442"/>
            <a:ext cx="4765964" cy="5326666"/>
          </a:xfrm>
          <a:prstGeom prst="rect">
            <a:avLst/>
          </a:prstGeom>
        </p:spPr>
      </p:pic>
      <p:sp>
        <p:nvSpPr>
          <p:cNvPr id="6" name="TextBox 5">
            <a:extLst>
              <a:ext uri="{FF2B5EF4-FFF2-40B4-BE49-F238E27FC236}">
                <a16:creationId xmlns:a16="http://schemas.microsoft.com/office/drawing/2014/main" id="{5F5F73C3-DBAC-FE06-6C53-A61EBE2D3501}"/>
              </a:ext>
            </a:extLst>
          </p:cNvPr>
          <p:cNvSpPr txBox="1"/>
          <p:nvPr/>
        </p:nvSpPr>
        <p:spPr>
          <a:xfrm rot="10800000" flipH="1" flipV="1">
            <a:off x="7345553" y="606437"/>
            <a:ext cx="3722251" cy="46166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Calibri"/>
                <a:ea typeface="+mn-ea"/>
                <a:cs typeface="+mn-cs"/>
              </a:rPr>
              <a:t>Markdown instructions:</a:t>
            </a:r>
          </a:p>
        </p:txBody>
      </p:sp>
      <p:sp>
        <p:nvSpPr>
          <p:cNvPr id="8" name="TextBox 7">
            <a:extLst>
              <a:ext uri="{FF2B5EF4-FFF2-40B4-BE49-F238E27FC236}">
                <a16:creationId xmlns:a16="http://schemas.microsoft.com/office/drawing/2014/main" id="{1EA72454-36F3-D562-295A-727BC8F8D367}"/>
              </a:ext>
            </a:extLst>
          </p:cNvPr>
          <p:cNvSpPr txBox="1"/>
          <p:nvPr/>
        </p:nvSpPr>
        <p:spPr>
          <a:xfrm>
            <a:off x="258953" y="1764832"/>
            <a:ext cx="6096000" cy="258532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a:ea typeface="+mn-ea"/>
                <a:cs typeface="+mn-cs"/>
              </a:rPr>
              <a:t>Prompt:   </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a:ea typeface="+mn-ea"/>
                <a:cs typeface="+mn-cs"/>
              </a:rPr>
              <a:t>Build me a skill that reads all my customer feedback notes from meeting transcripts, tickets, Teams conversations, and existing notes in my customer feedback folder and generates a report showing top trends, feature requests ranked by priority, bugs by severity, sentiment with real quotes, and recommended actions. Run the skill through security review to ensure all data is protected. Include an HTML dashboard with charts.</a:t>
            </a:r>
          </a:p>
        </p:txBody>
      </p:sp>
    </p:spTree>
    <p:extLst>
      <p:ext uri="{BB962C8B-B14F-4D97-AF65-F5344CB8AC3E}">
        <p14:creationId xmlns:p14="http://schemas.microsoft.com/office/powerpoint/2010/main" val="39196750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229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 name="TextBox 2"/>
          <p:cNvSpPr txBox="1"/>
          <p:nvPr/>
        </p:nvSpPr>
        <p:spPr>
          <a:xfrm>
            <a:off x="457200" y="137160"/>
            <a:ext cx="9144000" cy="36576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200" b="1">
                <a:solidFill>
                  <a:srgbClr val="FFFFFF"/>
                </a:solidFill>
                <a:latin typeface="Calibri"/>
              </a:defRPr>
            </a:pPr>
            <a:r>
              <a:rPr kumimoji="0" sz="2200" b="1" i="0" u="none" strike="noStrike" kern="1200" cap="none" spc="0" normalizeH="0" baseline="0" noProof="0" dirty="0">
                <a:ln>
                  <a:noFill/>
                </a:ln>
                <a:solidFill>
                  <a:srgbClr val="FFFFFF"/>
                </a:solidFill>
                <a:effectLst/>
                <a:uLnTx/>
                <a:uFillTx/>
                <a:latin typeface="Calibri"/>
                <a:ea typeface="+mn-ea"/>
                <a:cs typeface="+mn-cs"/>
              </a:rPr>
              <a:t>Cumulative Customer Feedback Report — AI Cost Analyzer</a:t>
            </a:r>
          </a:p>
        </p:txBody>
      </p:sp>
      <p:sp>
        <p:nvSpPr>
          <p:cNvPr id="4" name="TextBox 3"/>
          <p:cNvSpPr txBox="1"/>
          <p:nvPr/>
        </p:nvSpPr>
        <p:spPr>
          <a:xfrm>
            <a:off x="457200" y="502920"/>
            <a:ext cx="7315200" cy="2743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000" b="0">
                <a:solidFill>
                  <a:srgbClr val="BBDDF0"/>
                </a:solidFill>
                <a:latin typeface="Calibri"/>
              </a:defRPr>
            </a:pPr>
            <a:r>
              <a:rPr kumimoji="0" sz="1000" b="0" i="0" u="none" strike="noStrike" kern="1200" cap="none" spc="0" normalizeH="0" baseline="0" noProof="0">
                <a:ln>
                  <a:noFill/>
                </a:ln>
                <a:solidFill>
                  <a:srgbClr val="BBDDF0"/>
                </a:solidFill>
                <a:effectLst/>
                <a:uLnTx/>
                <a:uFillTx/>
                <a:latin typeface="Calibri"/>
                <a:ea typeface="+mn-ea"/>
                <a:cs typeface="+mn-cs"/>
              </a:rPr>
              <a:t>Jan 15 – May 25, 2026  •  32 Sessions  •  18 Customers  •  6 Industry Verticals</a:t>
            </a:r>
          </a:p>
        </p:txBody>
      </p:sp>
      <p:sp>
        <p:nvSpPr>
          <p:cNvPr id="5" name="Rounded Rectangle 4"/>
          <p:cNvSpPr/>
          <p:nvPr/>
        </p:nvSpPr>
        <p:spPr>
          <a:xfrm>
            <a:off x="457200" y="1005840"/>
            <a:ext cx="1828800" cy="777240"/>
          </a:xfrm>
          <a:prstGeom prst="roundRect">
            <a:avLst/>
          </a:prstGeom>
          <a:solidFill>
            <a:srgbClr val="2B7ABB"/>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600"/>
              </a:spcBef>
              <a:spcAft>
                <a:spcPts val="0"/>
              </a:spcAft>
              <a:buClrTx/>
              <a:buSzTx/>
              <a:buFontTx/>
              <a:buNone/>
              <a:tabLst/>
              <a:defRPr sz="2200" b="1">
                <a:solidFill>
                  <a:srgbClr val="FFFFFF"/>
                </a:solidFill>
                <a:latin typeface="Calibri"/>
              </a:defRPr>
            </a:pPr>
            <a:r>
              <a:rPr kumimoji="0" sz="2200" b="1" i="0" u="none" strike="noStrike" kern="1200" cap="none" spc="0" normalizeH="0" baseline="0" noProof="0">
                <a:ln>
                  <a:noFill/>
                </a:ln>
                <a:solidFill>
                  <a:srgbClr val="FFFFFF"/>
                </a:solidFill>
                <a:effectLst/>
                <a:uLnTx/>
                <a:uFillTx/>
                <a:latin typeface="Calibri"/>
                <a:ea typeface="+mn-ea"/>
                <a:cs typeface="+mn-cs"/>
              </a:rPr>
              <a:t>32</a:t>
            </a:r>
          </a:p>
          <a:p>
            <a:pPr marL="0" marR="0" lvl="0" indent="0" algn="ctr" defTabSz="457200" rtl="0" eaLnBrk="1" fontAlgn="auto" latinLnBrk="0" hangingPunct="1">
              <a:lnSpc>
                <a:spcPct val="100000"/>
              </a:lnSpc>
              <a:spcBef>
                <a:spcPts val="0"/>
              </a:spcBef>
              <a:spcAft>
                <a:spcPts val="0"/>
              </a:spcAft>
              <a:buClrTx/>
              <a:buSzTx/>
              <a:buFontTx/>
              <a:buNone/>
              <a:tabLst/>
              <a:defRPr sz="800">
                <a:solidFill>
                  <a:srgbClr val="FFFFFF"/>
                </a:solidFill>
                <a:latin typeface="Calibri"/>
              </a:defRPr>
            </a:pPr>
            <a:r>
              <a:rPr kumimoji="0" sz="800" b="0" i="0" u="none" strike="noStrike" kern="1200" cap="none" spc="0" normalizeH="0" baseline="0" noProof="0">
                <a:ln>
                  <a:noFill/>
                </a:ln>
                <a:solidFill>
                  <a:srgbClr val="FFFFFF"/>
                </a:solidFill>
                <a:effectLst/>
                <a:uLnTx/>
                <a:uFillTx/>
                <a:latin typeface="Calibri"/>
                <a:ea typeface="+mn-ea"/>
                <a:cs typeface="+mn-cs"/>
              </a:rPr>
              <a:t>Total Sessions</a:t>
            </a:r>
          </a:p>
        </p:txBody>
      </p:sp>
      <p:sp>
        <p:nvSpPr>
          <p:cNvPr id="6" name="Rounded Rectangle 5"/>
          <p:cNvSpPr/>
          <p:nvPr/>
        </p:nvSpPr>
        <p:spPr>
          <a:xfrm>
            <a:off x="2743200" y="1005840"/>
            <a:ext cx="1828800" cy="777240"/>
          </a:xfrm>
          <a:prstGeom prst="roundRect">
            <a:avLst/>
          </a:prstGeom>
          <a:solidFill>
            <a:srgbClr val="2EAD6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600"/>
              </a:spcBef>
              <a:spcAft>
                <a:spcPts val="0"/>
              </a:spcAft>
              <a:buClrTx/>
              <a:buSzTx/>
              <a:buFontTx/>
              <a:buNone/>
              <a:tabLst/>
              <a:defRPr sz="2200" b="1">
                <a:solidFill>
                  <a:srgbClr val="FFFFFF"/>
                </a:solidFill>
                <a:latin typeface="Calibri"/>
              </a:defRPr>
            </a:pPr>
            <a:r>
              <a:rPr kumimoji="0" sz="2200" b="1" i="0" u="none" strike="noStrike" kern="1200" cap="none" spc="0" normalizeH="0" baseline="0" noProof="0">
                <a:ln>
                  <a:noFill/>
                </a:ln>
                <a:solidFill>
                  <a:srgbClr val="FFFFFF"/>
                </a:solidFill>
                <a:effectLst/>
                <a:uLnTx/>
                <a:uFillTx/>
                <a:latin typeface="Calibri"/>
                <a:ea typeface="+mn-ea"/>
                <a:cs typeface="+mn-cs"/>
              </a:rPr>
              <a:t>18</a:t>
            </a:r>
          </a:p>
          <a:p>
            <a:pPr marL="0" marR="0" lvl="0" indent="0" algn="ctr" defTabSz="457200" rtl="0" eaLnBrk="1" fontAlgn="auto" latinLnBrk="0" hangingPunct="1">
              <a:lnSpc>
                <a:spcPct val="100000"/>
              </a:lnSpc>
              <a:spcBef>
                <a:spcPts val="0"/>
              </a:spcBef>
              <a:spcAft>
                <a:spcPts val="0"/>
              </a:spcAft>
              <a:buClrTx/>
              <a:buSzTx/>
              <a:buFontTx/>
              <a:buNone/>
              <a:tabLst/>
              <a:defRPr sz="800">
                <a:solidFill>
                  <a:srgbClr val="FFFFFF"/>
                </a:solidFill>
                <a:latin typeface="Calibri"/>
              </a:defRPr>
            </a:pPr>
            <a:r>
              <a:rPr kumimoji="0" sz="800" b="0" i="0" u="none" strike="noStrike" kern="1200" cap="none" spc="0" normalizeH="0" baseline="0" noProof="0">
                <a:ln>
                  <a:noFill/>
                </a:ln>
                <a:solidFill>
                  <a:srgbClr val="FFFFFF"/>
                </a:solidFill>
                <a:effectLst/>
                <a:uLnTx/>
                <a:uFillTx/>
                <a:latin typeface="Calibri"/>
                <a:ea typeface="+mn-ea"/>
                <a:cs typeface="+mn-cs"/>
              </a:rPr>
              <a:t>Customers</a:t>
            </a:r>
          </a:p>
        </p:txBody>
      </p:sp>
      <p:sp>
        <p:nvSpPr>
          <p:cNvPr id="7" name="Rounded Rectangle 6"/>
          <p:cNvSpPr/>
          <p:nvPr/>
        </p:nvSpPr>
        <p:spPr>
          <a:xfrm>
            <a:off x="5029200" y="1005840"/>
            <a:ext cx="1828800" cy="777240"/>
          </a:xfrm>
          <a:prstGeom prst="roundRect">
            <a:avLst/>
          </a:prstGeom>
          <a:solidFill>
            <a:srgbClr val="F0A53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600"/>
              </a:spcBef>
              <a:spcAft>
                <a:spcPts val="0"/>
              </a:spcAft>
              <a:buClrTx/>
              <a:buSzTx/>
              <a:buFontTx/>
              <a:buNone/>
              <a:tabLst/>
              <a:defRPr sz="2200" b="1">
                <a:solidFill>
                  <a:srgbClr val="FFFFFF"/>
                </a:solidFill>
                <a:latin typeface="Calibri"/>
              </a:defRPr>
            </a:pPr>
            <a:r>
              <a:rPr kumimoji="0" sz="2200" b="1" i="0" u="none" strike="noStrike" kern="1200" cap="none" spc="0" normalizeH="0" baseline="0" noProof="0">
                <a:ln>
                  <a:noFill/>
                </a:ln>
                <a:solidFill>
                  <a:srgbClr val="FFFFFF"/>
                </a:solidFill>
                <a:effectLst/>
                <a:uLnTx/>
                <a:uFillTx/>
                <a:latin typeface="Calibri"/>
                <a:ea typeface="+mn-ea"/>
                <a:cs typeface="+mn-cs"/>
              </a:rPr>
              <a:t>11</a:t>
            </a:r>
          </a:p>
          <a:p>
            <a:pPr marL="0" marR="0" lvl="0" indent="0" algn="ctr" defTabSz="457200" rtl="0" eaLnBrk="1" fontAlgn="auto" latinLnBrk="0" hangingPunct="1">
              <a:lnSpc>
                <a:spcPct val="100000"/>
              </a:lnSpc>
              <a:spcBef>
                <a:spcPts val="0"/>
              </a:spcBef>
              <a:spcAft>
                <a:spcPts val="0"/>
              </a:spcAft>
              <a:buClrTx/>
              <a:buSzTx/>
              <a:buFontTx/>
              <a:buNone/>
              <a:tabLst/>
              <a:defRPr sz="800">
                <a:solidFill>
                  <a:srgbClr val="FFFFFF"/>
                </a:solidFill>
                <a:latin typeface="Calibri"/>
              </a:defRPr>
            </a:pPr>
            <a:r>
              <a:rPr kumimoji="0" sz="800" b="0" i="0" u="none" strike="noStrike" kern="1200" cap="none" spc="0" normalizeH="0" baseline="0" noProof="0">
                <a:ln>
                  <a:noFill/>
                </a:ln>
                <a:solidFill>
                  <a:srgbClr val="FFFFFF"/>
                </a:solidFill>
                <a:effectLst/>
                <a:uLnTx/>
                <a:uFillTx/>
                <a:latin typeface="Calibri"/>
                <a:ea typeface="+mn-ea"/>
                <a:cs typeface="+mn-cs"/>
              </a:rPr>
              <a:t>Feature Requests</a:t>
            </a:r>
          </a:p>
        </p:txBody>
      </p:sp>
      <p:sp>
        <p:nvSpPr>
          <p:cNvPr id="8" name="Rounded Rectangle 7"/>
          <p:cNvSpPr/>
          <p:nvPr/>
        </p:nvSpPr>
        <p:spPr>
          <a:xfrm>
            <a:off x="7315200" y="1005840"/>
            <a:ext cx="1828800" cy="777240"/>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600"/>
              </a:spcBef>
              <a:spcAft>
                <a:spcPts val="0"/>
              </a:spcAft>
              <a:buClrTx/>
              <a:buSzTx/>
              <a:buFontTx/>
              <a:buNone/>
              <a:tabLst/>
              <a:defRPr sz="2200" b="1">
                <a:solidFill>
                  <a:srgbClr val="FFFFFF"/>
                </a:solidFill>
                <a:latin typeface="Calibri"/>
              </a:defRPr>
            </a:pPr>
            <a:r>
              <a:rPr kumimoji="0" sz="2200" b="1" i="0" u="none" strike="noStrike" kern="1200" cap="none" spc="0" normalizeH="0" baseline="0" noProof="0">
                <a:ln>
                  <a:noFill/>
                </a:ln>
                <a:solidFill>
                  <a:srgbClr val="FFFFFF"/>
                </a:solidFill>
                <a:effectLst/>
                <a:uLnTx/>
                <a:uFillTx/>
                <a:latin typeface="Calibri"/>
                <a:ea typeface="+mn-ea"/>
                <a:cs typeface="+mn-cs"/>
              </a:rPr>
              <a:t>7</a:t>
            </a:r>
          </a:p>
          <a:p>
            <a:pPr marL="0" marR="0" lvl="0" indent="0" algn="ctr" defTabSz="457200" rtl="0" eaLnBrk="1" fontAlgn="auto" latinLnBrk="0" hangingPunct="1">
              <a:lnSpc>
                <a:spcPct val="100000"/>
              </a:lnSpc>
              <a:spcBef>
                <a:spcPts val="0"/>
              </a:spcBef>
              <a:spcAft>
                <a:spcPts val="0"/>
              </a:spcAft>
              <a:buClrTx/>
              <a:buSzTx/>
              <a:buFontTx/>
              <a:buNone/>
              <a:tabLst/>
              <a:defRPr sz="800">
                <a:solidFill>
                  <a:srgbClr val="FFFFFF"/>
                </a:solidFill>
                <a:latin typeface="Calibri"/>
              </a:defRPr>
            </a:pPr>
            <a:r>
              <a:rPr kumimoji="0" sz="800" b="0" i="0" u="none" strike="noStrike" kern="1200" cap="none" spc="0" normalizeH="0" baseline="0" noProof="0">
                <a:ln>
                  <a:noFill/>
                </a:ln>
                <a:solidFill>
                  <a:srgbClr val="FFFFFF"/>
                </a:solidFill>
                <a:effectLst/>
                <a:uLnTx/>
                <a:uFillTx/>
                <a:latin typeface="Calibri"/>
                <a:ea typeface="+mn-ea"/>
                <a:cs typeface="+mn-cs"/>
              </a:rPr>
              <a:t>Open Bugs</a:t>
            </a:r>
          </a:p>
        </p:txBody>
      </p:sp>
      <p:sp>
        <p:nvSpPr>
          <p:cNvPr id="9" name="Rounded Rectangle 8"/>
          <p:cNvSpPr/>
          <p:nvPr/>
        </p:nvSpPr>
        <p:spPr>
          <a:xfrm>
            <a:off x="9601200" y="1005840"/>
            <a:ext cx="1828800" cy="777240"/>
          </a:xfrm>
          <a:prstGeom prst="roundRect">
            <a:avLst/>
          </a:prstGeom>
          <a:solidFill>
            <a:srgbClr val="2EAD6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600"/>
              </a:spcBef>
              <a:spcAft>
                <a:spcPts val="0"/>
              </a:spcAft>
              <a:buClrTx/>
              <a:buSzTx/>
              <a:buFontTx/>
              <a:buNone/>
              <a:tabLst/>
              <a:defRPr sz="2200" b="1">
                <a:solidFill>
                  <a:srgbClr val="FFFFFF"/>
                </a:solidFill>
                <a:latin typeface="Calibri"/>
              </a:defRPr>
            </a:pPr>
            <a:r>
              <a:rPr kumimoji="0" sz="2200" b="1" i="0" u="none" strike="noStrike" kern="1200" cap="none" spc="0" normalizeH="0" baseline="0" noProof="0">
                <a:ln>
                  <a:noFill/>
                </a:ln>
                <a:solidFill>
                  <a:srgbClr val="FFFFFF"/>
                </a:solidFill>
                <a:effectLst/>
                <a:uLnTx/>
                <a:uFillTx/>
                <a:latin typeface="Calibri"/>
                <a:ea typeface="+mn-ea"/>
                <a:cs typeface="+mn-cs"/>
              </a:rPr>
              <a:t>69%</a:t>
            </a:r>
          </a:p>
          <a:p>
            <a:pPr marL="0" marR="0" lvl="0" indent="0" algn="ctr" defTabSz="457200" rtl="0" eaLnBrk="1" fontAlgn="auto" latinLnBrk="0" hangingPunct="1">
              <a:lnSpc>
                <a:spcPct val="100000"/>
              </a:lnSpc>
              <a:spcBef>
                <a:spcPts val="0"/>
              </a:spcBef>
              <a:spcAft>
                <a:spcPts val="0"/>
              </a:spcAft>
              <a:buClrTx/>
              <a:buSzTx/>
              <a:buFontTx/>
              <a:buNone/>
              <a:tabLst/>
              <a:defRPr sz="800">
                <a:solidFill>
                  <a:srgbClr val="FFFFFF"/>
                </a:solidFill>
                <a:latin typeface="Calibri"/>
              </a:defRPr>
            </a:pPr>
            <a:r>
              <a:rPr kumimoji="0" sz="800" b="0" i="0" u="none" strike="noStrike" kern="1200" cap="none" spc="0" normalizeH="0" baseline="0" noProof="0">
                <a:ln>
                  <a:noFill/>
                </a:ln>
                <a:solidFill>
                  <a:srgbClr val="FFFFFF"/>
                </a:solidFill>
                <a:effectLst/>
                <a:uLnTx/>
                <a:uFillTx/>
                <a:latin typeface="Calibri"/>
                <a:ea typeface="+mn-ea"/>
                <a:cs typeface="+mn-cs"/>
              </a:rPr>
              <a:t>Sentiment: Positive</a:t>
            </a:r>
          </a:p>
        </p:txBody>
      </p:sp>
      <p:pic>
        <p:nvPicPr>
          <p:cNvPr id="10" name="Picture 9" descr="image.png"/>
          <p:cNvPicPr>
            <a:picLocks noChangeAspect="1"/>
          </p:cNvPicPr>
          <p:nvPr/>
        </p:nvPicPr>
        <p:blipFill>
          <a:blip r:embed="rId2"/>
          <a:stretch>
            <a:fillRect/>
          </a:stretch>
        </p:blipFill>
        <p:spPr>
          <a:xfrm>
            <a:off x="274320" y="1965960"/>
            <a:ext cx="5029200" cy="2834640"/>
          </a:xfrm>
          <a:prstGeom prst="rect">
            <a:avLst/>
          </a:prstGeom>
        </p:spPr>
      </p:pic>
      <p:pic>
        <p:nvPicPr>
          <p:cNvPr id="11" name="Picture 10" descr="image.png"/>
          <p:cNvPicPr>
            <a:picLocks noChangeAspect="1"/>
          </p:cNvPicPr>
          <p:nvPr/>
        </p:nvPicPr>
        <p:blipFill>
          <a:blip r:embed="rId3"/>
          <a:stretch>
            <a:fillRect/>
          </a:stretch>
        </p:blipFill>
        <p:spPr>
          <a:xfrm>
            <a:off x="5486400" y="1965960"/>
            <a:ext cx="2560320" cy="2560320"/>
          </a:xfrm>
          <a:prstGeom prst="rect">
            <a:avLst/>
          </a:prstGeom>
        </p:spPr>
      </p:pic>
      <p:pic>
        <p:nvPicPr>
          <p:cNvPr id="12" name="Picture 11" descr="image.png"/>
          <p:cNvPicPr>
            <a:picLocks noChangeAspect="1"/>
          </p:cNvPicPr>
          <p:nvPr/>
        </p:nvPicPr>
        <p:blipFill>
          <a:blip r:embed="rId4"/>
          <a:stretch>
            <a:fillRect/>
          </a:stretch>
        </p:blipFill>
        <p:spPr>
          <a:xfrm>
            <a:off x="8412480" y="1965960"/>
            <a:ext cx="3200400" cy="2286000"/>
          </a:xfrm>
          <a:prstGeom prst="rect">
            <a:avLst/>
          </a:prstGeom>
        </p:spPr>
      </p:pic>
      <p:sp>
        <p:nvSpPr>
          <p:cNvPr id="13" name="TextBox 12"/>
          <p:cNvSpPr txBox="1"/>
          <p:nvPr/>
        </p:nvSpPr>
        <p:spPr>
          <a:xfrm>
            <a:off x="365760" y="4846320"/>
            <a:ext cx="5486400" cy="18288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400"/>
              </a:spcAft>
              <a:buClrTx/>
              <a:buSzTx/>
              <a:buFontTx/>
              <a:buNone/>
              <a:tabLst/>
              <a:defRPr sz="1200" b="1">
                <a:solidFill>
                  <a:srgbClr val="1B3A5C"/>
                </a:solidFill>
                <a:latin typeface="Calibri"/>
              </a:defRPr>
            </a:pPr>
            <a:r>
              <a:rPr kumimoji="0" sz="1200" b="1" i="0" u="none" strike="noStrike" kern="1200" cap="none" spc="0" normalizeH="0" baseline="0" noProof="0" dirty="0">
                <a:ln>
                  <a:noFill/>
                </a:ln>
                <a:solidFill>
                  <a:srgbClr val="1B3A5C"/>
                </a:solidFill>
                <a:effectLst/>
                <a:uLnTx/>
                <a:uFillTx/>
                <a:latin typeface="Calibri"/>
                <a:ea typeface="+mn-ea"/>
                <a:cs typeface="+mn-cs"/>
              </a:rPr>
              <a:t>Top Pain Points</a:t>
            </a:r>
          </a:p>
          <a:p>
            <a:pPr marL="0" marR="0" lvl="0" indent="0" algn="l" defTabSz="457200" rtl="0" eaLnBrk="1" fontAlgn="auto" latinLnBrk="0" hangingPunct="1">
              <a:lnSpc>
                <a:spcPct val="100000"/>
              </a:lnSpc>
              <a:spcBef>
                <a:spcPts val="0"/>
              </a:spcBef>
              <a:spcAft>
                <a:spcPts val="200"/>
              </a:spcAft>
              <a:buClrTx/>
              <a:buSzTx/>
              <a:buFontTx/>
              <a:buNone/>
              <a:tabLst/>
              <a:defRPr sz="850">
                <a:solidFill>
                  <a:srgbClr val="333333"/>
                </a:solidFill>
                <a:latin typeface="Calibri"/>
              </a:defRPr>
            </a:pPr>
            <a:r>
              <a:rPr kumimoji="0" sz="850" b="0" i="0" u="none" strike="noStrike" kern="1200" cap="none" spc="0" normalizeH="0" baseline="0" noProof="0" dirty="0">
                <a:ln>
                  <a:noFill/>
                </a:ln>
                <a:solidFill>
                  <a:srgbClr val="333333"/>
                </a:solidFill>
                <a:effectLst/>
                <a:uLnTx/>
                <a:uFillTx/>
                <a:latin typeface="Calibri"/>
                <a:ea typeface="+mn-ea"/>
                <a:cs typeface="+mn-cs"/>
              </a:rPr>
              <a:t>• No department-level savings attribution — CFOs can't justify ROI</a:t>
            </a:r>
          </a:p>
          <a:p>
            <a:pPr marL="0" marR="0" lvl="0" indent="0" algn="l" defTabSz="457200" rtl="0" eaLnBrk="1" fontAlgn="auto" latinLnBrk="0" hangingPunct="1">
              <a:lnSpc>
                <a:spcPct val="100000"/>
              </a:lnSpc>
              <a:spcBef>
                <a:spcPts val="0"/>
              </a:spcBef>
              <a:spcAft>
                <a:spcPts val="200"/>
              </a:spcAft>
              <a:buClrTx/>
              <a:buSzTx/>
              <a:buFontTx/>
              <a:buNone/>
              <a:tabLst/>
              <a:defRPr sz="850">
                <a:solidFill>
                  <a:srgbClr val="333333"/>
                </a:solidFill>
                <a:latin typeface="Calibri"/>
              </a:defRPr>
            </a:pPr>
            <a:r>
              <a:rPr kumimoji="0" sz="850" b="0" i="0" u="none" strike="noStrike" kern="1200" cap="none" spc="0" normalizeH="0" baseline="0" noProof="0" dirty="0">
                <a:ln>
                  <a:noFill/>
                </a:ln>
                <a:solidFill>
                  <a:srgbClr val="333333"/>
                </a:solidFill>
                <a:effectLst/>
                <a:uLnTx/>
                <a:uFillTx/>
                <a:latin typeface="Calibri"/>
                <a:ea typeface="+mn-ea"/>
                <a:cs typeface="+mn-cs"/>
              </a:rPr>
              <a:t>• Deletion without approval workflow — blocked in regulated industries</a:t>
            </a:r>
          </a:p>
          <a:p>
            <a:pPr marL="0" marR="0" lvl="0" indent="0" algn="l" defTabSz="457200" rtl="0" eaLnBrk="1" fontAlgn="auto" latinLnBrk="0" hangingPunct="1">
              <a:lnSpc>
                <a:spcPct val="100000"/>
              </a:lnSpc>
              <a:spcBef>
                <a:spcPts val="0"/>
              </a:spcBef>
              <a:spcAft>
                <a:spcPts val="200"/>
              </a:spcAft>
              <a:buClrTx/>
              <a:buSzTx/>
              <a:buFontTx/>
              <a:buNone/>
              <a:tabLst/>
              <a:defRPr sz="850">
                <a:solidFill>
                  <a:srgbClr val="333333"/>
                </a:solidFill>
                <a:latin typeface="Calibri"/>
              </a:defRPr>
            </a:pPr>
            <a:r>
              <a:rPr kumimoji="0" sz="850" b="0" i="0" u="none" strike="noStrike" kern="1200" cap="none" spc="0" normalizeH="0" baseline="0" noProof="0" dirty="0">
                <a:ln>
                  <a:noFill/>
                </a:ln>
                <a:solidFill>
                  <a:srgbClr val="333333"/>
                </a:solidFill>
                <a:effectLst/>
                <a:uLnTx/>
                <a:uFillTx/>
                <a:latin typeface="Calibri"/>
                <a:ea typeface="+mn-ea"/>
                <a:cs typeface="+mn-cs"/>
              </a:rPr>
              <a:t>• Alert fatigue — 200+ daily alerts for sub-$1 resources</a:t>
            </a:r>
          </a:p>
          <a:p>
            <a:pPr marL="0" marR="0" lvl="0" indent="0" algn="l" defTabSz="457200" rtl="0" eaLnBrk="1" fontAlgn="auto" latinLnBrk="0" hangingPunct="1">
              <a:lnSpc>
                <a:spcPct val="100000"/>
              </a:lnSpc>
              <a:spcBef>
                <a:spcPts val="0"/>
              </a:spcBef>
              <a:spcAft>
                <a:spcPts val="200"/>
              </a:spcAft>
              <a:buClrTx/>
              <a:buSzTx/>
              <a:buFontTx/>
              <a:buNone/>
              <a:tabLst/>
              <a:defRPr sz="850">
                <a:solidFill>
                  <a:srgbClr val="333333"/>
                </a:solidFill>
                <a:latin typeface="Calibri"/>
              </a:defRPr>
            </a:pPr>
            <a:r>
              <a:rPr kumimoji="0" sz="850" b="0" i="0" u="none" strike="noStrike" kern="1200" cap="none" spc="0" normalizeH="0" baseline="0" noProof="0" dirty="0">
                <a:ln>
                  <a:noFill/>
                </a:ln>
                <a:solidFill>
                  <a:srgbClr val="333333"/>
                </a:solidFill>
                <a:effectLst/>
                <a:uLnTx/>
                <a:uFillTx/>
                <a:latin typeface="Calibri"/>
                <a:ea typeface="+mn-ea"/>
                <a:cs typeface="+mn-cs"/>
              </a:rPr>
              <a:t>• Single-cloud limitation — manual Excel reconciliation workaround</a:t>
            </a:r>
          </a:p>
          <a:p>
            <a:pPr marL="0" marR="0" lvl="0" indent="0" algn="l" defTabSz="457200" rtl="0" eaLnBrk="1" fontAlgn="auto" latinLnBrk="0" hangingPunct="1">
              <a:lnSpc>
                <a:spcPct val="100000"/>
              </a:lnSpc>
              <a:spcBef>
                <a:spcPts val="0"/>
              </a:spcBef>
              <a:spcAft>
                <a:spcPts val="200"/>
              </a:spcAft>
              <a:buClrTx/>
              <a:buSzTx/>
              <a:buFontTx/>
              <a:buNone/>
              <a:tabLst/>
              <a:defRPr sz="850">
                <a:solidFill>
                  <a:srgbClr val="333333"/>
                </a:solidFill>
                <a:latin typeface="Calibri"/>
              </a:defRPr>
            </a:pPr>
            <a:r>
              <a:rPr kumimoji="0" sz="850" b="0" i="0" u="none" strike="noStrike" kern="1200" cap="none" spc="0" normalizeH="0" baseline="0" noProof="0" dirty="0">
                <a:ln>
                  <a:noFill/>
                </a:ln>
                <a:solidFill>
                  <a:srgbClr val="333333"/>
                </a:solidFill>
                <a:effectLst/>
                <a:uLnTx/>
                <a:uFillTx/>
                <a:latin typeface="Calibri"/>
                <a:ea typeface="+mn-ea"/>
                <a:cs typeface="+mn-cs"/>
              </a:rPr>
              <a:t>• No executive reporting without product login</a:t>
            </a:r>
          </a:p>
        </p:txBody>
      </p:sp>
      <p:sp>
        <p:nvSpPr>
          <p:cNvPr id="14" name="TextBox 13"/>
          <p:cNvSpPr txBox="1"/>
          <p:nvPr/>
        </p:nvSpPr>
        <p:spPr>
          <a:xfrm>
            <a:off x="6217920" y="4572000"/>
            <a:ext cx="5486400" cy="201168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400"/>
              </a:spcAft>
              <a:buClrTx/>
              <a:buSzTx/>
              <a:buFontTx/>
              <a:buNone/>
              <a:tabLst/>
              <a:defRPr sz="1200" b="1">
                <a:solidFill>
                  <a:srgbClr val="1B3A5C"/>
                </a:solidFill>
                <a:latin typeface="Calibri"/>
              </a:defRPr>
            </a:pPr>
            <a:r>
              <a:rPr kumimoji="0" sz="1200" b="1" i="0" u="none" strike="noStrike" kern="1200" cap="none" spc="0" normalizeH="0" baseline="0" noProof="0" dirty="0">
                <a:ln>
                  <a:noFill/>
                </a:ln>
                <a:solidFill>
                  <a:srgbClr val="1B3A5C"/>
                </a:solidFill>
                <a:effectLst/>
                <a:uLnTx/>
                <a:uFillTx/>
                <a:latin typeface="Calibri"/>
                <a:ea typeface="+mn-ea"/>
                <a:cs typeface="+mn-cs"/>
              </a:rPr>
              <a:t>Top Feature Requests</a:t>
            </a:r>
          </a:p>
          <a:p>
            <a:pPr marL="0" marR="0" lvl="0" indent="0" algn="l" defTabSz="457200" rtl="0" eaLnBrk="1" fontAlgn="auto" latinLnBrk="0" hangingPunct="1">
              <a:lnSpc>
                <a:spcPct val="100000"/>
              </a:lnSpc>
              <a:spcBef>
                <a:spcPts val="0"/>
              </a:spcBef>
              <a:spcAft>
                <a:spcPts val="200"/>
              </a:spcAft>
              <a:buClrTx/>
              <a:buSzTx/>
              <a:buFontTx/>
              <a:buNone/>
              <a:tabLst/>
              <a:defRPr sz="850">
                <a:solidFill>
                  <a:srgbClr val="333333"/>
                </a:solidFill>
                <a:latin typeface="Calibri"/>
              </a:defRPr>
            </a:pPr>
            <a:r>
              <a:rPr kumimoji="0" sz="850" b="0" i="0" u="none" strike="noStrike" kern="1200" cap="none" spc="0" normalizeH="0" baseline="0" noProof="0" dirty="0">
                <a:ln>
                  <a:noFill/>
                </a:ln>
                <a:solidFill>
                  <a:srgbClr val="333333"/>
                </a:solidFill>
                <a:effectLst/>
                <a:uLnTx/>
                <a:uFillTx/>
                <a:latin typeface="Calibri"/>
                <a:ea typeface="+mn-ea"/>
                <a:cs typeface="+mn-cs"/>
              </a:rPr>
              <a:t>• 🔴  Custom cost-center / dept attribution (22 meetings)</a:t>
            </a:r>
          </a:p>
          <a:p>
            <a:pPr marL="0" marR="0" lvl="0" indent="0" algn="l" defTabSz="457200" rtl="0" eaLnBrk="1" fontAlgn="auto" latinLnBrk="0" hangingPunct="1">
              <a:lnSpc>
                <a:spcPct val="100000"/>
              </a:lnSpc>
              <a:spcBef>
                <a:spcPts val="0"/>
              </a:spcBef>
              <a:spcAft>
                <a:spcPts val="200"/>
              </a:spcAft>
              <a:buClrTx/>
              <a:buSzTx/>
              <a:buFontTx/>
              <a:buNone/>
              <a:tabLst/>
              <a:defRPr sz="850">
                <a:solidFill>
                  <a:srgbClr val="333333"/>
                </a:solidFill>
                <a:latin typeface="Calibri"/>
              </a:defRPr>
            </a:pPr>
            <a:r>
              <a:rPr kumimoji="0" sz="850" b="0" i="0" u="none" strike="noStrike" kern="1200" cap="none" spc="0" normalizeH="0" baseline="0" noProof="0" dirty="0">
                <a:ln>
                  <a:noFill/>
                </a:ln>
                <a:solidFill>
                  <a:srgbClr val="333333"/>
                </a:solidFill>
                <a:effectLst/>
                <a:uLnTx/>
                <a:uFillTx/>
                <a:latin typeface="Calibri"/>
                <a:ea typeface="+mn-ea"/>
                <a:cs typeface="+mn-cs"/>
              </a:rPr>
              <a:t>• 🔴  Approval workflow with impact preview (18 meetings)</a:t>
            </a:r>
          </a:p>
          <a:p>
            <a:pPr marL="0" marR="0" lvl="0" indent="0" algn="l" defTabSz="457200" rtl="0" eaLnBrk="1" fontAlgn="auto" latinLnBrk="0" hangingPunct="1">
              <a:lnSpc>
                <a:spcPct val="100000"/>
              </a:lnSpc>
              <a:spcBef>
                <a:spcPts val="0"/>
              </a:spcBef>
              <a:spcAft>
                <a:spcPts val="200"/>
              </a:spcAft>
              <a:buClrTx/>
              <a:buSzTx/>
              <a:buFontTx/>
              <a:buNone/>
              <a:tabLst/>
              <a:defRPr sz="850">
                <a:solidFill>
                  <a:srgbClr val="333333"/>
                </a:solidFill>
                <a:latin typeface="Calibri"/>
              </a:defRPr>
            </a:pPr>
            <a:r>
              <a:rPr kumimoji="0" sz="850" b="0" i="0" u="none" strike="noStrike" kern="1200" cap="none" spc="0" normalizeH="0" baseline="0" noProof="0" dirty="0">
                <a:ln>
                  <a:noFill/>
                </a:ln>
                <a:solidFill>
                  <a:srgbClr val="333333"/>
                </a:solidFill>
                <a:effectLst/>
                <a:uLnTx/>
                <a:uFillTx/>
                <a:latin typeface="Calibri"/>
                <a:ea typeface="+mn-ea"/>
                <a:cs typeface="+mn-cs"/>
              </a:rPr>
              <a:t>• 🔴  Multi-cloud cost aggregation (14 meetings)</a:t>
            </a:r>
          </a:p>
          <a:p>
            <a:pPr marL="0" marR="0" lvl="0" indent="0" algn="l" defTabSz="457200" rtl="0" eaLnBrk="1" fontAlgn="auto" latinLnBrk="0" hangingPunct="1">
              <a:lnSpc>
                <a:spcPct val="100000"/>
              </a:lnSpc>
              <a:spcBef>
                <a:spcPts val="0"/>
              </a:spcBef>
              <a:spcAft>
                <a:spcPts val="200"/>
              </a:spcAft>
              <a:buClrTx/>
              <a:buSzTx/>
              <a:buFontTx/>
              <a:buNone/>
              <a:tabLst/>
              <a:defRPr sz="850">
                <a:solidFill>
                  <a:srgbClr val="333333"/>
                </a:solidFill>
                <a:latin typeface="Calibri"/>
              </a:defRPr>
            </a:pPr>
            <a:r>
              <a:rPr kumimoji="0" sz="850" b="0" i="0" u="none" strike="noStrike" kern="1200" cap="none" spc="0" normalizeH="0" baseline="0" noProof="0" dirty="0">
                <a:ln>
                  <a:noFill/>
                </a:ln>
                <a:solidFill>
                  <a:srgbClr val="333333"/>
                </a:solidFill>
                <a:effectLst/>
                <a:uLnTx/>
                <a:uFillTx/>
                <a:latin typeface="Calibri"/>
                <a:ea typeface="+mn-ea"/>
                <a:cs typeface="+mn-cs"/>
              </a:rPr>
              <a:t>• 🔴  Automated leadership reports (12 meetings)</a:t>
            </a:r>
          </a:p>
          <a:p>
            <a:pPr marL="0" marR="0" lvl="0" indent="0" algn="l" defTabSz="457200" rtl="0" eaLnBrk="1" fontAlgn="auto" latinLnBrk="0" hangingPunct="1">
              <a:lnSpc>
                <a:spcPct val="100000"/>
              </a:lnSpc>
              <a:spcBef>
                <a:spcPts val="0"/>
              </a:spcBef>
              <a:spcAft>
                <a:spcPts val="200"/>
              </a:spcAft>
              <a:buClrTx/>
              <a:buSzTx/>
              <a:buFontTx/>
              <a:buNone/>
              <a:tabLst/>
              <a:defRPr sz="850">
                <a:solidFill>
                  <a:srgbClr val="333333"/>
                </a:solidFill>
                <a:latin typeface="Calibri"/>
              </a:defRPr>
            </a:pPr>
            <a:r>
              <a:rPr kumimoji="0" sz="850" b="0" i="0" u="none" strike="noStrike" kern="1200" cap="none" spc="0" normalizeH="0" baseline="0" noProof="0" dirty="0">
                <a:ln>
                  <a:noFill/>
                </a:ln>
                <a:solidFill>
                  <a:srgbClr val="333333"/>
                </a:solidFill>
                <a:effectLst/>
                <a:uLnTx/>
                <a:uFillTx/>
                <a:latin typeface="Calibri"/>
                <a:ea typeface="+mn-ea"/>
                <a:cs typeface="+mn-cs"/>
              </a:rPr>
              <a:t>• 🟡  Configurable alert thresholds (10 meetings)</a:t>
            </a:r>
          </a:p>
          <a:p>
            <a:pPr marL="0" marR="0" lvl="0" indent="0" algn="l" defTabSz="457200" rtl="0" eaLnBrk="1" fontAlgn="auto" latinLnBrk="0" hangingPunct="1">
              <a:lnSpc>
                <a:spcPct val="100000"/>
              </a:lnSpc>
              <a:spcBef>
                <a:spcPts val="0"/>
              </a:spcBef>
              <a:spcAft>
                <a:spcPts val="200"/>
              </a:spcAft>
              <a:buClrTx/>
              <a:buSzTx/>
              <a:buFontTx/>
              <a:buNone/>
              <a:tabLst/>
              <a:defRPr sz="850">
                <a:solidFill>
                  <a:srgbClr val="333333"/>
                </a:solidFill>
                <a:latin typeface="Calibri"/>
              </a:defRPr>
            </a:pPr>
            <a:r>
              <a:rPr kumimoji="0" sz="850" b="0" i="0" u="none" strike="noStrike" kern="1200" cap="none" spc="0" normalizeH="0" baseline="0" noProof="0" dirty="0">
                <a:ln>
                  <a:noFill/>
                </a:ln>
                <a:solidFill>
                  <a:srgbClr val="333333"/>
                </a:solidFill>
                <a:effectLst/>
                <a:uLnTx/>
                <a:uFillTx/>
                <a:latin typeface="Calibri"/>
                <a:ea typeface="+mn-ea"/>
                <a:cs typeface="+mn-cs"/>
              </a:rPr>
              <a:t>• 🟡  Application portfolio grouping (8 meetings)</a:t>
            </a:r>
          </a:p>
        </p:txBody>
      </p:sp>
      <p:sp>
        <p:nvSpPr>
          <p:cNvPr id="15" name="Rectangle 14"/>
          <p:cNvSpPr/>
          <p:nvPr/>
        </p:nvSpPr>
        <p:spPr>
          <a:xfrm>
            <a:off x="365760" y="6446520"/>
            <a:ext cx="11430000" cy="3200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l" defTabSz="457200" rtl="0" eaLnBrk="1" fontAlgn="auto" latinLnBrk="0" hangingPunct="1">
              <a:lnSpc>
                <a:spcPct val="100000"/>
              </a:lnSpc>
              <a:spcBef>
                <a:spcPts val="0"/>
              </a:spcBef>
              <a:spcAft>
                <a:spcPts val="0"/>
              </a:spcAft>
              <a:buClrTx/>
              <a:buSzTx/>
              <a:buFontTx/>
              <a:buNone/>
              <a:tabLst/>
              <a:defRPr sz="900" i="1">
                <a:solidFill>
                  <a:srgbClr val="333333"/>
                </a:solidFill>
                <a:latin typeface="Calibri"/>
              </a:defRPr>
            </a:pPr>
            <a:r>
              <a:rPr kumimoji="0" sz="900" b="0" i="1" u="none" strike="noStrike" kern="1200" cap="none" spc="0" normalizeH="0" baseline="0" noProof="0">
                <a:ln>
                  <a:noFill/>
                </a:ln>
                <a:solidFill>
                  <a:srgbClr val="333333"/>
                </a:solidFill>
                <a:effectLst/>
                <a:uLnTx/>
                <a:uFillTx/>
                <a:latin typeface="Calibri"/>
                <a:ea typeface="+mn-ea"/>
                <a:cs typeface="+mn-cs"/>
              </a:rPr>
              <a:t>  💬  "Finally, a tool that thinks like a FinOps engineer, not just a billing dashboard."  — Cloud Architect, Litware Inc</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8229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 name="TextBox 2"/>
          <p:cNvSpPr txBox="1"/>
          <p:nvPr/>
        </p:nvSpPr>
        <p:spPr>
          <a:xfrm>
            <a:off x="457200" y="137160"/>
            <a:ext cx="9144000" cy="36576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200" b="1">
                <a:solidFill>
                  <a:srgbClr val="FFFFFF"/>
                </a:solidFill>
                <a:latin typeface="Calibri"/>
              </a:defRPr>
            </a:pPr>
            <a:r>
              <a:rPr kumimoji="0" sz="2200" b="1" i="0" u="none" strike="noStrike" kern="1200" cap="none" spc="0" normalizeH="0" baseline="0" noProof="0">
                <a:ln>
                  <a:noFill/>
                </a:ln>
                <a:solidFill>
                  <a:srgbClr val="FFFFFF"/>
                </a:solidFill>
                <a:effectLst/>
                <a:uLnTx/>
                <a:uFillTx/>
                <a:latin typeface="Calibri"/>
                <a:ea typeface="+mn-ea"/>
                <a:cs typeface="+mn-cs"/>
              </a:rPr>
              <a:t>Weekly Customer Feedback Report — AI Cost Analyzer</a:t>
            </a:r>
          </a:p>
        </p:txBody>
      </p:sp>
      <p:sp>
        <p:nvSpPr>
          <p:cNvPr id="4" name="TextBox 3"/>
          <p:cNvSpPr txBox="1"/>
          <p:nvPr/>
        </p:nvSpPr>
        <p:spPr>
          <a:xfrm>
            <a:off x="457200" y="502920"/>
            <a:ext cx="5486400" cy="2743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000" b="0">
                <a:solidFill>
                  <a:srgbClr val="BBDDF0"/>
                </a:solidFill>
                <a:latin typeface="Calibri"/>
              </a:defRPr>
            </a:pPr>
            <a:r>
              <a:rPr kumimoji="0" sz="1000" b="0" i="0" u="none" strike="noStrike" kern="1200" cap="none" spc="0" normalizeH="0" baseline="0" noProof="0">
                <a:ln>
                  <a:noFill/>
                </a:ln>
                <a:solidFill>
                  <a:srgbClr val="BBDDF0"/>
                </a:solidFill>
                <a:effectLst/>
                <a:uLnTx/>
                <a:uFillTx/>
                <a:latin typeface="Calibri"/>
                <a:ea typeface="+mn-ea"/>
                <a:cs typeface="+mn-cs"/>
              </a:rPr>
              <a:t>Week of May 19–25, 2026  •  5 Customer Sessions  •  Generated by AI Feedback Skill</a:t>
            </a:r>
          </a:p>
        </p:txBody>
      </p:sp>
      <p:sp>
        <p:nvSpPr>
          <p:cNvPr id="5" name="Rounded Rectangle 4"/>
          <p:cNvSpPr/>
          <p:nvPr/>
        </p:nvSpPr>
        <p:spPr>
          <a:xfrm>
            <a:off x="457200" y="1005840"/>
            <a:ext cx="1828800" cy="777240"/>
          </a:xfrm>
          <a:prstGeom prst="roundRect">
            <a:avLst/>
          </a:prstGeom>
          <a:solidFill>
            <a:srgbClr val="2B7ABB"/>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600"/>
              </a:spcBef>
              <a:spcAft>
                <a:spcPts val="0"/>
              </a:spcAft>
              <a:buClrTx/>
              <a:buSzTx/>
              <a:buFontTx/>
              <a:buNone/>
              <a:tabLst/>
              <a:defRPr sz="2200" b="1">
                <a:solidFill>
                  <a:srgbClr val="FFFFFF"/>
                </a:solidFill>
                <a:latin typeface="Calibri"/>
              </a:defRPr>
            </a:pPr>
            <a:r>
              <a:rPr kumimoji="0" sz="2200" b="1" i="0" u="none" strike="noStrike" kern="1200" cap="none" spc="0" normalizeH="0" baseline="0" noProof="0">
                <a:ln>
                  <a:noFill/>
                </a:ln>
                <a:solidFill>
                  <a:srgbClr val="FFFFFF"/>
                </a:solidFill>
                <a:effectLst/>
                <a:uLnTx/>
                <a:uFillTx/>
                <a:latin typeface="Calibri"/>
                <a:ea typeface="+mn-ea"/>
                <a:cs typeface="+mn-cs"/>
              </a:rPr>
              <a:t>5</a:t>
            </a:r>
          </a:p>
          <a:p>
            <a:pPr marL="0" marR="0" lvl="0" indent="0" algn="ctr" defTabSz="457200" rtl="0" eaLnBrk="1" fontAlgn="auto" latinLnBrk="0" hangingPunct="1">
              <a:lnSpc>
                <a:spcPct val="100000"/>
              </a:lnSpc>
              <a:spcBef>
                <a:spcPts val="0"/>
              </a:spcBef>
              <a:spcAft>
                <a:spcPts val="0"/>
              </a:spcAft>
              <a:buClrTx/>
              <a:buSzTx/>
              <a:buFontTx/>
              <a:buNone/>
              <a:tabLst/>
              <a:defRPr sz="800">
                <a:solidFill>
                  <a:srgbClr val="FFFFFF"/>
                </a:solidFill>
                <a:latin typeface="Calibri"/>
              </a:defRPr>
            </a:pPr>
            <a:r>
              <a:rPr kumimoji="0" sz="800" b="0" i="0" u="none" strike="noStrike" kern="1200" cap="none" spc="0" normalizeH="0" baseline="0" noProof="0">
                <a:ln>
                  <a:noFill/>
                </a:ln>
                <a:solidFill>
                  <a:srgbClr val="FFFFFF"/>
                </a:solidFill>
                <a:effectLst/>
                <a:uLnTx/>
                <a:uFillTx/>
                <a:latin typeface="Calibri"/>
                <a:ea typeface="+mn-ea"/>
                <a:cs typeface="+mn-cs"/>
              </a:rPr>
              <a:t>Customers This Week</a:t>
            </a:r>
          </a:p>
        </p:txBody>
      </p:sp>
      <p:sp>
        <p:nvSpPr>
          <p:cNvPr id="6" name="Rounded Rectangle 5"/>
          <p:cNvSpPr/>
          <p:nvPr/>
        </p:nvSpPr>
        <p:spPr>
          <a:xfrm>
            <a:off x="2743200" y="1005840"/>
            <a:ext cx="1828800" cy="777240"/>
          </a:xfrm>
          <a:prstGeom prst="roundRect">
            <a:avLst/>
          </a:prstGeom>
          <a:solidFill>
            <a:srgbClr val="2EAD6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600"/>
              </a:spcBef>
              <a:spcAft>
                <a:spcPts val="0"/>
              </a:spcAft>
              <a:buClrTx/>
              <a:buSzTx/>
              <a:buFontTx/>
              <a:buNone/>
              <a:tabLst/>
              <a:defRPr sz="2200" b="1">
                <a:solidFill>
                  <a:srgbClr val="FFFFFF"/>
                </a:solidFill>
                <a:latin typeface="Calibri"/>
              </a:defRPr>
            </a:pPr>
            <a:r>
              <a:rPr kumimoji="0" sz="2200" b="1" i="0" u="none" strike="noStrike" kern="1200" cap="none" spc="0" normalizeH="0" baseline="0" noProof="0">
                <a:ln>
                  <a:noFill/>
                </a:ln>
                <a:solidFill>
                  <a:srgbClr val="FFFFFF"/>
                </a:solidFill>
                <a:effectLst/>
                <a:uLnTx/>
                <a:uFillTx/>
                <a:latin typeface="Calibri"/>
                <a:ea typeface="+mn-ea"/>
                <a:cs typeface="+mn-cs"/>
              </a:rPr>
              <a:t>7</a:t>
            </a:r>
          </a:p>
          <a:p>
            <a:pPr marL="0" marR="0" lvl="0" indent="0" algn="ctr" defTabSz="457200" rtl="0" eaLnBrk="1" fontAlgn="auto" latinLnBrk="0" hangingPunct="1">
              <a:lnSpc>
                <a:spcPct val="100000"/>
              </a:lnSpc>
              <a:spcBef>
                <a:spcPts val="0"/>
              </a:spcBef>
              <a:spcAft>
                <a:spcPts val="0"/>
              </a:spcAft>
              <a:buClrTx/>
              <a:buSzTx/>
              <a:buFontTx/>
              <a:buNone/>
              <a:tabLst/>
              <a:defRPr sz="800">
                <a:solidFill>
                  <a:srgbClr val="FFFFFF"/>
                </a:solidFill>
                <a:latin typeface="Calibri"/>
              </a:defRPr>
            </a:pPr>
            <a:r>
              <a:rPr kumimoji="0" sz="800" b="0" i="0" u="none" strike="noStrike" kern="1200" cap="none" spc="0" normalizeH="0" baseline="0" noProof="0">
                <a:ln>
                  <a:noFill/>
                </a:ln>
                <a:solidFill>
                  <a:srgbClr val="FFFFFF"/>
                </a:solidFill>
                <a:effectLst/>
                <a:uLnTx/>
                <a:uFillTx/>
                <a:latin typeface="Calibri"/>
                <a:ea typeface="+mn-ea"/>
                <a:cs typeface="+mn-cs"/>
              </a:rPr>
              <a:t>Feature Requests</a:t>
            </a:r>
          </a:p>
        </p:txBody>
      </p:sp>
      <p:sp>
        <p:nvSpPr>
          <p:cNvPr id="7" name="Rounded Rectangle 6"/>
          <p:cNvSpPr/>
          <p:nvPr/>
        </p:nvSpPr>
        <p:spPr>
          <a:xfrm>
            <a:off x="5029200" y="1005840"/>
            <a:ext cx="1828800" cy="777240"/>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600"/>
              </a:spcBef>
              <a:spcAft>
                <a:spcPts val="0"/>
              </a:spcAft>
              <a:buClrTx/>
              <a:buSzTx/>
              <a:buFontTx/>
              <a:buNone/>
              <a:tabLst/>
              <a:defRPr sz="2200" b="1">
                <a:solidFill>
                  <a:srgbClr val="FFFFFF"/>
                </a:solidFill>
                <a:latin typeface="Calibri"/>
              </a:defRPr>
            </a:pPr>
            <a:r>
              <a:rPr kumimoji="0" sz="2200" b="1" i="0" u="none" strike="noStrike" kern="1200" cap="none" spc="0" normalizeH="0" baseline="0" noProof="0">
                <a:ln>
                  <a:noFill/>
                </a:ln>
                <a:solidFill>
                  <a:srgbClr val="FFFFFF"/>
                </a:solidFill>
                <a:effectLst/>
                <a:uLnTx/>
                <a:uFillTx/>
                <a:latin typeface="Calibri"/>
                <a:ea typeface="+mn-ea"/>
                <a:cs typeface="+mn-cs"/>
              </a:rPr>
              <a:t>3</a:t>
            </a:r>
          </a:p>
          <a:p>
            <a:pPr marL="0" marR="0" lvl="0" indent="0" algn="ctr" defTabSz="457200" rtl="0" eaLnBrk="1" fontAlgn="auto" latinLnBrk="0" hangingPunct="1">
              <a:lnSpc>
                <a:spcPct val="100000"/>
              </a:lnSpc>
              <a:spcBef>
                <a:spcPts val="0"/>
              </a:spcBef>
              <a:spcAft>
                <a:spcPts val="0"/>
              </a:spcAft>
              <a:buClrTx/>
              <a:buSzTx/>
              <a:buFontTx/>
              <a:buNone/>
              <a:tabLst/>
              <a:defRPr sz="800">
                <a:solidFill>
                  <a:srgbClr val="FFFFFF"/>
                </a:solidFill>
                <a:latin typeface="Calibri"/>
              </a:defRPr>
            </a:pPr>
            <a:r>
              <a:rPr kumimoji="0" sz="800" b="0" i="0" u="none" strike="noStrike" kern="1200" cap="none" spc="0" normalizeH="0" baseline="0" noProof="0">
                <a:ln>
                  <a:noFill/>
                </a:ln>
                <a:solidFill>
                  <a:srgbClr val="FFFFFF"/>
                </a:solidFill>
                <a:effectLst/>
                <a:uLnTx/>
                <a:uFillTx/>
                <a:latin typeface="Calibri"/>
                <a:ea typeface="+mn-ea"/>
                <a:cs typeface="+mn-cs"/>
              </a:rPr>
              <a:t>High Priority</a:t>
            </a:r>
          </a:p>
        </p:txBody>
      </p:sp>
      <p:sp>
        <p:nvSpPr>
          <p:cNvPr id="8" name="Rounded Rectangle 7"/>
          <p:cNvSpPr/>
          <p:nvPr/>
        </p:nvSpPr>
        <p:spPr>
          <a:xfrm>
            <a:off x="7315200" y="1005840"/>
            <a:ext cx="1828800" cy="777240"/>
          </a:xfrm>
          <a:prstGeom prst="roundRect">
            <a:avLst/>
          </a:prstGeom>
          <a:solidFill>
            <a:srgbClr val="F0A530"/>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600"/>
              </a:spcBef>
              <a:spcAft>
                <a:spcPts val="0"/>
              </a:spcAft>
              <a:buClrTx/>
              <a:buSzTx/>
              <a:buFontTx/>
              <a:buNone/>
              <a:tabLst/>
              <a:defRPr sz="2200" b="1">
                <a:solidFill>
                  <a:srgbClr val="FFFFFF"/>
                </a:solidFill>
                <a:latin typeface="Calibri"/>
              </a:defRPr>
            </a:pPr>
            <a:r>
              <a:rPr kumimoji="0" sz="2200" b="1" i="0" u="none" strike="noStrike" kern="1200" cap="none" spc="0" normalizeH="0" baseline="0" noProof="0">
                <a:ln>
                  <a:noFill/>
                </a:ln>
                <a:solidFill>
                  <a:srgbClr val="FFFFFF"/>
                </a:solidFill>
                <a:effectLst/>
                <a:uLnTx/>
                <a:uFillTx/>
                <a:latin typeface="Calibri"/>
                <a:ea typeface="+mn-ea"/>
                <a:cs typeface="+mn-cs"/>
              </a:rPr>
              <a:t>6</a:t>
            </a:r>
          </a:p>
          <a:p>
            <a:pPr marL="0" marR="0" lvl="0" indent="0" algn="ctr" defTabSz="457200" rtl="0" eaLnBrk="1" fontAlgn="auto" latinLnBrk="0" hangingPunct="1">
              <a:lnSpc>
                <a:spcPct val="100000"/>
              </a:lnSpc>
              <a:spcBef>
                <a:spcPts val="0"/>
              </a:spcBef>
              <a:spcAft>
                <a:spcPts val="0"/>
              </a:spcAft>
              <a:buClrTx/>
              <a:buSzTx/>
              <a:buFontTx/>
              <a:buNone/>
              <a:tabLst/>
              <a:defRPr sz="800">
                <a:solidFill>
                  <a:srgbClr val="FFFFFF"/>
                </a:solidFill>
                <a:latin typeface="Calibri"/>
              </a:defRPr>
            </a:pPr>
            <a:r>
              <a:rPr kumimoji="0" sz="800" b="0" i="0" u="none" strike="noStrike" kern="1200" cap="none" spc="0" normalizeH="0" baseline="0" noProof="0">
                <a:ln>
                  <a:noFill/>
                </a:ln>
                <a:solidFill>
                  <a:srgbClr val="FFFFFF"/>
                </a:solidFill>
                <a:effectLst/>
                <a:uLnTx/>
                <a:uFillTx/>
                <a:latin typeface="Calibri"/>
                <a:ea typeface="+mn-ea"/>
                <a:cs typeface="+mn-cs"/>
              </a:rPr>
              <a:t>Follow-up Actions</a:t>
            </a:r>
          </a:p>
        </p:txBody>
      </p:sp>
      <p:sp>
        <p:nvSpPr>
          <p:cNvPr id="9" name="Rounded Rectangle 8"/>
          <p:cNvSpPr/>
          <p:nvPr/>
        </p:nvSpPr>
        <p:spPr>
          <a:xfrm>
            <a:off x="9601200" y="1005840"/>
            <a:ext cx="1828800" cy="777240"/>
          </a:xfrm>
          <a:prstGeom prst="roundRect">
            <a:avLst/>
          </a:prstGeom>
          <a:solidFill>
            <a:srgbClr val="2EAD6D"/>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600"/>
              </a:spcBef>
              <a:spcAft>
                <a:spcPts val="0"/>
              </a:spcAft>
              <a:buClrTx/>
              <a:buSzTx/>
              <a:buFontTx/>
              <a:buNone/>
              <a:tabLst/>
              <a:defRPr sz="2200" b="1">
                <a:solidFill>
                  <a:srgbClr val="FFFFFF"/>
                </a:solidFill>
                <a:latin typeface="Calibri"/>
              </a:defRPr>
            </a:pPr>
            <a:r>
              <a:rPr kumimoji="0" sz="2200" b="1" i="0" u="none" strike="noStrike" kern="1200" cap="none" spc="0" normalizeH="0" baseline="0" noProof="0">
                <a:ln>
                  <a:noFill/>
                </a:ln>
                <a:solidFill>
                  <a:srgbClr val="FFFFFF"/>
                </a:solidFill>
                <a:effectLst/>
                <a:uLnTx/>
                <a:uFillTx/>
                <a:latin typeface="Calibri"/>
                <a:ea typeface="+mn-ea"/>
                <a:cs typeface="+mn-cs"/>
              </a:rPr>
              <a:t>Positive</a:t>
            </a:r>
          </a:p>
          <a:p>
            <a:pPr marL="0" marR="0" lvl="0" indent="0" algn="ctr" defTabSz="457200" rtl="0" eaLnBrk="1" fontAlgn="auto" latinLnBrk="0" hangingPunct="1">
              <a:lnSpc>
                <a:spcPct val="100000"/>
              </a:lnSpc>
              <a:spcBef>
                <a:spcPts val="0"/>
              </a:spcBef>
              <a:spcAft>
                <a:spcPts val="0"/>
              </a:spcAft>
              <a:buClrTx/>
              <a:buSzTx/>
              <a:buFontTx/>
              <a:buNone/>
              <a:tabLst/>
              <a:defRPr sz="800">
                <a:solidFill>
                  <a:srgbClr val="FFFFFF"/>
                </a:solidFill>
                <a:latin typeface="Calibri"/>
              </a:defRPr>
            </a:pPr>
            <a:r>
              <a:rPr kumimoji="0" sz="800" b="0" i="0" u="none" strike="noStrike" kern="1200" cap="none" spc="0" normalizeH="0" baseline="0" noProof="0">
                <a:ln>
                  <a:noFill/>
                </a:ln>
                <a:solidFill>
                  <a:srgbClr val="FFFFFF"/>
                </a:solidFill>
                <a:effectLst/>
                <a:uLnTx/>
                <a:uFillTx/>
                <a:latin typeface="Calibri"/>
                <a:ea typeface="+mn-ea"/>
                <a:cs typeface="+mn-cs"/>
              </a:rPr>
              <a:t>Avg. Sentiment</a:t>
            </a:r>
          </a:p>
        </p:txBody>
      </p:sp>
      <p:sp>
        <p:nvSpPr>
          <p:cNvPr id="10" name="TextBox 9"/>
          <p:cNvSpPr txBox="1"/>
          <p:nvPr/>
        </p:nvSpPr>
        <p:spPr>
          <a:xfrm>
            <a:off x="365760" y="1965960"/>
            <a:ext cx="5303520" cy="22860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400"/>
              </a:spcAft>
              <a:buClrTx/>
              <a:buSzTx/>
              <a:buFontTx/>
              <a:buNone/>
              <a:tabLst/>
              <a:defRPr sz="1300" b="1">
                <a:solidFill>
                  <a:srgbClr val="1B3A5C"/>
                </a:solidFill>
                <a:latin typeface="Calibri"/>
              </a:defRPr>
            </a:pPr>
            <a:r>
              <a:rPr kumimoji="0" sz="1300" b="1" i="0" u="none" strike="noStrike" kern="1200" cap="none" spc="0" normalizeH="0" baseline="0" noProof="0" dirty="0">
                <a:ln>
                  <a:noFill/>
                </a:ln>
                <a:solidFill>
                  <a:srgbClr val="1B3A5C"/>
                </a:solidFill>
                <a:effectLst/>
                <a:uLnTx/>
                <a:uFillTx/>
                <a:latin typeface="Calibri"/>
                <a:ea typeface="+mn-ea"/>
                <a:cs typeface="+mn-cs"/>
              </a:rPr>
              <a:t>Key Takeaways</a:t>
            </a:r>
          </a:p>
          <a:p>
            <a:pPr marL="0" marR="0" lvl="0" indent="0" algn="l" defTabSz="457200" rtl="0" eaLnBrk="1" fontAlgn="auto" latinLnBrk="0" hangingPunct="1">
              <a:lnSpc>
                <a:spcPct val="100000"/>
              </a:lnSpc>
              <a:spcBef>
                <a:spcPts val="0"/>
              </a:spcBef>
              <a:spcAft>
                <a:spcPts val="200"/>
              </a:spcAft>
              <a:buClrTx/>
              <a:buSzTx/>
              <a:buFontTx/>
              <a:buNone/>
              <a:tabLst/>
              <a:defRPr sz="900">
                <a:solidFill>
                  <a:srgbClr val="333333"/>
                </a:solidFill>
                <a:latin typeface="Calibri"/>
              </a:defRPr>
            </a:pPr>
            <a:r>
              <a:rPr kumimoji="0" sz="900" b="0" i="0" u="none" strike="noStrike" kern="1200" cap="none" spc="0" normalizeH="0" baseline="0" noProof="0" dirty="0">
                <a:ln>
                  <a:noFill/>
                </a:ln>
                <a:solidFill>
                  <a:srgbClr val="333333"/>
                </a:solidFill>
                <a:effectLst/>
                <a:uLnTx/>
                <a:uFillTx/>
                <a:latin typeface="Calibri"/>
                <a:ea typeface="+mn-ea"/>
                <a:cs typeface="+mn-cs"/>
              </a:rPr>
              <a:t>• Stale resource detection is the #1 value driver — 4/5 customers cited it as most valuable</a:t>
            </a:r>
          </a:p>
          <a:p>
            <a:pPr marL="0" marR="0" lvl="0" indent="0" algn="l" defTabSz="457200" rtl="0" eaLnBrk="1" fontAlgn="auto" latinLnBrk="0" hangingPunct="1">
              <a:lnSpc>
                <a:spcPct val="100000"/>
              </a:lnSpc>
              <a:spcBef>
                <a:spcPts val="0"/>
              </a:spcBef>
              <a:spcAft>
                <a:spcPts val="200"/>
              </a:spcAft>
              <a:buClrTx/>
              <a:buSzTx/>
              <a:buFontTx/>
              <a:buNone/>
              <a:tabLst/>
              <a:defRPr sz="900">
                <a:solidFill>
                  <a:srgbClr val="333333"/>
                </a:solidFill>
                <a:latin typeface="Calibri"/>
              </a:defRPr>
            </a:pPr>
            <a:r>
              <a:rPr kumimoji="0" sz="900" b="0" i="0" u="none" strike="noStrike" kern="1200" cap="none" spc="0" normalizeH="0" baseline="0" noProof="0" dirty="0">
                <a:ln>
                  <a:noFill/>
                </a:ln>
                <a:solidFill>
                  <a:srgbClr val="333333"/>
                </a:solidFill>
                <a:effectLst/>
                <a:uLnTx/>
                <a:uFillTx/>
                <a:latin typeface="Calibri"/>
                <a:ea typeface="+mn-ea"/>
                <a:cs typeface="+mn-cs"/>
              </a:rPr>
              <a:t>• Contoso Financial: $42K/month saved within 3 weeks of onboarding</a:t>
            </a:r>
          </a:p>
          <a:p>
            <a:pPr marL="0" marR="0" lvl="0" indent="0" algn="l" defTabSz="457200" rtl="0" eaLnBrk="1" fontAlgn="auto" latinLnBrk="0" hangingPunct="1">
              <a:lnSpc>
                <a:spcPct val="100000"/>
              </a:lnSpc>
              <a:spcBef>
                <a:spcPts val="0"/>
              </a:spcBef>
              <a:spcAft>
                <a:spcPts val="200"/>
              </a:spcAft>
              <a:buClrTx/>
              <a:buSzTx/>
              <a:buFontTx/>
              <a:buNone/>
              <a:tabLst/>
              <a:defRPr sz="900">
                <a:solidFill>
                  <a:srgbClr val="333333"/>
                </a:solidFill>
                <a:latin typeface="Calibri"/>
              </a:defRPr>
            </a:pPr>
            <a:r>
              <a:rPr kumimoji="0" sz="900" b="0" i="0" u="none" strike="noStrike" kern="1200" cap="none" spc="0" normalizeH="0" baseline="0" noProof="0" dirty="0">
                <a:ln>
                  <a:noFill/>
                </a:ln>
                <a:solidFill>
                  <a:srgbClr val="333333"/>
                </a:solidFill>
                <a:effectLst/>
                <a:uLnTx/>
                <a:uFillTx/>
                <a:latin typeface="Calibri"/>
                <a:ea typeface="+mn-ea"/>
                <a:cs typeface="+mn-cs"/>
              </a:rPr>
              <a:t>• Department-level cost attribution demanded by finance teams</a:t>
            </a:r>
          </a:p>
          <a:p>
            <a:pPr marL="0" marR="0" lvl="0" indent="0" algn="l" defTabSz="457200" rtl="0" eaLnBrk="1" fontAlgn="auto" latinLnBrk="0" hangingPunct="1">
              <a:lnSpc>
                <a:spcPct val="100000"/>
              </a:lnSpc>
              <a:spcBef>
                <a:spcPts val="0"/>
              </a:spcBef>
              <a:spcAft>
                <a:spcPts val="200"/>
              </a:spcAft>
              <a:buClrTx/>
              <a:buSzTx/>
              <a:buFontTx/>
              <a:buNone/>
              <a:tabLst/>
              <a:defRPr sz="900">
                <a:solidFill>
                  <a:srgbClr val="333333"/>
                </a:solidFill>
                <a:latin typeface="Calibri"/>
              </a:defRPr>
            </a:pPr>
            <a:r>
              <a:rPr kumimoji="0" sz="900" b="0" i="0" u="none" strike="noStrike" kern="1200" cap="none" spc="0" normalizeH="0" baseline="0" noProof="0" dirty="0">
                <a:ln>
                  <a:noFill/>
                </a:ln>
                <a:solidFill>
                  <a:srgbClr val="333333"/>
                </a:solidFill>
                <a:effectLst/>
                <a:uLnTx/>
                <a:uFillTx/>
                <a:latin typeface="Calibri"/>
                <a:ea typeface="+mn-ea"/>
                <a:cs typeface="+mn-cs"/>
              </a:rPr>
              <a:t>• Trust in deletion recommendations still low — approval workflows needed</a:t>
            </a:r>
          </a:p>
          <a:p>
            <a:pPr marL="0" marR="0" lvl="0" indent="0" algn="l" defTabSz="457200" rtl="0" eaLnBrk="1" fontAlgn="auto" latinLnBrk="0" hangingPunct="1">
              <a:lnSpc>
                <a:spcPct val="100000"/>
              </a:lnSpc>
              <a:spcBef>
                <a:spcPts val="0"/>
              </a:spcBef>
              <a:spcAft>
                <a:spcPts val="200"/>
              </a:spcAft>
              <a:buClrTx/>
              <a:buSzTx/>
              <a:buFontTx/>
              <a:buNone/>
              <a:tabLst/>
              <a:defRPr sz="900">
                <a:solidFill>
                  <a:srgbClr val="333333"/>
                </a:solidFill>
                <a:latin typeface="Calibri"/>
              </a:defRPr>
            </a:pPr>
            <a:r>
              <a:rPr kumimoji="0" sz="900" b="0" i="0" u="none" strike="noStrike" kern="1200" cap="none" spc="0" normalizeH="0" baseline="0" noProof="0" dirty="0">
                <a:ln>
                  <a:noFill/>
                </a:ln>
                <a:solidFill>
                  <a:srgbClr val="333333"/>
                </a:solidFill>
                <a:effectLst/>
                <a:uLnTx/>
                <a:uFillTx/>
                <a:latin typeface="Calibri"/>
                <a:ea typeface="+mn-ea"/>
                <a:cs typeface="+mn-cs"/>
              </a:rPr>
              <a:t>• Multi-cloud support emerging as critical gap for 60%+ multi-cloud enterprises</a:t>
            </a:r>
          </a:p>
        </p:txBody>
      </p:sp>
      <p:pic>
        <p:nvPicPr>
          <p:cNvPr id="11" name="Picture 10" descr="image.png"/>
          <p:cNvPicPr>
            <a:picLocks noChangeAspect="1"/>
          </p:cNvPicPr>
          <p:nvPr/>
        </p:nvPicPr>
        <p:blipFill>
          <a:blip r:embed="rId2"/>
          <a:stretch>
            <a:fillRect/>
          </a:stretch>
        </p:blipFill>
        <p:spPr>
          <a:xfrm>
            <a:off x="6331906" y="1783080"/>
            <a:ext cx="5402893" cy="2572806"/>
          </a:xfrm>
          <a:prstGeom prst="rect">
            <a:avLst/>
          </a:prstGeom>
        </p:spPr>
      </p:pic>
      <p:sp>
        <p:nvSpPr>
          <p:cNvPr id="12" name="Rectangle 11"/>
          <p:cNvSpPr/>
          <p:nvPr/>
        </p:nvSpPr>
        <p:spPr>
          <a:xfrm>
            <a:off x="365760" y="4389120"/>
            <a:ext cx="11430000" cy="18288"/>
          </a:xfrm>
          <a:prstGeom prst="rect">
            <a:avLst/>
          </a:prstGeom>
          <a:solidFill>
            <a:srgbClr val="5BB5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365760" y="4480560"/>
            <a:ext cx="2743200" cy="2743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300" b="1">
                <a:solidFill>
                  <a:srgbClr val="1B3A5C"/>
                </a:solidFill>
                <a:latin typeface="Calibri"/>
              </a:defRPr>
            </a:pPr>
            <a:r>
              <a:rPr kumimoji="0" sz="1300" b="1" i="0" u="none" strike="noStrike" kern="1200" cap="none" spc="0" normalizeH="0" baseline="0" noProof="0">
                <a:ln>
                  <a:noFill/>
                </a:ln>
                <a:solidFill>
                  <a:srgbClr val="1B3A5C"/>
                </a:solidFill>
                <a:effectLst/>
                <a:uLnTx/>
                <a:uFillTx/>
                <a:latin typeface="Calibri"/>
                <a:ea typeface="+mn-ea"/>
                <a:cs typeface="+mn-cs"/>
              </a:rPr>
              <a:t>Customer Quotes</a:t>
            </a:r>
          </a:p>
        </p:txBody>
      </p:sp>
      <p:sp>
        <p:nvSpPr>
          <p:cNvPr id="14" name="Rounded Rectangle 13"/>
          <p:cNvSpPr/>
          <p:nvPr/>
        </p:nvSpPr>
        <p:spPr>
          <a:xfrm>
            <a:off x="457200" y="4800600"/>
            <a:ext cx="3566160" cy="173736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400"/>
              </a:spcAft>
              <a:buClrTx/>
              <a:buSzTx/>
              <a:buFontTx/>
              <a:buNone/>
              <a:tabLst/>
              <a:defRPr sz="850" i="1">
                <a:solidFill>
                  <a:srgbClr val="333333"/>
                </a:solidFill>
                <a:latin typeface="Calibri"/>
              </a:defRPr>
            </a:pPr>
            <a:r>
              <a:rPr kumimoji="0" sz="850" b="0" i="1" u="none" strike="noStrike" kern="1200" cap="none" spc="0" normalizeH="0" baseline="0" noProof="0">
                <a:ln>
                  <a:noFill/>
                </a:ln>
                <a:solidFill>
                  <a:srgbClr val="333333"/>
                </a:solidFill>
                <a:effectLst/>
                <a:uLnTx/>
                <a:uFillTx/>
                <a:latin typeface="Calibri"/>
                <a:ea typeface="+mn-ea"/>
                <a:cs typeface="+mn-cs"/>
              </a:rPr>
              <a:t>"We burned $1.2M last year on resources nobody was using.</a:t>
            </a:r>
            <a:br>
              <a:rPr kumimoji="0" sz="850" b="0" i="1" u="none" strike="noStrike" kern="1200" cap="none" spc="0" normalizeH="0" baseline="0" noProof="0">
                <a:ln>
                  <a:noFill/>
                </a:ln>
                <a:solidFill>
                  <a:srgbClr val="333333"/>
                </a:solidFill>
                <a:effectLst/>
                <a:uLnTx/>
                <a:uFillTx/>
                <a:latin typeface="Calibri"/>
                <a:ea typeface="+mn-ea"/>
                <a:cs typeface="+mn-cs"/>
              </a:rPr>
            </a:br>
            <a:r>
              <a:rPr kumimoji="0" sz="850" b="0" i="1" u="none" strike="noStrike" kern="1200" cap="none" spc="0" normalizeH="0" baseline="0" noProof="0">
                <a:ln>
                  <a:noFill/>
                </a:ln>
                <a:solidFill>
                  <a:srgbClr val="333333"/>
                </a:solidFill>
                <a:effectLst/>
                <a:uLnTx/>
                <a:uFillTx/>
                <a:latin typeface="Calibri"/>
                <a:ea typeface="+mn-ea"/>
                <a:cs typeface="+mn-cs"/>
              </a:rPr>
              <a:t>If this tool had existed, we'd have caught it in the first month."</a:t>
            </a:r>
          </a:p>
          <a:p>
            <a:pPr marL="0" marR="0" lvl="0" indent="0" algn="l" defTabSz="457200" rtl="0" eaLnBrk="1" fontAlgn="auto" latinLnBrk="0" hangingPunct="1">
              <a:lnSpc>
                <a:spcPct val="100000"/>
              </a:lnSpc>
              <a:spcBef>
                <a:spcPts val="0"/>
              </a:spcBef>
              <a:spcAft>
                <a:spcPts val="0"/>
              </a:spcAft>
              <a:buClrTx/>
              <a:buSzTx/>
              <a:buFontTx/>
              <a:buNone/>
              <a:tabLst/>
              <a:defRPr sz="750" b="1">
                <a:solidFill>
                  <a:srgbClr val="2B7ABB"/>
                </a:solidFill>
                <a:latin typeface="Calibri"/>
              </a:defRPr>
            </a:pPr>
            <a:r>
              <a:rPr kumimoji="0" sz="750" b="1" i="0" u="none" strike="noStrike" kern="1200" cap="none" spc="0" normalizeH="0" baseline="0" noProof="0">
                <a:ln>
                  <a:noFill/>
                </a:ln>
                <a:solidFill>
                  <a:srgbClr val="2B7ABB"/>
                </a:solidFill>
                <a:effectLst/>
                <a:uLnTx/>
                <a:uFillTx/>
                <a:latin typeface="Calibri"/>
                <a:ea typeface="+mn-ea"/>
                <a:cs typeface="+mn-cs"/>
              </a:rPr>
              <a:t>— VP of Cloud Infrastructure, Contoso Financial</a:t>
            </a:r>
          </a:p>
        </p:txBody>
      </p:sp>
      <p:sp>
        <p:nvSpPr>
          <p:cNvPr id="15" name="Rounded Rectangle 14"/>
          <p:cNvSpPr/>
          <p:nvPr/>
        </p:nvSpPr>
        <p:spPr>
          <a:xfrm>
            <a:off x="4297680" y="4800600"/>
            <a:ext cx="3566160" cy="173736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400"/>
              </a:spcAft>
              <a:buClrTx/>
              <a:buSzTx/>
              <a:buFontTx/>
              <a:buNone/>
              <a:tabLst/>
              <a:defRPr sz="850" i="1">
                <a:solidFill>
                  <a:srgbClr val="333333"/>
                </a:solidFill>
                <a:latin typeface="Calibri"/>
              </a:defRPr>
            </a:pPr>
            <a:r>
              <a:rPr kumimoji="0" sz="850" b="0" i="1" u="none" strike="noStrike" kern="1200" cap="none" spc="0" normalizeH="0" baseline="0" noProof="0" dirty="0">
                <a:ln>
                  <a:noFill/>
                </a:ln>
                <a:solidFill>
                  <a:srgbClr val="333333"/>
                </a:solidFill>
                <a:effectLst/>
                <a:uLnTx/>
                <a:uFillTx/>
                <a:latin typeface="Calibri"/>
                <a:ea typeface="+mn-ea"/>
                <a:cs typeface="+mn-cs"/>
              </a:rPr>
              <a:t>"I love the recommendations, but I can't click 'delete'</a:t>
            </a:r>
            <a:br>
              <a:rPr kumimoji="0" sz="850" b="0" i="1" u="none" strike="noStrike" kern="1200" cap="none" spc="0" normalizeH="0" baseline="0" noProof="0" dirty="0">
                <a:ln>
                  <a:noFill/>
                </a:ln>
                <a:solidFill>
                  <a:srgbClr val="333333"/>
                </a:solidFill>
                <a:effectLst/>
                <a:uLnTx/>
                <a:uFillTx/>
                <a:latin typeface="Calibri"/>
                <a:ea typeface="+mn-ea"/>
                <a:cs typeface="+mn-cs"/>
              </a:rPr>
            </a:br>
            <a:r>
              <a:rPr kumimoji="0" sz="850" b="0" i="1" u="none" strike="noStrike" kern="1200" cap="none" spc="0" normalizeH="0" baseline="0" noProof="0" dirty="0">
                <a:ln>
                  <a:noFill/>
                </a:ln>
                <a:solidFill>
                  <a:srgbClr val="333333"/>
                </a:solidFill>
                <a:effectLst/>
                <a:uLnTx/>
                <a:uFillTx/>
                <a:latin typeface="Calibri"/>
                <a:ea typeface="+mn-ea"/>
                <a:cs typeface="+mn-cs"/>
              </a:rPr>
              <a:t>on a production resource without my CAB seeing it first."</a:t>
            </a:r>
          </a:p>
          <a:p>
            <a:pPr marL="0" marR="0" lvl="0" indent="0" algn="l" defTabSz="457200" rtl="0" eaLnBrk="1" fontAlgn="auto" latinLnBrk="0" hangingPunct="1">
              <a:lnSpc>
                <a:spcPct val="100000"/>
              </a:lnSpc>
              <a:spcBef>
                <a:spcPts val="0"/>
              </a:spcBef>
              <a:spcAft>
                <a:spcPts val="0"/>
              </a:spcAft>
              <a:buClrTx/>
              <a:buSzTx/>
              <a:buFontTx/>
              <a:buNone/>
              <a:tabLst/>
              <a:defRPr sz="750" b="1">
                <a:solidFill>
                  <a:srgbClr val="2B7ABB"/>
                </a:solidFill>
                <a:latin typeface="Calibri"/>
              </a:defRPr>
            </a:pPr>
            <a:r>
              <a:rPr kumimoji="0" sz="750" b="1" i="0" u="none" strike="noStrike" kern="1200" cap="none" spc="0" normalizeH="0" baseline="0" noProof="0" dirty="0">
                <a:ln>
                  <a:noFill/>
                </a:ln>
                <a:solidFill>
                  <a:srgbClr val="2B7ABB"/>
                </a:solidFill>
                <a:effectLst/>
                <a:uLnTx/>
                <a:uFillTx/>
                <a:latin typeface="Calibri"/>
                <a:ea typeface="+mn-ea"/>
                <a:cs typeface="+mn-cs"/>
              </a:rPr>
              <a:t>— Sr. Cloud Engineer, </a:t>
            </a:r>
            <a:r>
              <a:rPr kumimoji="0" sz="750" b="1" i="0" u="none" strike="noStrike" kern="1200" cap="none" spc="0" normalizeH="0" baseline="0" noProof="0" dirty="0" err="1">
                <a:ln>
                  <a:noFill/>
                </a:ln>
                <a:solidFill>
                  <a:srgbClr val="2B7ABB"/>
                </a:solidFill>
                <a:effectLst/>
                <a:uLnTx/>
                <a:uFillTx/>
                <a:latin typeface="Calibri"/>
                <a:ea typeface="+mn-ea"/>
                <a:cs typeface="+mn-cs"/>
              </a:rPr>
              <a:t>Fabrikam</a:t>
            </a:r>
            <a:r>
              <a:rPr kumimoji="0" sz="750" b="1" i="0" u="none" strike="noStrike" kern="1200" cap="none" spc="0" normalizeH="0" baseline="0" noProof="0" dirty="0">
                <a:ln>
                  <a:noFill/>
                </a:ln>
                <a:solidFill>
                  <a:srgbClr val="2B7ABB"/>
                </a:solidFill>
                <a:effectLst/>
                <a:uLnTx/>
                <a:uFillTx/>
                <a:latin typeface="Calibri"/>
                <a:ea typeface="+mn-ea"/>
                <a:cs typeface="+mn-cs"/>
              </a:rPr>
              <a:t> Healthcare</a:t>
            </a:r>
          </a:p>
        </p:txBody>
      </p:sp>
      <p:sp>
        <p:nvSpPr>
          <p:cNvPr id="16" name="Rounded Rectangle 15"/>
          <p:cNvSpPr/>
          <p:nvPr/>
        </p:nvSpPr>
        <p:spPr>
          <a:xfrm>
            <a:off x="8138160" y="4800600"/>
            <a:ext cx="3566160" cy="1737360"/>
          </a:xfrm>
          <a:prstGeom prst="round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400"/>
              </a:spcAft>
              <a:buClrTx/>
              <a:buSzTx/>
              <a:buFontTx/>
              <a:buNone/>
              <a:tabLst/>
              <a:defRPr sz="850" i="1">
                <a:solidFill>
                  <a:srgbClr val="333333"/>
                </a:solidFill>
                <a:latin typeface="Calibri"/>
              </a:defRPr>
            </a:pPr>
            <a:r>
              <a:rPr kumimoji="0" sz="850" b="0" i="1" u="none" strike="noStrike" kern="1200" cap="none" spc="0" normalizeH="0" baseline="0" noProof="0" dirty="0">
                <a:ln>
                  <a:noFill/>
                </a:ln>
                <a:solidFill>
                  <a:srgbClr val="333333"/>
                </a:solidFill>
                <a:effectLst/>
                <a:uLnTx/>
                <a:uFillTx/>
                <a:latin typeface="Calibri"/>
                <a:ea typeface="+mn-ea"/>
                <a:cs typeface="+mn-cs"/>
              </a:rPr>
              <a:t>"The stale app detection alone justified the cost.</a:t>
            </a:r>
            <a:br>
              <a:rPr kumimoji="0" sz="850" b="0" i="1" u="none" strike="noStrike" kern="1200" cap="none" spc="0" normalizeH="0" baseline="0" noProof="0" dirty="0">
                <a:ln>
                  <a:noFill/>
                </a:ln>
                <a:solidFill>
                  <a:srgbClr val="333333"/>
                </a:solidFill>
                <a:effectLst/>
                <a:uLnTx/>
                <a:uFillTx/>
                <a:latin typeface="Calibri"/>
                <a:ea typeface="+mn-ea"/>
                <a:cs typeface="+mn-cs"/>
              </a:rPr>
            </a:br>
            <a:r>
              <a:rPr kumimoji="0" sz="850" b="0" i="1" u="none" strike="noStrike" kern="1200" cap="none" spc="0" normalizeH="0" baseline="0" noProof="0" dirty="0">
                <a:ln>
                  <a:noFill/>
                </a:ln>
                <a:solidFill>
                  <a:srgbClr val="333333"/>
                </a:solidFill>
                <a:effectLst/>
                <a:uLnTx/>
                <a:uFillTx/>
                <a:latin typeface="Calibri"/>
                <a:ea typeface="+mn-ea"/>
                <a:cs typeface="+mn-cs"/>
              </a:rPr>
              <a:t>We found 340 app registrations unused for over a year."</a:t>
            </a:r>
          </a:p>
          <a:p>
            <a:pPr marL="0" marR="0" lvl="0" indent="0" algn="l" defTabSz="457200" rtl="0" eaLnBrk="1" fontAlgn="auto" latinLnBrk="0" hangingPunct="1">
              <a:lnSpc>
                <a:spcPct val="100000"/>
              </a:lnSpc>
              <a:spcBef>
                <a:spcPts val="0"/>
              </a:spcBef>
              <a:spcAft>
                <a:spcPts val="0"/>
              </a:spcAft>
              <a:buClrTx/>
              <a:buSzTx/>
              <a:buFontTx/>
              <a:buNone/>
              <a:tabLst/>
              <a:defRPr sz="750" b="1">
                <a:solidFill>
                  <a:srgbClr val="2B7ABB"/>
                </a:solidFill>
                <a:latin typeface="Calibri"/>
              </a:defRPr>
            </a:pPr>
            <a:r>
              <a:rPr kumimoji="0" sz="750" b="1" i="0" u="none" strike="noStrike" kern="1200" cap="none" spc="0" normalizeH="0" baseline="0" noProof="0" dirty="0">
                <a:ln>
                  <a:noFill/>
                </a:ln>
                <a:solidFill>
                  <a:srgbClr val="2B7ABB"/>
                </a:solidFill>
                <a:effectLst/>
                <a:uLnTx/>
                <a:uFillTx/>
                <a:latin typeface="Calibri"/>
                <a:ea typeface="+mn-ea"/>
                <a:cs typeface="+mn-cs"/>
              </a:rPr>
              <a:t>— Identity Team Lead, Woodgrove Bank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94EACFE-529F-23DC-0BBE-BF489A2709D3}"/>
              </a:ext>
            </a:extLst>
          </p:cNvPr>
          <p:cNvPicPr>
            <a:picLocks noChangeAspect="1"/>
          </p:cNvPicPr>
          <p:nvPr/>
        </p:nvPicPr>
        <p:blipFill>
          <a:blip r:embed="rId2"/>
          <a:srcRect t="-1816" r="5563"/>
          <a:stretch>
            <a:fillRect/>
          </a:stretch>
        </p:blipFill>
        <p:spPr>
          <a:xfrm>
            <a:off x="0" y="-110490"/>
            <a:ext cx="12306997" cy="6968490"/>
          </a:xfrm>
          <a:prstGeom prst="rect">
            <a:avLst/>
          </a:prstGeom>
        </p:spPr>
      </p:pic>
    </p:spTree>
    <p:extLst>
      <p:ext uri="{BB962C8B-B14F-4D97-AF65-F5344CB8AC3E}">
        <p14:creationId xmlns:p14="http://schemas.microsoft.com/office/powerpoint/2010/main" val="39545833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B1B2F"/>
        </a:solidFill>
        <a:effectLst/>
      </p:bgPr>
    </p:bg>
    <p:spTree>
      <p:nvGrpSpPr>
        <p:cNvPr id="1" name="">
          <a:extLst>
            <a:ext uri="{FF2B5EF4-FFF2-40B4-BE49-F238E27FC236}">
              <a16:creationId xmlns:a16="http://schemas.microsoft.com/office/drawing/2014/main" id="{070867E1-C426-D01A-6773-0D63DC351D4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8CB1665-FF7A-E03D-0171-3C09C27364CE}"/>
              </a:ext>
            </a:extLst>
          </p:cNvPr>
          <p:cNvSpPr txBox="1"/>
          <p:nvPr/>
        </p:nvSpPr>
        <p:spPr>
          <a:xfrm>
            <a:off x="731520" y="274320"/>
            <a:ext cx="10728655" cy="49244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600" b="1">
                <a:solidFill>
                  <a:srgbClr val="FFFFFF"/>
                </a:solidFill>
                <a:latin typeface="Segoe UI"/>
              </a:defRPr>
            </a:pPr>
            <a:r>
              <a:rPr kumimoji="0" lang="en-US" sz="2600" b="1" i="0" u="none" strike="noStrike" kern="1200" cap="none" spc="0" normalizeH="0" baseline="0" noProof="0" dirty="0" err="1">
                <a:ln>
                  <a:noFill/>
                </a:ln>
                <a:solidFill>
                  <a:srgbClr val="FFFFFF"/>
                </a:solidFill>
                <a:effectLst/>
                <a:uLnTx/>
                <a:uFillTx/>
                <a:latin typeface="Segoe UI"/>
                <a:ea typeface="+mn-ea"/>
                <a:cs typeface="+mn-cs"/>
              </a:rPr>
              <a:t>Github</a:t>
            </a:r>
            <a:r>
              <a:rPr kumimoji="0" lang="en-US" sz="2600" b="1" i="0" u="none" strike="noStrike" kern="1200" cap="none" spc="0" normalizeH="0" baseline="0" noProof="0" dirty="0">
                <a:ln>
                  <a:noFill/>
                </a:ln>
                <a:solidFill>
                  <a:srgbClr val="FFFFFF"/>
                </a:solidFill>
                <a:effectLst/>
                <a:uLnTx/>
                <a:uFillTx/>
                <a:latin typeface="Segoe UI"/>
                <a:ea typeface="+mn-ea"/>
                <a:cs typeface="+mn-cs"/>
              </a:rPr>
              <a:t>: Customer Feedback Analyzer</a:t>
            </a:r>
            <a:endParaRPr kumimoji="0" sz="2600" b="1" i="0" u="none" strike="noStrike" kern="1200" cap="none" spc="0" normalizeH="0" baseline="0" noProof="0" dirty="0">
              <a:ln>
                <a:noFill/>
              </a:ln>
              <a:solidFill>
                <a:srgbClr val="FFFFFF"/>
              </a:solidFill>
              <a:effectLst/>
              <a:uLnTx/>
              <a:uFillTx/>
              <a:latin typeface="Segoe UI"/>
              <a:ea typeface="+mn-ea"/>
              <a:cs typeface="+mn-cs"/>
            </a:endParaRPr>
          </a:p>
        </p:txBody>
      </p:sp>
      <p:sp>
        <p:nvSpPr>
          <p:cNvPr id="17" name="TextBox 16">
            <a:extLst>
              <a:ext uri="{FF2B5EF4-FFF2-40B4-BE49-F238E27FC236}">
                <a16:creationId xmlns:a16="http://schemas.microsoft.com/office/drawing/2014/main" id="{4D9BBACA-99F3-F9AE-8C15-3832091A6B23}"/>
              </a:ext>
            </a:extLst>
          </p:cNvPr>
          <p:cNvSpPr txBox="1"/>
          <p:nvPr/>
        </p:nvSpPr>
        <p:spPr>
          <a:xfrm rot="10800000" flipH="1" flipV="1">
            <a:off x="7850114" y="2114982"/>
            <a:ext cx="3722251" cy="461665"/>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Calibri"/>
                <a:ea typeface="+mn-ea"/>
                <a:cs typeface="+mn-cs"/>
              </a:rPr>
              <a:t>Aka.ms/</a:t>
            </a:r>
            <a:r>
              <a:rPr kumimoji="0" lang="en-US" sz="2400" b="0" i="0" u="none" strike="noStrike" kern="1200" cap="none" spc="0" normalizeH="0" baseline="0" noProof="0" dirty="0" err="1">
                <a:ln>
                  <a:noFill/>
                </a:ln>
                <a:solidFill>
                  <a:prstClr val="white"/>
                </a:solidFill>
                <a:effectLst/>
                <a:uLnTx/>
                <a:uFillTx/>
                <a:latin typeface="Calibri"/>
                <a:ea typeface="+mn-ea"/>
                <a:cs typeface="+mn-cs"/>
              </a:rPr>
              <a:t>feedbackanalyzer</a:t>
            </a:r>
            <a:endParaRPr kumimoji="0" lang="en-US" sz="2400" b="0" i="0" u="none" strike="noStrike" kern="1200" cap="none" spc="0" normalizeH="0" baseline="0" noProof="0" dirty="0">
              <a:ln>
                <a:noFill/>
              </a:ln>
              <a:solidFill>
                <a:prstClr val="white"/>
              </a:solidFill>
              <a:effectLst/>
              <a:uLnTx/>
              <a:uFillTx/>
              <a:latin typeface="Calibri"/>
              <a:ea typeface="+mn-ea"/>
              <a:cs typeface="+mn-cs"/>
            </a:endParaRPr>
          </a:p>
        </p:txBody>
      </p:sp>
      <p:pic>
        <p:nvPicPr>
          <p:cNvPr id="8" name="Picture 7">
            <a:extLst>
              <a:ext uri="{FF2B5EF4-FFF2-40B4-BE49-F238E27FC236}">
                <a16:creationId xmlns:a16="http://schemas.microsoft.com/office/drawing/2014/main" id="{0A54E654-8E04-F5D2-1C7A-7791BB9E931C}"/>
              </a:ext>
            </a:extLst>
          </p:cNvPr>
          <p:cNvPicPr>
            <a:picLocks noChangeAspect="1"/>
          </p:cNvPicPr>
          <p:nvPr/>
        </p:nvPicPr>
        <p:blipFill>
          <a:blip r:embed="rId2"/>
          <a:stretch>
            <a:fillRect/>
          </a:stretch>
        </p:blipFill>
        <p:spPr>
          <a:xfrm>
            <a:off x="396375" y="1084445"/>
            <a:ext cx="7388840" cy="5499235"/>
          </a:xfrm>
          <a:prstGeom prst="rect">
            <a:avLst/>
          </a:prstGeom>
        </p:spPr>
      </p:pic>
    </p:spTree>
    <p:extLst>
      <p:ext uri="{BB962C8B-B14F-4D97-AF65-F5344CB8AC3E}">
        <p14:creationId xmlns:p14="http://schemas.microsoft.com/office/powerpoint/2010/main" val="37735429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TextBox 1"/>
          <p:cNvSpPr txBox="1"/>
          <p:nvPr/>
        </p:nvSpPr>
        <p:spPr>
          <a:xfrm>
            <a:off x="457200" y="228600"/>
            <a:ext cx="11247120" cy="54864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000" b="1">
                <a:solidFill>
                  <a:srgbClr val="E6EDF3"/>
                </a:solidFill>
                <a:latin typeface="Segoe UI"/>
              </a:defRPr>
            </a:pPr>
            <a:r>
              <a:rPr kumimoji="0" sz="3000" b="1" i="0" u="none" strike="noStrike" kern="1200" cap="none" spc="0" normalizeH="0" baseline="0" noProof="0">
                <a:ln>
                  <a:noFill/>
                </a:ln>
                <a:solidFill>
                  <a:srgbClr val="E6EDF3"/>
                </a:solidFill>
                <a:effectLst/>
                <a:uLnTx/>
                <a:uFillTx/>
                <a:latin typeface="Segoe UI"/>
                <a:ea typeface="+mn-ea"/>
                <a:cs typeface="+mn-cs"/>
              </a:rPr>
              <a:t>The Framework I Give to the Agent</a:t>
            </a:r>
          </a:p>
        </p:txBody>
      </p:sp>
      <p:sp>
        <p:nvSpPr>
          <p:cNvPr id="3" name="TextBox 2"/>
          <p:cNvSpPr txBox="1"/>
          <p:nvPr/>
        </p:nvSpPr>
        <p:spPr>
          <a:xfrm>
            <a:off x="1371600" y="777240"/>
            <a:ext cx="9418320" cy="323165"/>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500" b="0">
                <a:solidFill>
                  <a:srgbClr val="8B949E"/>
                </a:solidFill>
                <a:latin typeface="Segoe UI"/>
              </a:defRPr>
            </a:pPr>
            <a:r>
              <a:rPr kumimoji="0" sz="1500" b="0" i="0" u="none" strike="noStrike" kern="1200" cap="none" spc="0" normalizeH="0" baseline="0" noProof="0" dirty="0">
                <a:ln>
                  <a:noFill/>
                </a:ln>
                <a:solidFill>
                  <a:srgbClr val="8B949E"/>
                </a:solidFill>
                <a:effectLst/>
                <a:uLnTx/>
                <a:uFillTx/>
                <a:latin typeface="Segoe UI"/>
                <a:ea typeface="+mn-ea"/>
                <a:cs typeface="+mn-cs"/>
              </a:rPr>
              <a:t>"Here's how I want you to analyze customer feedback every time."</a:t>
            </a:r>
          </a:p>
        </p:txBody>
      </p:sp>
      <p:sp>
        <p:nvSpPr>
          <p:cNvPr id="4" name="Rounded Rectangle 3"/>
          <p:cNvSpPr/>
          <p:nvPr/>
        </p:nvSpPr>
        <p:spPr>
          <a:xfrm>
            <a:off x="678027" y="1417320"/>
            <a:ext cx="2468880" cy="2468880"/>
          </a:xfrm>
          <a:prstGeom prst="roundRect">
            <a:avLst>
              <a:gd name="adj" fmla="val 8000"/>
            </a:avLst>
          </a:prstGeom>
          <a:solidFill>
            <a:srgbClr val="161B22"/>
          </a:solidFill>
          <a:ln w="19050">
            <a:solidFill>
              <a:srgbClr val="58A6FF"/>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Rectangle 4"/>
          <p:cNvSpPr/>
          <p:nvPr/>
        </p:nvSpPr>
        <p:spPr>
          <a:xfrm>
            <a:off x="751179" y="1490472"/>
            <a:ext cx="2322576" cy="54864"/>
          </a:xfrm>
          <a:prstGeom prst="rect">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 name="TextBox 5"/>
          <p:cNvSpPr txBox="1"/>
          <p:nvPr/>
        </p:nvSpPr>
        <p:spPr>
          <a:xfrm>
            <a:off x="678027" y="1645920"/>
            <a:ext cx="2468880" cy="4572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0">
                <a:solidFill>
                  <a:srgbClr val="E6EDF3"/>
                </a:solidFill>
                <a:latin typeface="Segoe UI"/>
              </a:defRPr>
            </a:pPr>
            <a:r>
              <a:rPr kumimoji="0" sz="2800" b="0" i="0" u="none" strike="noStrike" kern="1200" cap="none" spc="0" normalizeH="0" baseline="0" noProof="0">
                <a:ln>
                  <a:noFill/>
                </a:ln>
                <a:solidFill>
                  <a:srgbClr val="E6EDF3"/>
                </a:solidFill>
                <a:effectLst/>
                <a:uLnTx/>
                <a:uFillTx/>
                <a:latin typeface="Segoe UI"/>
                <a:ea typeface="+mn-ea"/>
                <a:cs typeface="+mn-cs"/>
              </a:rPr>
              <a:t>🏢</a:t>
            </a:r>
          </a:p>
        </p:txBody>
      </p:sp>
      <p:sp>
        <p:nvSpPr>
          <p:cNvPr id="7" name="TextBox 6"/>
          <p:cNvSpPr txBox="1"/>
          <p:nvPr/>
        </p:nvSpPr>
        <p:spPr>
          <a:xfrm>
            <a:off x="815187" y="2194560"/>
            <a:ext cx="2194560" cy="6400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300" b="1">
                <a:solidFill>
                  <a:srgbClr val="58A6FF"/>
                </a:solidFill>
                <a:latin typeface="Segoe UI"/>
              </a:defRPr>
            </a:pPr>
            <a:r>
              <a:rPr kumimoji="0" sz="1300" b="1" i="0" u="none" strike="noStrike" kern="1200" cap="none" spc="0" normalizeH="0" baseline="0" noProof="0">
                <a:ln>
                  <a:noFill/>
                </a:ln>
                <a:solidFill>
                  <a:srgbClr val="58A6FF"/>
                </a:solidFill>
                <a:effectLst/>
                <a:uLnTx/>
                <a:uFillTx/>
                <a:latin typeface="Segoe UI"/>
                <a:ea typeface="+mn-ea"/>
                <a:cs typeface="+mn-cs"/>
              </a:rPr>
              <a:t>Strategic Customer</a:t>
            </a:r>
            <a:br>
              <a:rPr kumimoji="0" sz="1300" b="1" i="0" u="none" strike="noStrike" kern="1200" cap="none" spc="0" normalizeH="0" baseline="0" noProof="0">
                <a:ln>
                  <a:noFill/>
                </a:ln>
                <a:solidFill>
                  <a:srgbClr val="58A6FF"/>
                </a:solidFill>
                <a:effectLst/>
                <a:uLnTx/>
                <a:uFillTx/>
                <a:latin typeface="Segoe UI"/>
                <a:ea typeface="+mn-ea"/>
                <a:cs typeface="+mn-cs"/>
              </a:rPr>
            </a:br>
            <a:r>
              <a:rPr kumimoji="0" sz="1300" b="1" i="0" u="none" strike="noStrike" kern="1200" cap="none" spc="0" normalizeH="0" baseline="0" noProof="0">
                <a:ln>
                  <a:noFill/>
                </a:ln>
                <a:solidFill>
                  <a:srgbClr val="58A6FF"/>
                </a:solidFill>
                <a:effectLst/>
                <a:uLnTx/>
                <a:uFillTx/>
                <a:latin typeface="Segoe UI"/>
                <a:ea typeface="+mn-ea"/>
                <a:cs typeface="+mn-cs"/>
              </a:rPr>
              <a:t>Feedback</a:t>
            </a:r>
          </a:p>
        </p:txBody>
      </p:sp>
      <p:sp>
        <p:nvSpPr>
          <p:cNvPr id="8" name="TextBox 7"/>
          <p:cNvSpPr txBox="1"/>
          <p:nvPr/>
        </p:nvSpPr>
        <p:spPr>
          <a:xfrm>
            <a:off x="815187" y="2834640"/>
            <a:ext cx="2194560"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100" b="0">
                <a:solidFill>
                  <a:srgbClr val="8B949E"/>
                </a:solidFill>
                <a:latin typeface="Segoe UI"/>
              </a:defRPr>
            </a:pPr>
            <a:r>
              <a:rPr kumimoji="0" sz="1100" b="0" i="0" u="none" strike="noStrike" kern="1200" cap="none" spc="0" normalizeH="0" baseline="0" noProof="0">
                <a:ln>
                  <a:noFill/>
                </a:ln>
                <a:solidFill>
                  <a:srgbClr val="8B949E"/>
                </a:solidFill>
                <a:effectLst/>
                <a:uLnTx/>
                <a:uFillTx/>
                <a:latin typeface="Segoe UI"/>
                <a:ea typeface="+mn-ea"/>
                <a:cs typeface="+mn-cs"/>
              </a:rPr>
              <a:t>Top 10 design partners.</a:t>
            </a:r>
            <a:br>
              <a:rPr kumimoji="0" sz="1100" b="0" i="0" u="none" strike="noStrike" kern="1200" cap="none" spc="0" normalizeH="0" baseline="0" noProof="0">
                <a:ln>
                  <a:noFill/>
                </a:ln>
                <a:solidFill>
                  <a:srgbClr val="8B949E"/>
                </a:solidFill>
                <a:effectLst/>
                <a:uLnTx/>
                <a:uFillTx/>
                <a:latin typeface="Segoe UI"/>
                <a:ea typeface="+mn-ea"/>
                <a:cs typeface="+mn-cs"/>
              </a:rPr>
            </a:br>
            <a:r>
              <a:rPr kumimoji="0" sz="1100" b="0" i="0" u="none" strike="noStrike" kern="1200" cap="none" spc="0" normalizeH="0" baseline="0" noProof="0">
                <a:ln>
                  <a:noFill/>
                </a:ln>
                <a:solidFill>
                  <a:srgbClr val="8B949E"/>
                </a:solidFill>
                <a:effectLst/>
                <a:uLnTx/>
                <a:uFillTx/>
                <a:latin typeface="Segoe UI"/>
                <a:ea typeface="+mn-ea"/>
                <a:cs typeface="+mn-cs"/>
              </a:rPr>
              <a:t>Their signals carry</a:t>
            </a:r>
            <a:br>
              <a:rPr kumimoji="0" sz="1100" b="0" i="0" u="none" strike="noStrike" kern="1200" cap="none" spc="0" normalizeH="0" baseline="0" noProof="0">
                <a:ln>
                  <a:noFill/>
                </a:ln>
                <a:solidFill>
                  <a:srgbClr val="8B949E"/>
                </a:solidFill>
                <a:effectLst/>
                <a:uLnTx/>
                <a:uFillTx/>
                <a:latin typeface="Segoe UI"/>
                <a:ea typeface="+mn-ea"/>
                <a:cs typeface="+mn-cs"/>
              </a:rPr>
            </a:br>
            <a:r>
              <a:rPr kumimoji="0" sz="1100" b="0" i="0" u="none" strike="noStrike" kern="1200" cap="none" spc="0" normalizeH="0" baseline="0" noProof="0">
                <a:ln>
                  <a:noFill/>
                </a:ln>
                <a:solidFill>
                  <a:srgbClr val="8B949E"/>
                </a:solidFill>
                <a:effectLst/>
                <a:uLnTx/>
                <a:uFillTx/>
                <a:latin typeface="Segoe UI"/>
                <a:ea typeface="+mn-ea"/>
                <a:cs typeface="+mn-cs"/>
              </a:rPr>
              <a:t>extra weight.</a:t>
            </a:r>
          </a:p>
        </p:txBody>
      </p:sp>
      <p:sp>
        <p:nvSpPr>
          <p:cNvPr id="9" name="Rounded Rectangle 8"/>
          <p:cNvSpPr/>
          <p:nvPr/>
        </p:nvSpPr>
        <p:spPr>
          <a:xfrm>
            <a:off x="3466947" y="1417320"/>
            <a:ext cx="2468880" cy="2468880"/>
          </a:xfrm>
          <a:prstGeom prst="roundRect">
            <a:avLst>
              <a:gd name="adj" fmla="val 8000"/>
            </a:avLst>
          </a:prstGeom>
          <a:solidFill>
            <a:srgbClr val="161B22"/>
          </a:solidFill>
          <a:ln w="19050">
            <a:solidFill>
              <a:srgbClr val="3FB95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0" name="Rectangle 9"/>
          <p:cNvSpPr/>
          <p:nvPr/>
        </p:nvSpPr>
        <p:spPr>
          <a:xfrm>
            <a:off x="3540099" y="1490472"/>
            <a:ext cx="2322576" cy="54864"/>
          </a:xfrm>
          <a:prstGeom prst="rect">
            <a:avLst/>
          </a:prstGeom>
          <a:solidFill>
            <a:srgbClr val="3FB9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3466947" y="1645920"/>
            <a:ext cx="2468880" cy="4572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0">
                <a:solidFill>
                  <a:srgbClr val="E6EDF3"/>
                </a:solidFill>
                <a:latin typeface="Segoe UI"/>
              </a:defRPr>
            </a:pPr>
            <a:r>
              <a:rPr kumimoji="0" sz="2800" b="0" i="0" u="none" strike="noStrike" kern="1200" cap="none" spc="0" normalizeH="0" baseline="0" noProof="0">
                <a:ln>
                  <a:noFill/>
                </a:ln>
                <a:solidFill>
                  <a:srgbClr val="E6EDF3"/>
                </a:solidFill>
                <a:effectLst/>
                <a:uLnTx/>
                <a:uFillTx/>
                <a:latin typeface="Segoe UI"/>
                <a:ea typeface="+mn-ea"/>
                <a:cs typeface="+mn-cs"/>
              </a:rPr>
              <a:t>📈</a:t>
            </a:r>
          </a:p>
        </p:txBody>
      </p:sp>
      <p:sp>
        <p:nvSpPr>
          <p:cNvPr id="12" name="TextBox 11"/>
          <p:cNvSpPr txBox="1"/>
          <p:nvPr/>
        </p:nvSpPr>
        <p:spPr>
          <a:xfrm>
            <a:off x="3604107" y="2194560"/>
            <a:ext cx="2194560" cy="6400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300" b="1">
                <a:solidFill>
                  <a:srgbClr val="3FB950"/>
                </a:solidFill>
                <a:latin typeface="Segoe UI"/>
              </a:defRPr>
            </a:pPr>
            <a:r>
              <a:rPr kumimoji="0" sz="1300" b="1" i="0" u="none" strike="noStrike" kern="1200" cap="none" spc="0" normalizeH="0" baseline="0" noProof="0">
                <a:ln>
                  <a:noFill/>
                </a:ln>
                <a:solidFill>
                  <a:srgbClr val="3FB950"/>
                </a:solidFill>
                <a:effectLst/>
                <a:uLnTx/>
                <a:uFillTx/>
                <a:latin typeface="Segoe UI"/>
                <a:ea typeface="+mn-ea"/>
                <a:cs typeface="+mn-cs"/>
              </a:rPr>
              <a:t>Top Trends</a:t>
            </a:r>
            <a:br>
              <a:rPr kumimoji="0" sz="1300" b="1" i="0" u="none" strike="noStrike" kern="1200" cap="none" spc="0" normalizeH="0" baseline="0" noProof="0">
                <a:ln>
                  <a:noFill/>
                </a:ln>
                <a:solidFill>
                  <a:srgbClr val="3FB950"/>
                </a:solidFill>
                <a:effectLst/>
                <a:uLnTx/>
                <a:uFillTx/>
                <a:latin typeface="Segoe UI"/>
                <a:ea typeface="+mn-ea"/>
                <a:cs typeface="+mn-cs"/>
              </a:rPr>
            </a:br>
            <a:r>
              <a:rPr kumimoji="0" sz="1300" b="1" i="0" u="none" strike="noStrike" kern="1200" cap="none" spc="0" normalizeH="0" baseline="0" noProof="0">
                <a:ln>
                  <a:noFill/>
                </a:ln>
                <a:solidFill>
                  <a:srgbClr val="3FB950"/>
                </a:solidFill>
                <a:effectLst/>
                <a:uLnTx/>
                <a:uFillTx/>
                <a:latin typeface="Segoe UI"/>
                <a:ea typeface="+mn-ea"/>
                <a:cs typeface="+mn-cs"/>
              </a:rPr>
              <a:t>Across All Customers</a:t>
            </a:r>
          </a:p>
        </p:txBody>
      </p:sp>
      <p:sp>
        <p:nvSpPr>
          <p:cNvPr id="13" name="TextBox 12"/>
          <p:cNvSpPr txBox="1"/>
          <p:nvPr/>
        </p:nvSpPr>
        <p:spPr>
          <a:xfrm>
            <a:off x="3604107" y="2834640"/>
            <a:ext cx="2194560"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100" b="0">
                <a:solidFill>
                  <a:srgbClr val="8B949E"/>
                </a:solidFill>
                <a:latin typeface="Segoe UI"/>
              </a:defRPr>
            </a:pPr>
            <a:r>
              <a:rPr kumimoji="0" sz="1100" b="0" i="0" u="none" strike="noStrike" kern="1200" cap="none" spc="0" normalizeH="0" baseline="0" noProof="0">
                <a:ln>
                  <a:noFill/>
                </a:ln>
                <a:solidFill>
                  <a:srgbClr val="8B949E"/>
                </a:solidFill>
                <a:effectLst/>
                <a:uLnTx/>
                <a:uFillTx/>
                <a:latin typeface="Segoe UI"/>
                <a:ea typeface="+mn-ea"/>
                <a:cs typeface="+mn-cs"/>
              </a:rPr>
              <a:t>Recurring themes</a:t>
            </a:r>
            <a:br>
              <a:rPr kumimoji="0" sz="1100" b="0" i="0" u="none" strike="noStrike" kern="1200" cap="none" spc="0" normalizeH="0" baseline="0" noProof="0">
                <a:ln>
                  <a:noFill/>
                </a:ln>
                <a:solidFill>
                  <a:srgbClr val="8B949E"/>
                </a:solidFill>
                <a:effectLst/>
                <a:uLnTx/>
                <a:uFillTx/>
                <a:latin typeface="Segoe UI"/>
                <a:ea typeface="+mn-ea"/>
                <a:cs typeface="+mn-cs"/>
              </a:rPr>
            </a:br>
            <a:r>
              <a:rPr kumimoji="0" sz="1100" b="0" i="0" u="none" strike="noStrike" kern="1200" cap="none" spc="0" normalizeH="0" baseline="0" noProof="0">
                <a:ln>
                  <a:noFill/>
                </a:ln>
                <a:solidFill>
                  <a:srgbClr val="8B949E"/>
                </a:solidFill>
                <a:effectLst/>
                <a:uLnTx/>
                <a:uFillTx/>
                <a:latin typeface="Segoe UI"/>
                <a:ea typeface="+mn-ea"/>
                <a:cs typeface="+mn-cs"/>
              </a:rPr>
              <a:t>and patterns from</a:t>
            </a:r>
            <a:br>
              <a:rPr kumimoji="0" sz="1100" b="0" i="0" u="none" strike="noStrike" kern="1200" cap="none" spc="0" normalizeH="0" baseline="0" noProof="0">
                <a:ln>
                  <a:noFill/>
                </a:ln>
                <a:solidFill>
                  <a:srgbClr val="8B949E"/>
                </a:solidFill>
                <a:effectLst/>
                <a:uLnTx/>
                <a:uFillTx/>
                <a:latin typeface="Segoe UI"/>
                <a:ea typeface="+mn-ea"/>
                <a:cs typeface="+mn-cs"/>
              </a:rPr>
            </a:br>
            <a:r>
              <a:rPr kumimoji="0" sz="1100" b="0" i="0" u="none" strike="noStrike" kern="1200" cap="none" spc="0" normalizeH="0" baseline="0" noProof="0">
                <a:ln>
                  <a:noFill/>
                </a:ln>
                <a:solidFill>
                  <a:srgbClr val="8B949E"/>
                </a:solidFill>
                <a:effectLst/>
                <a:uLnTx/>
                <a:uFillTx/>
                <a:latin typeface="Segoe UI"/>
                <a:ea typeface="+mn-ea"/>
                <a:cs typeface="+mn-cs"/>
              </a:rPr>
              <a:t>the full population.</a:t>
            </a:r>
          </a:p>
        </p:txBody>
      </p:sp>
      <p:sp>
        <p:nvSpPr>
          <p:cNvPr id="14" name="Rounded Rectangle 13"/>
          <p:cNvSpPr/>
          <p:nvPr/>
        </p:nvSpPr>
        <p:spPr>
          <a:xfrm>
            <a:off x="6255867" y="1417320"/>
            <a:ext cx="2468880" cy="2468880"/>
          </a:xfrm>
          <a:prstGeom prst="roundRect">
            <a:avLst>
              <a:gd name="adj" fmla="val 8000"/>
            </a:avLst>
          </a:prstGeom>
          <a:solidFill>
            <a:srgbClr val="161B22"/>
          </a:solidFill>
          <a:ln w="1905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5" name="Rectangle 14"/>
          <p:cNvSpPr/>
          <p:nvPr/>
        </p:nvSpPr>
        <p:spPr>
          <a:xfrm>
            <a:off x="6329019" y="1490472"/>
            <a:ext cx="2322576" cy="54864"/>
          </a:xfrm>
          <a:prstGeom prst="rect">
            <a:avLst/>
          </a:prstGeom>
          <a:solidFill>
            <a:srgbClr val="D299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6" name="TextBox 15"/>
          <p:cNvSpPr txBox="1"/>
          <p:nvPr/>
        </p:nvSpPr>
        <p:spPr>
          <a:xfrm>
            <a:off x="6255867" y="1645920"/>
            <a:ext cx="2468880" cy="4572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0">
                <a:solidFill>
                  <a:srgbClr val="E6EDF3"/>
                </a:solidFill>
                <a:latin typeface="Segoe UI"/>
              </a:defRPr>
            </a:pPr>
            <a:r>
              <a:rPr kumimoji="0" sz="2800" b="0" i="0" u="none" strike="noStrike" kern="1200" cap="none" spc="0" normalizeH="0" baseline="0" noProof="0">
                <a:ln>
                  <a:noFill/>
                </a:ln>
                <a:solidFill>
                  <a:srgbClr val="E6EDF3"/>
                </a:solidFill>
                <a:effectLst/>
                <a:uLnTx/>
                <a:uFillTx/>
                <a:latin typeface="Segoe UI"/>
                <a:ea typeface="+mn-ea"/>
                <a:cs typeface="+mn-cs"/>
              </a:rPr>
              <a:t>⭐</a:t>
            </a:r>
          </a:p>
        </p:txBody>
      </p:sp>
      <p:sp>
        <p:nvSpPr>
          <p:cNvPr id="17" name="TextBox 16"/>
          <p:cNvSpPr txBox="1"/>
          <p:nvPr/>
        </p:nvSpPr>
        <p:spPr>
          <a:xfrm>
            <a:off x="6393027" y="2194560"/>
            <a:ext cx="2194560" cy="6400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300" b="1">
                <a:solidFill>
                  <a:srgbClr val="D29922"/>
                </a:solidFill>
                <a:latin typeface="Segoe UI"/>
              </a:defRPr>
            </a:pPr>
            <a:r>
              <a:rPr kumimoji="0" sz="1300" b="1" i="0" u="none" strike="noStrike" kern="1200" cap="none" spc="0" normalizeH="0" baseline="0" noProof="0">
                <a:ln>
                  <a:noFill/>
                </a:ln>
                <a:solidFill>
                  <a:srgbClr val="D29922"/>
                </a:solidFill>
                <a:effectLst/>
                <a:uLnTx/>
                <a:uFillTx/>
                <a:latin typeface="Segoe UI"/>
                <a:ea typeface="+mn-ea"/>
                <a:cs typeface="+mn-cs"/>
              </a:rPr>
              <a:t>Hero Scenarios</a:t>
            </a:r>
          </a:p>
        </p:txBody>
      </p:sp>
      <p:sp>
        <p:nvSpPr>
          <p:cNvPr id="18" name="TextBox 17"/>
          <p:cNvSpPr txBox="1"/>
          <p:nvPr/>
        </p:nvSpPr>
        <p:spPr>
          <a:xfrm>
            <a:off x="6393027" y="2834640"/>
            <a:ext cx="2194560" cy="600164"/>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100" b="0">
                <a:solidFill>
                  <a:srgbClr val="8B949E"/>
                </a:solidFill>
                <a:latin typeface="Segoe UI"/>
              </a:defRPr>
            </a:pPr>
            <a:r>
              <a:rPr kumimoji="0" sz="1100" b="0" i="0" u="none" strike="noStrike" kern="1200" cap="none" spc="0" normalizeH="0" baseline="0" noProof="0" dirty="0">
                <a:ln>
                  <a:noFill/>
                </a:ln>
                <a:solidFill>
                  <a:srgbClr val="8B949E"/>
                </a:solidFill>
                <a:effectLst/>
                <a:uLnTx/>
                <a:uFillTx/>
                <a:latin typeface="Segoe UI"/>
                <a:ea typeface="+mn-ea"/>
                <a:cs typeface="+mn-cs"/>
              </a:rPr>
              <a:t>The </a:t>
            </a:r>
            <a:r>
              <a:rPr kumimoji="0" lang="en-US" sz="1100" b="0" i="0" u="none" strike="noStrike" kern="1200" cap="none" spc="0" normalizeH="0" baseline="0" noProof="0" dirty="0">
                <a:ln>
                  <a:noFill/>
                </a:ln>
                <a:solidFill>
                  <a:srgbClr val="8B949E"/>
                </a:solidFill>
                <a:effectLst/>
                <a:uLnTx/>
                <a:uFillTx/>
                <a:latin typeface="Segoe UI"/>
                <a:ea typeface="+mn-ea"/>
                <a:cs typeface="+mn-cs"/>
              </a:rPr>
              <a:t>1-2</a:t>
            </a:r>
            <a:r>
              <a:rPr kumimoji="0" sz="1100" b="0" i="0" u="none" strike="noStrike" kern="1200" cap="none" spc="0" normalizeH="0" baseline="0" noProof="0" dirty="0">
                <a:ln>
                  <a:noFill/>
                </a:ln>
                <a:solidFill>
                  <a:srgbClr val="8B949E"/>
                </a:solidFill>
                <a:effectLst/>
                <a:uLnTx/>
                <a:uFillTx/>
                <a:latin typeface="Segoe UI"/>
                <a:ea typeface="+mn-ea"/>
                <a:cs typeface="+mn-cs"/>
              </a:rPr>
              <a:t> flagship</a:t>
            </a:r>
            <a:br>
              <a:rPr kumimoji="0" sz="1100" b="0" i="0" u="none" strike="noStrike" kern="1200" cap="none" spc="0" normalizeH="0" baseline="0" noProof="0" dirty="0">
                <a:ln>
                  <a:noFill/>
                </a:ln>
                <a:solidFill>
                  <a:srgbClr val="8B949E"/>
                </a:solidFill>
                <a:effectLst/>
                <a:uLnTx/>
                <a:uFillTx/>
                <a:latin typeface="Segoe UI"/>
                <a:ea typeface="+mn-ea"/>
                <a:cs typeface="+mn-cs"/>
              </a:rPr>
            </a:br>
            <a:r>
              <a:rPr kumimoji="0" lang="en-US" sz="1100" b="0" i="0" u="none" strike="noStrike" kern="1200" cap="none" spc="0" normalizeH="0" baseline="0" noProof="0" dirty="0">
                <a:ln>
                  <a:noFill/>
                </a:ln>
                <a:solidFill>
                  <a:srgbClr val="8B949E"/>
                </a:solidFill>
                <a:effectLst/>
                <a:uLnTx/>
                <a:uFillTx/>
                <a:latin typeface="Segoe UI"/>
                <a:ea typeface="+mn-ea"/>
                <a:cs typeface="+mn-cs"/>
              </a:rPr>
              <a:t>features</a:t>
            </a:r>
            <a:r>
              <a:rPr kumimoji="0" sz="1100" b="0" i="0" u="none" strike="noStrike" kern="1200" cap="none" spc="0" normalizeH="0" baseline="0" noProof="0" dirty="0">
                <a:ln>
                  <a:noFill/>
                </a:ln>
                <a:solidFill>
                  <a:srgbClr val="8B949E"/>
                </a:solidFill>
                <a:effectLst/>
                <a:uLnTx/>
                <a:uFillTx/>
                <a:latin typeface="Segoe UI"/>
                <a:ea typeface="+mn-ea"/>
                <a:cs typeface="+mn-cs"/>
              </a:rPr>
              <a:t> that define</a:t>
            </a:r>
            <a:br>
              <a:rPr kumimoji="0" sz="1100" b="0" i="0" u="none" strike="noStrike" kern="1200" cap="none" spc="0" normalizeH="0" baseline="0" noProof="0" dirty="0">
                <a:ln>
                  <a:noFill/>
                </a:ln>
                <a:solidFill>
                  <a:srgbClr val="8B949E"/>
                </a:solidFill>
                <a:effectLst/>
                <a:uLnTx/>
                <a:uFillTx/>
                <a:latin typeface="Segoe UI"/>
                <a:ea typeface="+mn-ea"/>
                <a:cs typeface="+mn-cs"/>
              </a:rPr>
            </a:br>
            <a:r>
              <a:rPr kumimoji="0" sz="1100" b="0" i="0" u="none" strike="noStrike" kern="1200" cap="none" spc="0" normalizeH="0" baseline="0" noProof="0" dirty="0">
                <a:ln>
                  <a:noFill/>
                </a:ln>
                <a:solidFill>
                  <a:srgbClr val="8B949E"/>
                </a:solidFill>
                <a:effectLst/>
                <a:uLnTx/>
                <a:uFillTx/>
                <a:latin typeface="Segoe UI"/>
                <a:ea typeface="+mn-ea"/>
                <a:cs typeface="+mn-cs"/>
              </a:rPr>
              <a:t>product success.</a:t>
            </a:r>
          </a:p>
        </p:txBody>
      </p:sp>
      <p:sp>
        <p:nvSpPr>
          <p:cNvPr id="19" name="Rounded Rectangle 18"/>
          <p:cNvSpPr/>
          <p:nvPr/>
        </p:nvSpPr>
        <p:spPr>
          <a:xfrm>
            <a:off x="9044787" y="1417320"/>
            <a:ext cx="2468880" cy="2468880"/>
          </a:xfrm>
          <a:prstGeom prst="roundRect">
            <a:avLst>
              <a:gd name="adj" fmla="val 8000"/>
            </a:avLst>
          </a:prstGeom>
          <a:solidFill>
            <a:srgbClr val="161B22"/>
          </a:solidFill>
          <a:ln w="19050">
            <a:solidFill>
              <a:srgbClr val="BC8CFF"/>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0" name="Rectangle 19"/>
          <p:cNvSpPr/>
          <p:nvPr/>
        </p:nvSpPr>
        <p:spPr>
          <a:xfrm>
            <a:off x="9117939" y="1490472"/>
            <a:ext cx="2322576" cy="54864"/>
          </a:xfrm>
          <a:prstGeom prst="rect">
            <a:avLst/>
          </a:prstGeom>
          <a:solidFill>
            <a:srgbClr val="BC8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1" name="TextBox 20"/>
          <p:cNvSpPr txBox="1"/>
          <p:nvPr/>
        </p:nvSpPr>
        <p:spPr>
          <a:xfrm>
            <a:off x="9044787" y="1645920"/>
            <a:ext cx="2468880" cy="4572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0">
                <a:solidFill>
                  <a:srgbClr val="E6EDF3"/>
                </a:solidFill>
                <a:latin typeface="Segoe UI"/>
              </a:defRPr>
            </a:pPr>
            <a:r>
              <a:rPr kumimoji="0" sz="2800" b="0" i="0" u="none" strike="noStrike" kern="1200" cap="none" spc="0" normalizeH="0" baseline="0" noProof="0">
                <a:ln>
                  <a:noFill/>
                </a:ln>
                <a:solidFill>
                  <a:srgbClr val="E6EDF3"/>
                </a:solidFill>
                <a:effectLst/>
                <a:uLnTx/>
                <a:uFillTx/>
                <a:latin typeface="Segoe UI"/>
                <a:ea typeface="+mn-ea"/>
                <a:cs typeface="+mn-cs"/>
              </a:rPr>
              <a:t>💡</a:t>
            </a:r>
          </a:p>
        </p:txBody>
      </p:sp>
      <p:sp>
        <p:nvSpPr>
          <p:cNvPr id="22" name="TextBox 21"/>
          <p:cNvSpPr txBox="1"/>
          <p:nvPr/>
        </p:nvSpPr>
        <p:spPr>
          <a:xfrm>
            <a:off x="9181947" y="2194560"/>
            <a:ext cx="2194560" cy="6400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300" b="1">
                <a:solidFill>
                  <a:srgbClr val="BC8CFF"/>
                </a:solidFill>
                <a:latin typeface="Segoe UI"/>
              </a:defRPr>
            </a:pPr>
            <a:r>
              <a:rPr kumimoji="0" sz="1300" b="1" i="0" u="none" strike="noStrike" kern="1200" cap="none" spc="0" normalizeH="0" baseline="0" noProof="0">
                <a:ln>
                  <a:noFill/>
                </a:ln>
                <a:solidFill>
                  <a:srgbClr val="BC8CFF"/>
                </a:solidFill>
                <a:effectLst/>
                <a:uLnTx/>
                <a:uFillTx/>
                <a:latin typeface="Segoe UI"/>
                <a:ea typeface="+mn-ea"/>
                <a:cs typeface="+mn-cs"/>
              </a:rPr>
              <a:t>Top Feature</a:t>
            </a:r>
            <a:br>
              <a:rPr kumimoji="0" sz="1300" b="1" i="0" u="none" strike="noStrike" kern="1200" cap="none" spc="0" normalizeH="0" baseline="0" noProof="0">
                <a:ln>
                  <a:noFill/>
                </a:ln>
                <a:solidFill>
                  <a:srgbClr val="BC8CFF"/>
                </a:solidFill>
                <a:effectLst/>
                <a:uLnTx/>
                <a:uFillTx/>
                <a:latin typeface="Segoe UI"/>
                <a:ea typeface="+mn-ea"/>
                <a:cs typeface="+mn-cs"/>
              </a:rPr>
            </a:br>
            <a:r>
              <a:rPr kumimoji="0" sz="1300" b="1" i="0" u="none" strike="noStrike" kern="1200" cap="none" spc="0" normalizeH="0" baseline="0" noProof="0">
                <a:ln>
                  <a:noFill/>
                </a:ln>
                <a:solidFill>
                  <a:srgbClr val="BC8CFF"/>
                </a:solidFill>
                <a:effectLst/>
                <a:uLnTx/>
                <a:uFillTx/>
                <a:latin typeface="Segoe UI"/>
                <a:ea typeface="+mn-ea"/>
                <a:cs typeface="+mn-cs"/>
              </a:rPr>
              <a:t>Requests</a:t>
            </a:r>
          </a:p>
        </p:txBody>
      </p:sp>
      <p:sp>
        <p:nvSpPr>
          <p:cNvPr id="23" name="TextBox 22"/>
          <p:cNvSpPr txBox="1"/>
          <p:nvPr/>
        </p:nvSpPr>
        <p:spPr>
          <a:xfrm>
            <a:off x="9181947" y="2834640"/>
            <a:ext cx="2194560"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100" b="0">
                <a:solidFill>
                  <a:srgbClr val="8B949E"/>
                </a:solidFill>
                <a:latin typeface="Segoe UI"/>
              </a:defRPr>
            </a:pPr>
            <a:r>
              <a:rPr kumimoji="0" sz="1100" b="0" i="0" u="none" strike="noStrike" kern="1200" cap="none" spc="0" normalizeH="0" baseline="0" noProof="0">
                <a:ln>
                  <a:noFill/>
                </a:ln>
                <a:solidFill>
                  <a:srgbClr val="8B949E"/>
                </a:solidFill>
                <a:effectLst/>
                <a:uLnTx/>
                <a:uFillTx/>
                <a:latin typeface="Segoe UI"/>
                <a:ea typeface="+mn-ea"/>
                <a:cs typeface="+mn-cs"/>
              </a:rPr>
              <a:t>Ranked by demand.</a:t>
            </a:r>
            <a:br>
              <a:rPr kumimoji="0" sz="1100" b="0" i="0" u="none" strike="noStrike" kern="1200" cap="none" spc="0" normalizeH="0" baseline="0" noProof="0">
                <a:ln>
                  <a:noFill/>
                </a:ln>
                <a:solidFill>
                  <a:srgbClr val="8B949E"/>
                </a:solidFill>
                <a:effectLst/>
                <a:uLnTx/>
                <a:uFillTx/>
                <a:latin typeface="Segoe UI"/>
                <a:ea typeface="+mn-ea"/>
                <a:cs typeface="+mn-cs"/>
              </a:rPr>
            </a:br>
            <a:r>
              <a:rPr kumimoji="0" sz="1100" b="0" i="0" u="none" strike="noStrike" kern="1200" cap="none" spc="0" normalizeH="0" baseline="0" noProof="0">
                <a:ln>
                  <a:noFill/>
                </a:ln>
                <a:solidFill>
                  <a:srgbClr val="8B949E"/>
                </a:solidFill>
                <a:effectLst/>
                <a:uLnTx/>
                <a:uFillTx/>
                <a:latin typeface="Segoe UI"/>
                <a:ea typeface="+mn-ea"/>
                <a:cs typeface="+mn-cs"/>
              </a:rPr>
              <a:t>How many customers</a:t>
            </a:r>
            <a:br>
              <a:rPr kumimoji="0" sz="1100" b="0" i="0" u="none" strike="noStrike" kern="1200" cap="none" spc="0" normalizeH="0" baseline="0" noProof="0">
                <a:ln>
                  <a:noFill/>
                </a:ln>
                <a:solidFill>
                  <a:srgbClr val="8B949E"/>
                </a:solidFill>
                <a:effectLst/>
                <a:uLnTx/>
                <a:uFillTx/>
                <a:latin typeface="Segoe UI"/>
                <a:ea typeface="+mn-ea"/>
                <a:cs typeface="+mn-cs"/>
              </a:rPr>
            </a:br>
            <a:r>
              <a:rPr kumimoji="0" sz="1100" b="0" i="0" u="none" strike="noStrike" kern="1200" cap="none" spc="0" normalizeH="0" baseline="0" noProof="0">
                <a:ln>
                  <a:noFill/>
                </a:ln>
                <a:solidFill>
                  <a:srgbClr val="8B949E"/>
                </a:solidFill>
                <a:effectLst/>
                <a:uLnTx/>
                <a:uFillTx/>
                <a:latin typeface="Segoe UI"/>
                <a:ea typeface="+mn-ea"/>
                <a:cs typeface="+mn-cs"/>
              </a:rPr>
              <a:t>asked, and how often.</a:t>
            </a:r>
          </a:p>
        </p:txBody>
      </p:sp>
      <p:sp>
        <p:nvSpPr>
          <p:cNvPr id="24" name="Rounded Rectangle 23"/>
          <p:cNvSpPr/>
          <p:nvPr/>
        </p:nvSpPr>
        <p:spPr>
          <a:xfrm>
            <a:off x="2072487" y="4160520"/>
            <a:ext cx="2468880" cy="2468880"/>
          </a:xfrm>
          <a:prstGeom prst="roundRect">
            <a:avLst>
              <a:gd name="adj" fmla="val 8000"/>
            </a:avLst>
          </a:prstGeom>
          <a:solidFill>
            <a:srgbClr val="161B22"/>
          </a:solidFill>
          <a:ln w="19050">
            <a:solidFill>
              <a:srgbClr val="F8514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5" name="Rectangle 24"/>
          <p:cNvSpPr/>
          <p:nvPr/>
        </p:nvSpPr>
        <p:spPr>
          <a:xfrm>
            <a:off x="2145639" y="4233672"/>
            <a:ext cx="2322576" cy="54864"/>
          </a:xfrm>
          <a:prstGeom prst="rect">
            <a:avLst/>
          </a:prstGeom>
          <a:solidFill>
            <a:srgbClr val="F851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6" name="TextBox 25"/>
          <p:cNvSpPr txBox="1"/>
          <p:nvPr/>
        </p:nvSpPr>
        <p:spPr>
          <a:xfrm>
            <a:off x="2072487" y="4389120"/>
            <a:ext cx="2468880" cy="4572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0">
                <a:solidFill>
                  <a:srgbClr val="E6EDF3"/>
                </a:solidFill>
                <a:latin typeface="Segoe UI"/>
              </a:defRPr>
            </a:pPr>
            <a:r>
              <a:rPr kumimoji="0" sz="2800" b="0" i="0" u="none" strike="noStrike" kern="1200" cap="none" spc="0" normalizeH="0" baseline="0" noProof="0">
                <a:ln>
                  <a:noFill/>
                </a:ln>
                <a:solidFill>
                  <a:srgbClr val="E6EDF3"/>
                </a:solidFill>
                <a:effectLst/>
                <a:uLnTx/>
                <a:uFillTx/>
                <a:latin typeface="Segoe UI"/>
                <a:ea typeface="+mn-ea"/>
                <a:cs typeface="+mn-cs"/>
              </a:rPr>
              <a:t>🐛</a:t>
            </a:r>
          </a:p>
        </p:txBody>
      </p:sp>
      <p:sp>
        <p:nvSpPr>
          <p:cNvPr id="27" name="TextBox 26"/>
          <p:cNvSpPr txBox="1"/>
          <p:nvPr/>
        </p:nvSpPr>
        <p:spPr>
          <a:xfrm>
            <a:off x="2209647" y="4937759"/>
            <a:ext cx="2194560" cy="6400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300" b="1">
                <a:solidFill>
                  <a:srgbClr val="F85149"/>
                </a:solidFill>
                <a:latin typeface="Segoe UI"/>
              </a:defRPr>
            </a:pPr>
            <a:r>
              <a:rPr kumimoji="0" sz="1300" b="1" i="0" u="none" strike="noStrike" kern="1200" cap="none" spc="0" normalizeH="0" baseline="0" noProof="0">
                <a:ln>
                  <a:noFill/>
                </a:ln>
                <a:solidFill>
                  <a:srgbClr val="F85149"/>
                </a:solidFill>
                <a:effectLst/>
                <a:uLnTx/>
                <a:uFillTx/>
                <a:latin typeface="Segoe UI"/>
                <a:ea typeface="+mn-ea"/>
                <a:cs typeface="+mn-cs"/>
              </a:rPr>
              <a:t>Bugs</a:t>
            </a:r>
          </a:p>
        </p:txBody>
      </p:sp>
      <p:sp>
        <p:nvSpPr>
          <p:cNvPr id="28" name="TextBox 27"/>
          <p:cNvSpPr txBox="1"/>
          <p:nvPr/>
        </p:nvSpPr>
        <p:spPr>
          <a:xfrm>
            <a:off x="2209647" y="5577840"/>
            <a:ext cx="2194560"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100" b="0">
                <a:solidFill>
                  <a:srgbClr val="8B949E"/>
                </a:solidFill>
                <a:latin typeface="Segoe UI"/>
              </a:defRPr>
            </a:pPr>
            <a:r>
              <a:rPr kumimoji="0" sz="1100" b="0" i="0" u="none" strike="noStrike" kern="1200" cap="none" spc="0" normalizeH="0" baseline="0" noProof="0">
                <a:ln>
                  <a:noFill/>
                </a:ln>
                <a:solidFill>
                  <a:srgbClr val="8B949E"/>
                </a:solidFill>
                <a:effectLst/>
                <a:uLnTx/>
                <a:uFillTx/>
                <a:latin typeface="Segoe UI"/>
                <a:ea typeface="+mn-ea"/>
                <a:cs typeface="+mn-cs"/>
              </a:rPr>
              <a:t>Severity, frequency,</a:t>
            </a:r>
            <a:br>
              <a:rPr kumimoji="0" sz="1100" b="0" i="0" u="none" strike="noStrike" kern="1200" cap="none" spc="0" normalizeH="0" baseline="0" noProof="0">
                <a:ln>
                  <a:noFill/>
                </a:ln>
                <a:solidFill>
                  <a:srgbClr val="8B949E"/>
                </a:solidFill>
                <a:effectLst/>
                <a:uLnTx/>
                <a:uFillTx/>
                <a:latin typeface="Segoe UI"/>
                <a:ea typeface="+mn-ea"/>
                <a:cs typeface="+mn-cs"/>
              </a:rPr>
            </a:br>
            <a:r>
              <a:rPr kumimoji="0" sz="1100" b="0" i="0" u="none" strike="noStrike" kern="1200" cap="none" spc="0" normalizeH="0" baseline="0" noProof="0">
                <a:ln>
                  <a:noFill/>
                </a:ln>
                <a:solidFill>
                  <a:srgbClr val="8B949E"/>
                </a:solidFill>
                <a:effectLst/>
                <a:uLnTx/>
                <a:uFillTx/>
                <a:latin typeface="Segoe UI"/>
                <a:ea typeface="+mn-ea"/>
                <a:cs typeface="+mn-cs"/>
              </a:rPr>
              <a:t>resolution status.</a:t>
            </a:r>
            <a:br>
              <a:rPr kumimoji="0" sz="1100" b="0" i="0" u="none" strike="noStrike" kern="1200" cap="none" spc="0" normalizeH="0" baseline="0" noProof="0">
                <a:ln>
                  <a:noFill/>
                </a:ln>
                <a:solidFill>
                  <a:srgbClr val="8B949E"/>
                </a:solidFill>
                <a:effectLst/>
                <a:uLnTx/>
                <a:uFillTx/>
                <a:latin typeface="Segoe UI"/>
                <a:ea typeface="+mn-ea"/>
                <a:cs typeface="+mn-cs"/>
              </a:rPr>
            </a:br>
            <a:r>
              <a:rPr kumimoji="0" sz="1100" b="0" i="0" u="none" strike="noStrike" kern="1200" cap="none" spc="0" normalizeH="0" baseline="0" noProof="0">
                <a:ln>
                  <a:noFill/>
                </a:ln>
                <a:solidFill>
                  <a:srgbClr val="8B949E"/>
                </a:solidFill>
                <a:effectLst/>
                <a:uLnTx/>
                <a:uFillTx/>
                <a:latin typeface="Segoe UI"/>
                <a:ea typeface="+mn-ea"/>
                <a:cs typeface="+mn-cs"/>
              </a:rPr>
              <a:t>What's hurting</a:t>
            </a:r>
            <a:br>
              <a:rPr kumimoji="0" sz="1100" b="0" i="0" u="none" strike="noStrike" kern="1200" cap="none" spc="0" normalizeH="0" baseline="0" noProof="0">
                <a:ln>
                  <a:noFill/>
                </a:ln>
                <a:solidFill>
                  <a:srgbClr val="8B949E"/>
                </a:solidFill>
                <a:effectLst/>
                <a:uLnTx/>
                <a:uFillTx/>
                <a:latin typeface="Segoe UI"/>
                <a:ea typeface="+mn-ea"/>
                <a:cs typeface="+mn-cs"/>
              </a:rPr>
            </a:br>
            <a:r>
              <a:rPr kumimoji="0" sz="1100" b="0" i="0" u="none" strike="noStrike" kern="1200" cap="none" spc="0" normalizeH="0" baseline="0" noProof="0">
                <a:ln>
                  <a:noFill/>
                </a:ln>
                <a:solidFill>
                  <a:srgbClr val="8B949E"/>
                </a:solidFill>
                <a:effectLst/>
                <a:uLnTx/>
                <a:uFillTx/>
                <a:latin typeface="Segoe UI"/>
                <a:ea typeface="+mn-ea"/>
                <a:cs typeface="+mn-cs"/>
              </a:rPr>
              <a:t>customers right now.</a:t>
            </a:r>
          </a:p>
        </p:txBody>
      </p:sp>
      <p:sp>
        <p:nvSpPr>
          <p:cNvPr id="29" name="Rounded Rectangle 28"/>
          <p:cNvSpPr/>
          <p:nvPr/>
        </p:nvSpPr>
        <p:spPr>
          <a:xfrm>
            <a:off x="4861407" y="4160520"/>
            <a:ext cx="2468880" cy="2468880"/>
          </a:xfrm>
          <a:prstGeom prst="roundRect">
            <a:avLst>
              <a:gd name="adj" fmla="val 8000"/>
            </a:avLst>
          </a:prstGeom>
          <a:solidFill>
            <a:srgbClr val="161B22"/>
          </a:solidFill>
          <a:ln w="19050">
            <a:solidFill>
              <a:srgbClr val="F0883E"/>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0" name="Rectangle 29"/>
          <p:cNvSpPr/>
          <p:nvPr/>
        </p:nvSpPr>
        <p:spPr>
          <a:xfrm>
            <a:off x="4934559" y="4233672"/>
            <a:ext cx="2322576" cy="54864"/>
          </a:xfrm>
          <a:prstGeom prst="rect">
            <a:avLst/>
          </a:prstGeom>
          <a:solidFill>
            <a:srgbClr val="F088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1" name="TextBox 30"/>
          <p:cNvSpPr txBox="1"/>
          <p:nvPr/>
        </p:nvSpPr>
        <p:spPr>
          <a:xfrm>
            <a:off x="4861407" y="4389120"/>
            <a:ext cx="2468880" cy="4572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0">
                <a:solidFill>
                  <a:srgbClr val="E6EDF3"/>
                </a:solidFill>
                <a:latin typeface="Segoe UI"/>
              </a:defRPr>
            </a:pPr>
            <a:r>
              <a:rPr kumimoji="0" sz="2800" b="0" i="0" u="none" strike="noStrike" kern="1200" cap="none" spc="0" normalizeH="0" baseline="0" noProof="0">
                <a:ln>
                  <a:noFill/>
                </a:ln>
                <a:solidFill>
                  <a:srgbClr val="E6EDF3"/>
                </a:solidFill>
                <a:effectLst/>
                <a:uLnTx/>
                <a:uFillTx/>
                <a:latin typeface="Segoe UI"/>
                <a:ea typeface="+mn-ea"/>
                <a:cs typeface="+mn-cs"/>
              </a:rPr>
              <a:t>🔍</a:t>
            </a:r>
          </a:p>
        </p:txBody>
      </p:sp>
      <p:sp>
        <p:nvSpPr>
          <p:cNvPr id="32" name="TextBox 31"/>
          <p:cNvSpPr txBox="1"/>
          <p:nvPr/>
        </p:nvSpPr>
        <p:spPr>
          <a:xfrm>
            <a:off x="4998567" y="4937759"/>
            <a:ext cx="2194560" cy="6400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300" b="1">
                <a:solidFill>
                  <a:srgbClr val="F0883E"/>
                </a:solidFill>
                <a:latin typeface="Segoe UI"/>
              </a:defRPr>
            </a:pPr>
            <a:r>
              <a:rPr kumimoji="0" sz="1300" b="1" i="0" u="none" strike="noStrike" kern="1200" cap="none" spc="0" normalizeH="0" baseline="0" noProof="0">
                <a:ln>
                  <a:noFill/>
                </a:ln>
                <a:solidFill>
                  <a:srgbClr val="F0883E"/>
                </a:solidFill>
                <a:effectLst/>
                <a:uLnTx/>
                <a:uFillTx/>
                <a:latin typeface="Segoe UI"/>
                <a:ea typeface="+mn-ea"/>
                <a:cs typeface="+mn-cs"/>
              </a:rPr>
              <a:t>Friction / UX /</a:t>
            </a:r>
            <a:br>
              <a:rPr kumimoji="0" sz="1300" b="1" i="0" u="none" strike="noStrike" kern="1200" cap="none" spc="0" normalizeH="0" baseline="0" noProof="0">
                <a:ln>
                  <a:noFill/>
                </a:ln>
                <a:solidFill>
                  <a:srgbClr val="F0883E"/>
                </a:solidFill>
                <a:effectLst/>
                <a:uLnTx/>
                <a:uFillTx/>
                <a:latin typeface="Segoe UI"/>
                <a:ea typeface="+mn-ea"/>
                <a:cs typeface="+mn-cs"/>
              </a:rPr>
            </a:br>
            <a:r>
              <a:rPr kumimoji="0" sz="1300" b="1" i="0" u="none" strike="noStrike" kern="1200" cap="none" spc="0" normalizeH="0" baseline="0" noProof="0">
                <a:ln>
                  <a:noFill/>
                </a:ln>
                <a:solidFill>
                  <a:srgbClr val="F0883E"/>
                </a:solidFill>
                <a:effectLst/>
                <a:uLnTx/>
                <a:uFillTx/>
                <a:latin typeface="Segoe UI"/>
                <a:ea typeface="+mn-ea"/>
                <a:cs typeface="+mn-cs"/>
              </a:rPr>
              <a:t>Doc Gaps</a:t>
            </a:r>
          </a:p>
        </p:txBody>
      </p:sp>
      <p:sp>
        <p:nvSpPr>
          <p:cNvPr id="33" name="TextBox 32"/>
          <p:cNvSpPr txBox="1"/>
          <p:nvPr/>
        </p:nvSpPr>
        <p:spPr>
          <a:xfrm>
            <a:off x="4998567" y="5577840"/>
            <a:ext cx="2194560"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100" b="0">
                <a:solidFill>
                  <a:srgbClr val="8B949E"/>
                </a:solidFill>
                <a:latin typeface="Segoe UI"/>
              </a:defRPr>
            </a:pPr>
            <a:r>
              <a:rPr kumimoji="0" sz="1100" b="0" i="0" u="none" strike="noStrike" kern="1200" cap="none" spc="0" normalizeH="0" baseline="0" noProof="0" dirty="0">
                <a:ln>
                  <a:noFill/>
                </a:ln>
                <a:solidFill>
                  <a:srgbClr val="8B949E"/>
                </a:solidFill>
                <a:effectLst/>
                <a:uLnTx/>
                <a:uFillTx/>
                <a:latin typeface="Segoe UI"/>
                <a:ea typeface="+mn-ea"/>
                <a:cs typeface="+mn-cs"/>
              </a:rPr>
              <a:t>Where customers</a:t>
            </a:r>
            <a:br>
              <a:rPr kumimoji="0" sz="1100" b="0" i="0" u="none" strike="noStrike" kern="1200" cap="none" spc="0" normalizeH="0" baseline="0" noProof="0" dirty="0">
                <a:ln>
                  <a:noFill/>
                </a:ln>
                <a:solidFill>
                  <a:srgbClr val="8B949E"/>
                </a:solidFill>
                <a:effectLst/>
                <a:uLnTx/>
                <a:uFillTx/>
                <a:latin typeface="Segoe UI"/>
                <a:ea typeface="+mn-ea"/>
                <a:cs typeface="+mn-cs"/>
              </a:rPr>
            </a:br>
            <a:r>
              <a:rPr kumimoji="0" sz="1100" b="0" i="0" u="none" strike="noStrike" kern="1200" cap="none" spc="0" normalizeH="0" baseline="0" noProof="0" dirty="0">
                <a:ln>
                  <a:noFill/>
                </a:ln>
                <a:solidFill>
                  <a:srgbClr val="8B949E"/>
                </a:solidFill>
                <a:effectLst/>
                <a:uLnTx/>
                <a:uFillTx/>
                <a:latin typeface="Segoe UI"/>
                <a:ea typeface="+mn-ea"/>
                <a:cs typeface="+mn-cs"/>
              </a:rPr>
              <a:t>get stuck, confused,</a:t>
            </a:r>
            <a:br>
              <a:rPr kumimoji="0" sz="1100" b="0" i="0" u="none" strike="noStrike" kern="1200" cap="none" spc="0" normalizeH="0" baseline="0" noProof="0" dirty="0">
                <a:ln>
                  <a:noFill/>
                </a:ln>
                <a:solidFill>
                  <a:srgbClr val="8B949E"/>
                </a:solidFill>
                <a:effectLst/>
                <a:uLnTx/>
                <a:uFillTx/>
                <a:latin typeface="Segoe UI"/>
                <a:ea typeface="+mn-ea"/>
                <a:cs typeface="+mn-cs"/>
              </a:rPr>
            </a:br>
            <a:r>
              <a:rPr kumimoji="0" sz="1100" b="0" i="0" u="none" strike="noStrike" kern="1200" cap="none" spc="0" normalizeH="0" baseline="0" noProof="0" dirty="0">
                <a:ln>
                  <a:noFill/>
                </a:ln>
                <a:solidFill>
                  <a:srgbClr val="8B949E"/>
                </a:solidFill>
                <a:effectLst/>
                <a:uLnTx/>
                <a:uFillTx/>
                <a:latin typeface="Segoe UI"/>
                <a:ea typeface="+mn-ea"/>
                <a:cs typeface="+mn-cs"/>
              </a:rPr>
              <a:t>or can't find answers.</a:t>
            </a:r>
          </a:p>
        </p:txBody>
      </p:sp>
      <p:sp>
        <p:nvSpPr>
          <p:cNvPr id="34" name="Rounded Rectangle 33"/>
          <p:cNvSpPr/>
          <p:nvPr/>
        </p:nvSpPr>
        <p:spPr>
          <a:xfrm>
            <a:off x="7650327" y="4160520"/>
            <a:ext cx="2468880" cy="2468880"/>
          </a:xfrm>
          <a:prstGeom prst="roundRect">
            <a:avLst>
              <a:gd name="adj" fmla="val 8000"/>
            </a:avLst>
          </a:prstGeom>
          <a:solidFill>
            <a:srgbClr val="161B22"/>
          </a:solidFill>
          <a:ln w="19050">
            <a:solidFill>
              <a:srgbClr val="F778B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5" name="Rectangle 34"/>
          <p:cNvSpPr/>
          <p:nvPr/>
        </p:nvSpPr>
        <p:spPr>
          <a:xfrm>
            <a:off x="7723479" y="4233672"/>
            <a:ext cx="2322576" cy="54864"/>
          </a:xfrm>
          <a:prstGeom prst="rect">
            <a:avLst/>
          </a:prstGeom>
          <a:solidFill>
            <a:srgbClr val="F778B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6" name="TextBox 35"/>
          <p:cNvSpPr txBox="1"/>
          <p:nvPr/>
        </p:nvSpPr>
        <p:spPr>
          <a:xfrm>
            <a:off x="7650327" y="4389120"/>
            <a:ext cx="2468880" cy="4572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0">
                <a:solidFill>
                  <a:srgbClr val="E6EDF3"/>
                </a:solidFill>
                <a:latin typeface="Segoe UI"/>
              </a:defRPr>
            </a:pPr>
            <a:r>
              <a:rPr kumimoji="0" sz="2800" b="0" i="0" u="none" strike="noStrike" kern="1200" cap="none" spc="0" normalizeH="0" baseline="0" noProof="0">
                <a:ln>
                  <a:noFill/>
                </a:ln>
                <a:solidFill>
                  <a:srgbClr val="E6EDF3"/>
                </a:solidFill>
                <a:effectLst/>
                <a:uLnTx/>
                <a:uFillTx/>
                <a:latin typeface="Segoe UI"/>
                <a:ea typeface="+mn-ea"/>
                <a:cs typeface="+mn-cs"/>
              </a:rPr>
              <a:t>💬</a:t>
            </a:r>
          </a:p>
        </p:txBody>
      </p:sp>
      <p:sp>
        <p:nvSpPr>
          <p:cNvPr id="37" name="TextBox 36"/>
          <p:cNvSpPr txBox="1"/>
          <p:nvPr/>
        </p:nvSpPr>
        <p:spPr>
          <a:xfrm>
            <a:off x="7787487" y="4937759"/>
            <a:ext cx="2194560" cy="6400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300" b="1">
                <a:solidFill>
                  <a:srgbClr val="F778BA"/>
                </a:solidFill>
                <a:latin typeface="Segoe UI"/>
              </a:defRPr>
            </a:pPr>
            <a:r>
              <a:rPr kumimoji="0" sz="1300" b="1" i="0" u="none" strike="noStrike" kern="1200" cap="none" spc="0" normalizeH="0" baseline="0" noProof="0">
                <a:ln>
                  <a:noFill/>
                </a:ln>
                <a:solidFill>
                  <a:srgbClr val="F778BA"/>
                </a:solidFill>
                <a:effectLst/>
                <a:uLnTx/>
                <a:uFillTx/>
                <a:latin typeface="Segoe UI"/>
                <a:ea typeface="+mn-ea"/>
                <a:cs typeface="+mn-cs"/>
              </a:rPr>
              <a:t>Customer Quotes</a:t>
            </a:r>
          </a:p>
        </p:txBody>
      </p:sp>
      <p:sp>
        <p:nvSpPr>
          <p:cNvPr id="38" name="TextBox 37"/>
          <p:cNvSpPr txBox="1"/>
          <p:nvPr/>
        </p:nvSpPr>
        <p:spPr>
          <a:xfrm>
            <a:off x="7787487" y="5577840"/>
            <a:ext cx="2194560"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100" b="0">
                <a:solidFill>
                  <a:srgbClr val="8B949E"/>
                </a:solidFill>
                <a:latin typeface="Segoe UI"/>
              </a:defRPr>
            </a:pPr>
            <a:r>
              <a:rPr kumimoji="0" sz="1100" b="0" i="0" u="none" strike="noStrike" kern="1200" cap="none" spc="0" normalizeH="0" baseline="0" noProof="0" dirty="0">
                <a:ln>
                  <a:noFill/>
                </a:ln>
                <a:solidFill>
                  <a:srgbClr val="8B949E"/>
                </a:solidFill>
                <a:effectLst/>
                <a:uLnTx/>
                <a:uFillTx/>
                <a:latin typeface="Segoe UI"/>
                <a:ea typeface="+mn-ea"/>
                <a:cs typeface="+mn-cs"/>
              </a:rPr>
              <a:t>Verbatim voice of the</a:t>
            </a:r>
            <a:br>
              <a:rPr kumimoji="0" sz="1100" b="0" i="0" u="none" strike="noStrike" kern="1200" cap="none" spc="0" normalizeH="0" baseline="0" noProof="0" dirty="0">
                <a:ln>
                  <a:noFill/>
                </a:ln>
                <a:solidFill>
                  <a:srgbClr val="8B949E"/>
                </a:solidFill>
                <a:effectLst/>
                <a:uLnTx/>
                <a:uFillTx/>
                <a:latin typeface="Segoe UI"/>
                <a:ea typeface="+mn-ea"/>
                <a:cs typeface="+mn-cs"/>
              </a:rPr>
            </a:br>
            <a:r>
              <a:rPr kumimoji="0" sz="1100" b="0" i="0" u="none" strike="noStrike" kern="1200" cap="none" spc="0" normalizeH="0" baseline="0" noProof="0" dirty="0">
                <a:ln>
                  <a:noFill/>
                </a:ln>
                <a:solidFill>
                  <a:srgbClr val="8B949E"/>
                </a:solidFill>
                <a:effectLst/>
                <a:uLnTx/>
                <a:uFillTx/>
                <a:latin typeface="Segoe UI"/>
                <a:ea typeface="+mn-ea"/>
                <a:cs typeface="+mn-cs"/>
              </a:rPr>
              <a:t>customer. The evidence</a:t>
            </a:r>
            <a:br>
              <a:rPr kumimoji="0" sz="1100" b="0" i="0" u="none" strike="noStrike" kern="1200" cap="none" spc="0" normalizeH="0" baseline="0" noProof="0" dirty="0">
                <a:ln>
                  <a:noFill/>
                </a:ln>
                <a:solidFill>
                  <a:srgbClr val="8B949E"/>
                </a:solidFill>
                <a:effectLst/>
                <a:uLnTx/>
                <a:uFillTx/>
                <a:latin typeface="Segoe UI"/>
                <a:ea typeface="+mn-ea"/>
                <a:cs typeface="+mn-cs"/>
              </a:rPr>
            </a:br>
            <a:r>
              <a:rPr kumimoji="0" sz="1100" b="0" i="0" u="none" strike="noStrike" kern="1200" cap="none" spc="0" normalizeH="0" baseline="0" noProof="0" dirty="0">
                <a:ln>
                  <a:noFill/>
                </a:ln>
                <a:solidFill>
                  <a:srgbClr val="8B949E"/>
                </a:solidFill>
                <a:effectLst/>
                <a:uLnTx/>
                <a:uFillTx/>
                <a:latin typeface="Segoe UI"/>
                <a:ea typeface="+mn-ea"/>
                <a:cs typeface="+mn-cs"/>
              </a:rPr>
              <a:t>behind every insight.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64008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200" b="1">
                <a:solidFill>
                  <a:srgbClr val="E6EDF3"/>
                </a:solidFill>
                <a:latin typeface="Segoe UI"/>
              </a:defRPr>
            </a:pPr>
            <a:r>
              <a:rPr kumimoji="0" sz="3200" b="1" i="0" u="none" strike="noStrike" kern="1200" cap="none" spc="0" normalizeH="0" baseline="0" noProof="0">
                <a:ln>
                  <a:noFill/>
                </a:ln>
                <a:solidFill>
                  <a:srgbClr val="E6EDF3"/>
                </a:solidFill>
                <a:effectLst/>
                <a:uLnTx/>
                <a:uFillTx/>
                <a:latin typeface="Segoe UI"/>
                <a:ea typeface="+mn-ea"/>
                <a:cs typeface="+mn-cs"/>
              </a:rPr>
              <a:t>Works With Any LLM</a:t>
            </a:r>
          </a:p>
        </p:txBody>
      </p:sp>
      <p:sp>
        <p:nvSpPr>
          <p:cNvPr id="3" name="TextBox 2"/>
          <p:cNvSpPr txBox="1"/>
          <p:nvPr/>
        </p:nvSpPr>
        <p:spPr>
          <a:xfrm>
            <a:off x="1371600" y="868680"/>
            <a:ext cx="9418320" cy="4572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b="0">
                <a:solidFill>
                  <a:srgbClr val="8B949E"/>
                </a:solidFill>
                <a:latin typeface="Segoe UI"/>
              </a:defRPr>
            </a:pPr>
            <a:r>
              <a:rPr kumimoji="0" sz="1600" b="0" i="0" u="none" strike="noStrike" kern="1200" cap="none" spc="0" normalizeH="0" baseline="0" noProof="0" dirty="0">
                <a:ln>
                  <a:noFill/>
                </a:ln>
                <a:solidFill>
                  <a:srgbClr val="8B949E"/>
                </a:solidFill>
                <a:effectLst/>
                <a:uLnTx/>
                <a:uFillTx/>
                <a:latin typeface="Segoe UI"/>
                <a:ea typeface="+mn-ea"/>
                <a:cs typeface="+mn-cs"/>
              </a:rPr>
              <a:t>Plain-text markdown skills. No vendor lock-in. Drop them into any AI assistant.</a:t>
            </a:r>
          </a:p>
        </p:txBody>
      </p:sp>
      <p:sp>
        <p:nvSpPr>
          <p:cNvPr id="4" name="Rounded Rectangle 3"/>
          <p:cNvSpPr/>
          <p:nvPr/>
        </p:nvSpPr>
        <p:spPr>
          <a:xfrm>
            <a:off x="4937760" y="1828800"/>
            <a:ext cx="2286000" cy="2560320"/>
          </a:xfrm>
          <a:prstGeom prst="roundRect">
            <a:avLst>
              <a:gd name="adj" fmla="val 8000"/>
            </a:avLst>
          </a:prstGeom>
          <a:solidFill>
            <a:srgbClr val="161B22"/>
          </a:solidFill>
          <a:ln w="19050">
            <a:solidFill>
              <a:srgbClr val="58A6FF"/>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4937760" y="2103120"/>
            <a:ext cx="2286000" cy="4572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0">
                <a:solidFill>
                  <a:srgbClr val="E6EDF3"/>
                </a:solidFill>
                <a:latin typeface="Segoe UI"/>
              </a:defRPr>
            </a:pPr>
            <a:r>
              <a:rPr kumimoji="0" sz="3600" b="0" i="0" u="none" strike="noStrike" kern="1200" cap="none" spc="0" normalizeH="0" baseline="0" noProof="0">
                <a:ln>
                  <a:noFill/>
                </a:ln>
                <a:solidFill>
                  <a:srgbClr val="E6EDF3"/>
                </a:solidFill>
                <a:effectLst/>
                <a:uLnTx/>
                <a:uFillTx/>
                <a:latin typeface="Segoe UI"/>
                <a:ea typeface="+mn-ea"/>
                <a:cs typeface="+mn-cs"/>
              </a:rPr>
              <a:t>📄</a:t>
            </a:r>
          </a:p>
        </p:txBody>
      </p:sp>
      <p:sp>
        <p:nvSpPr>
          <p:cNvPr id="6" name="TextBox 5"/>
          <p:cNvSpPr txBox="1"/>
          <p:nvPr/>
        </p:nvSpPr>
        <p:spPr>
          <a:xfrm>
            <a:off x="4937760" y="2834640"/>
            <a:ext cx="2286000" cy="36576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b="1">
                <a:solidFill>
                  <a:srgbClr val="58A6FF"/>
                </a:solidFill>
                <a:latin typeface="Segoe UI"/>
              </a:defRPr>
            </a:pPr>
            <a:r>
              <a:rPr kumimoji="0" sz="1400" b="1" i="0" u="none" strike="noStrike" kern="1200" cap="none" spc="0" normalizeH="0" baseline="0" noProof="0">
                <a:ln>
                  <a:noFill/>
                </a:ln>
                <a:solidFill>
                  <a:srgbClr val="58A6FF"/>
                </a:solidFill>
                <a:effectLst/>
                <a:uLnTx/>
                <a:uFillTx/>
                <a:latin typeface="Segoe UI"/>
                <a:ea typeface="+mn-ea"/>
                <a:cs typeface="+mn-cs"/>
              </a:rPr>
              <a:t>feedback-analyzer</a:t>
            </a:r>
          </a:p>
        </p:txBody>
      </p:sp>
      <p:sp>
        <p:nvSpPr>
          <p:cNvPr id="7" name="TextBox 6"/>
          <p:cNvSpPr txBox="1"/>
          <p:nvPr/>
        </p:nvSpPr>
        <p:spPr>
          <a:xfrm>
            <a:off x="4937760" y="3200400"/>
            <a:ext cx="2286000" cy="36576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300" b="0">
                <a:solidFill>
                  <a:srgbClr val="8B949E"/>
                </a:solidFill>
                <a:latin typeface="Segoe UI"/>
              </a:defRPr>
            </a:pPr>
            <a:r>
              <a:rPr kumimoji="0" sz="1300" b="0" i="0" u="none" strike="noStrike" kern="1200" cap="none" spc="0" normalizeH="0" baseline="0" noProof="0">
                <a:ln>
                  <a:noFill/>
                </a:ln>
                <a:solidFill>
                  <a:srgbClr val="8B949E"/>
                </a:solidFill>
                <a:effectLst/>
                <a:uLnTx/>
                <a:uFillTx/>
                <a:latin typeface="Segoe UI"/>
                <a:ea typeface="+mn-ea"/>
                <a:cs typeface="+mn-cs"/>
              </a:rPr>
              <a:t>.prompt.md</a:t>
            </a:r>
          </a:p>
        </p:txBody>
      </p:sp>
      <p:sp>
        <p:nvSpPr>
          <p:cNvPr id="8" name="TextBox 7"/>
          <p:cNvSpPr txBox="1"/>
          <p:nvPr/>
        </p:nvSpPr>
        <p:spPr>
          <a:xfrm>
            <a:off x="4937760" y="3657600"/>
            <a:ext cx="2286000" cy="4572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100" b="0">
                <a:solidFill>
                  <a:srgbClr val="3FB950"/>
                </a:solidFill>
                <a:latin typeface="Segoe UI"/>
              </a:defRPr>
            </a:pPr>
            <a:r>
              <a:rPr kumimoji="0" sz="1100" b="0" i="0" u="none" strike="noStrike" kern="1200" cap="none" spc="0" normalizeH="0" baseline="0" noProof="0">
                <a:ln>
                  <a:noFill/>
                </a:ln>
                <a:solidFill>
                  <a:srgbClr val="3FB950"/>
                </a:solidFill>
                <a:effectLst/>
                <a:uLnTx/>
                <a:uFillTx/>
                <a:latin typeface="Segoe UI"/>
                <a:ea typeface="+mn-ea"/>
                <a:cs typeface="+mn-cs"/>
              </a:rPr>
              <a:t>Plain Markdown</a:t>
            </a:r>
            <a:br>
              <a:rPr kumimoji="0" sz="1100" b="0" i="0" u="none" strike="noStrike" kern="1200" cap="none" spc="0" normalizeH="0" baseline="0" noProof="0">
                <a:ln>
                  <a:noFill/>
                </a:ln>
                <a:solidFill>
                  <a:srgbClr val="3FB950"/>
                </a:solidFill>
                <a:effectLst/>
                <a:uLnTx/>
                <a:uFillTx/>
                <a:latin typeface="Segoe UI"/>
                <a:ea typeface="+mn-ea"/>
                <a:cs typeface="+mn-cs"/>
              </a:rPr>
            </a:br>
            <a:r>
              <a:rPr kumimoji="0" sz="1100" b="0" i="0" u="none" strike="noStrike" kern="1200" cap="none" spc="0" normalizeH="0" baseline="0" noProof="0">
                <a:ln>
                  <a:noFill/>
                </a:ln>
                <a:solidFill>
                  <a:srgbClr val="3FB950"/>
                </a:solidFill>
                <a:effectLst/>
                <a:uLnTx/>
                <a:uFillTx/>
                <a:latin typeface="Segoe UI"/>
                <a:ea typeface="+mn-ea"/>
                <a:cs typeface="+mn-cs"/>
              </a:rPr>
              <a:t>No SDK Required</a:t>
            </a:r>
          </a:p>
        </p:txBody>
      </p:sp>
      <p:sp>
        <p:nvSpPr>
          <p:cNvPr id="9" name="TextBox 8"/>
          <p:cNvSpPr txBox="1"/>
          <p:nvPr/>
        </p:nvSpPr>
        <p:spPr>
          <a:xfrm>
            <a:off x="365760" y="1554480"/>
            <a:ext cx="3200400" cy="36576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200" b="1">
                <a:solidFill>
                  <a:srgbClr val="8B949E"/>
                </a:solidFill>
                <a:latin typeface="Segoe UI"/>
              </a:defRPr>
            </a:pPr>
            <a:r>
              <a:rPr kumimoji="0" sz="1200" b="1" i="0" u="none" strike="noStrike" kern="1200" cap="none" spc="0" normalizeH="0" baseline="0" noProof="0">
                <a:ln>
                  <a:noFill/>
                </a:ln>
                <a:solidFill>
                  <a:srgbClr val="8B949E"/>
                </a:solidFill>
                <a:effectLst/>
                <a:uLnTx/>
                <a:uFillTx/>
                <a:latin typeface="Segoe UI"/>
                <a:ea typeface="+mn-ea"/>
                <a:cs typeface="+mn-cs"/>
              </a:rPr>
              <a:t>YOUR DATA</a:t>
            </a:r>
          </a:p>
        </p:txBody>
      </p:sp>
      <p:sp>
        <p:nvSpPr>
          <p:cNvPr id="10" name="Rounded Rectangle 9"/>
          <p:cNvSpPr/>
          <p:nvPr/>
        </p:nvSpPr>
        <p:spPr>
          <a:xfrm>
            <a:off x="548640" y="2011680"/>
            <a:ext cx="2926080" cy="777240"/>
          </a:xfrm>
          <a:prstGeom prst="roundRect">
            <a:avLst>
              <a:gd name="adj" fmla="val 8000"/>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1" name="TextBox 10"/>
          <p:cNvSpPr txBox="1"/>
          <p:nvPr/>
        </p:nvSpPr>
        <p:spPr>
          <a:xfrm>
            <a:off x="685800" y="2057400"/>
            <a:ext cx="457200" cy="4572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200" b="0">
                <a:solidFill>
                  <a:srgbClr val="E6EDF3"/>
                </a:solidFill>
                <a:latin typeface="Segoe UI"/>
              </a:defRPr>
            </a:pPr>
            <a:r>
              <a:rPr kumimoji="0" sz="2200" b="0" i="0" u="none" strike="noStrike" kern="1200" cap="none" spc="0" normalizeH="0" baseline="0" noProof="0">
                <a:ln>
                  <a:noFill/>
                </a:ln>
                <a:solidFill>
                  <a:srgbClr val="E6EDF3"/>
                </a:solidFill>
                <a:effectLst/>
                <a:uLnTx/>
                <a:uFillTx/>
                <a:latin typeface="Segoe UI"/>
                <a:ea typeface="+mn-ea"/>
                <a:cs typeface="+mn-cs"/>
              </a:rPr>
              <a:t>💬</a:t>
            </a:r>
          </a:p>
        </p:txBody>
      </p:sp>
      <p:sp>
        <p:nvSpPr>
          <p:cNvPr id="12" name="TextBox 11"/>
          <p:cNvSpPr txBox="1"/>
          <p:nvPr/>
        </p:nvSpPr>
        <p:spPr>
          <a:xfrm>
            <a:off x="1143000" y="2084832"/>
            <a:ext cx="2103120" cy="3200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300" b="1">
                <a:solidFill>
                  <a:srgbClr val="E6EDF3"/>
                </a:solidFill>
                <a:latin typeface="Segoe UI"/>
              </a:defRPr>
            </a:pPr>
            <a:r>
              <a:rPr kumimoji="0" sz="1300" b="1" i="0" u="none" strike="noStrike" kern="1200" cap="none" spc="0" normalizeH="0" baseline="0" noProof="0">
                <a:ln>
                  <a:noFill/>
                </a:ln>
                <a:solidFill>
                  <a:srgbClr val="E6EDF3"/>
                </a:solidFill>
                <a:effectLst/>
                <a:uLnTx/>
                <a:uFillTx/>
                <a:latin typeface="Segoe UI"/>
                <a:ea typeface="+mn-ea"/>
                <a:cs typeface="+mn-cs"/>
              </a:rPr>
              <a:t>Teams / Slack</a:t>
            </a:r>
          </a:p>
        </p:txBody>
      </p:sp>
      <p:sp>
        <p:nvSpPr>
          <p:cNvPr id="13" name="TextBox 12"/>
          <p:cNvSpPr txBox="1"/>
          <p:nvPr/>
        </p:nvSpPr>
        <p:spPr>
          <a:xfrm>
            <a:off x="1143000" y="2395728"/>
            <a:ext cx="2103120" cy="3200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00" b="0">
                <a:solidFill>
                  <a:srgbClr val="8B949E"/>
                </a:solidFill>
                <a:latin typeface="Segoe UI"/>
              </a:defRPr>
            </a:pPr>
            <a:r>
              <a:rPr kumimoji="0" sz="1100" b="0" i="0" u="none" strike="noStrike" kern="1200" cap="none" spc="0" normalizeH="0" baseline="0" noProof="0">
                <a:ln>
                  <a:noFill/>
                </a:ln>
                <a:solidFill>
                  <a:srgbClr val="8B949E"/>
                </a:solidFill>
                <a:effectLst/>
                <a:uLnTx/>
                <a:uFillTx/>
                <a:latin typeface="Segoe UI"/>
                <a:ea typeface="+mn-ea"/>
                <a:cs typeface="+mn-cs"/>
              </a:rPr>
              <a:t>Meeting transcripts</a:t>
            </a:r>
          </a:p>
        </p:txBody>
      </p:sp>
      <p:sp>
        <p:nvSpPr>
          <p:cNvPr id="14" name="Rounded Rectangle 13"/>
          <p:cNvSpPr/>
          <p:nvPr/>
        </p:nvSpPr>
        <p:spPr>
          <a:xfrm>
            <a:off x="548640" y="3017520"/>
            <a:ext cx="2926080" cy="777240"/>
          </a:xfrm>
          <a:prstGeom prst="roundRect">
            <a:avLst>
              <a:gd name="adj" fmla="val 8000"/>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685800" y="3063240"/>
            <a:ext cx="457200" cy="4572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200" b="0">
                <a:solidFill>
                  <a:srgbClr val="E6EDF3"/>
                </a:solidFill>
                <a:latin typeface="Segoe UI"/>
              </a:defRPr>
            </a:pPr>
            <a:r>
              <a:rPr kumimoji="0" sz="2200" b="0" i="0" u="none" strike="noStrike" kern="1200" cap="none" spc="0" normalizeH="0" baseline="0" noProof="0">
                <a:ln>
                  <a:noFill/>
                </a:ln>
                <a:solidFill>
                  <a:srgbClr val="E6EDF3"/>
                </a:solidFill>
                <a:effectLst/>
                <a:uLnTx/>
                <a:uFillTx/>
                <a:latin typeface="Segoe UI"/>
                <a:ea typeface="+mn-ea"/>
                <a:cs typeface="+mn-cs"/>
              </a:rPr>
              <a:t>📝</a:t>
            </a:r>
          </a:p>
        </p:txBody>
      </p:sp>
      <p:sp>
        <p:nvSpPr>
          <p:cNvPr id="16" name="TextBox 15"/>
          <p:cNvSpPr txBox="1"/>
          <p:nvPr/>
        </p:nvSpPr>
        <p:spPr>
          <a:xfrm>
            <a:off x="1143000" y="3090672"/>
            <a:ext cx="2103120" cy="3200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300" b="1">
                <a:solidFill>
                  <a:srgbClr val="E6EDF3"/>
                </a:solidFill>
                <a:latin typeface="Segoe UI"/>
              </a:defRPr>
            </a:pPr>
            <a:r>
              <a:rPr kumimoji="0" sz="1300" b="1" i="0" u="none" strike="noStrike" kern="1200" cap="none" spc="0" normalizeH="0" baseline="0" noProof="0">
                <a:ln>
                  <a:noFill/>
                </a:ln>
                <a:solidFill>
                  <a:srgbClr val="E6EDF3"/>
                </a:solidFill>
                <a:effectLst/>
                <a:uLnTx/>
                <a:uFillTx/>
                <a:latin typeface="Segoe UI"/>
                <a:ea typeface="+mn-ea"/>
                <a:cs typeface="+mn-cs"/>
              </a:rPr>
              <a:t>Markdown Notes</a:t>
            </a:r>
          </a:p>
        </p:txBody>
      </p:sp>
      <p:sp>
        <p:nvSpPr>
          <p:cNvPr id="17" name="TextBox 16"/>
          <p:cNvSpPr txBox="1"/>
          <p:nvPr/>
        </p:nvSpPr>
        <p:spPr>
          <a:xfrm>
            <a:off x="1143000" y="3401568"/>
            <a:ext cx="2103120" cy="3200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00" b="0">
                <a:solidFill>
                  <a:srgbClr val="8B949E"/>
                </a:solidFill>
                <a:latin typeface="Segoe UI"/>
              </a:defRPr>
            </a:pPr>
            <a:r>
              <a:rPr kumimoji="0" sz="1100" b="0" i="0" u="none" strike="noStrike" kern="1200" cap="none" spc="0" normalizeH="0" baseline="0" noProof="0">
                <a:ln>
                  <a:noFill/>
                </a:ln>
                <a:solidFill>
                  <a:srgbClr val="8B949E"/>
                </a:solidFill>
                <a:effectLst/>
                <a:uLnTx/>
                <a:uFillTx/>
                <a:latin typeface="Segoe UI"/>
                <a:ea typeface="+mn-ea"/>
                <a:cs typeface="+mn-cs"/>
              </a:rPr>
              <a:t>Feedback files</a:t>
            </a:r>
          </a:p>
        </p:txBody>
      </p:sp>
      <p:sp>
        <p:nvSpPr>
          <p:cNvPr id="18" name="Rounded Rectangle 17"/>
          <p:cNvSpPr/>
          <p:nvPr/>
        </p:nvSpPr>
        <p:spPr>
          <a:xfrm>
            <a:off x="548640" y="4023360"/>
            <a:ext cx="2926080" cy="777240"/>
          </a:xfrm>
          <a:prstGeom prst="roundRect">
            <a:avLst>
              <a:gd name="adj" fmla="val 8000"/>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9" name="TextBox 18"/>
          <p:cNvSpPr txBox="1"/>
          <p:nvPr/>
        </p:nvSpPr>
        <p:spPr>
          <a:xfrm>
            <a:off x="685800" y="4069080"/>
            <a:ext cx="457200" cy="4572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200" b="0">
                <a:solidFill>
                  <a:srgbClr val="E6EDF3"/>
                </a:solidFill>
                <a:latin typeface="Segoe UI"/>
              </a:defRPr>
            </a:pPr>
            <a:r>
              <a:rPr kumimoji="0" sz="2200" b="0" i="0" u="none" strike="noStrike" kern="1200" cap="none" spc="0" normalizeH="0" baseline="0" noProof="0">
                <a:ln>
                  <a:noFill/>
                </a:ln>
                <a:solidFill>
                  <a:srgbClr val="E6EDF3"/>
                </a:solidFill>
                <a:effectLst/>
                <a:uLnTx/>
                <a:uFillTx/>
                <a:latin typeface="Segoe UI"/>
                <a:ea typeface="+mn-ea"/>
                <a:cs typeface="+mn-cs"/>
              </a:rPr>
              <a:t>🎫</a:t>
            </a:r>
          </a:p>
        </p:txBody>
      </p:sp>
      <p:sp>
        <p:nvSpPr>
          <p:cNvPr id="20" name="TextBox 19"/>
          <p:cNvSpPr txBox="1"/>
          <p:nvPr/>
        </p:nvSpPr>
        <p:spPr>
          <a:xfrm>
            <a:off x="1143000" y="4096512"/>
            <a:ext cx="2103120" cy="3200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300" b="1">
                <a:solidFill>
                  <a:srgbClr val="E6EDF3"/>
                </a:solidFill>
                <a:latin typeface="Segoe UI"/>
              </a:defRPr>
            </a:pPr>
            <a:r>
              <a:rPr kumimoji="0" sz="1300" b="1" i="0" u="none" strike="noStrike" kern="1200" cap="none" spc="0" normalizeH="0" baseline="0" noProof="0">
                <a:ln>
                  <a:noFill/>
                </a:ln>
                <a:solidFill>
                  <a:srgbClr val="E6EDF3"/>
                </a:solidFill>
                <a:effectLst/>
                <a:uLnTx/>
                <a:uFillTx/>
                <a:latin typeface="Segoe UI"/>
                <a:ea typeface="+mn-ea"/>
                <a:cs typeface="+mn-cs"/>
              </a:rPr>
              <a:t>Issue Trackers</a:t>
            </a:r>
          </a:p>
        </p:txBody>
      </p:sp>
      <p:sp>
        <p:nvSpPr>
          <p:cNvPr id="21" name="TextBox 20"/>
          <p:cNvSpPr txBox="1"/>
          <p:nvPr/>
        </p:nvSpPr>
        <p:spPr>
          <a:xfrm>
            <a:off x="1143000" y="4407408"/>
            <a:ext cx="2103120" cy="3200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00" b="0">
                <a:solidFill>
                  <a:srgbClr val="8B949E"/>
                </a:solidFill>
                <a:latin typeface="Segoe UI"/>
              </a:defRPr>
            </a:pPr>
            <a:r>
              <a:rPr kumimoji="0" sz="1100" b="0" i="0" u="none" strike="noStrike" kern="1200" cap="none" spc="0" normalizeH="0" baseline="0" noProof="0">
                <a:ln>
                  <a:noFill/>
                </a:ln>
                <a:solidFill>
                  <a:srgbClr val="8B949E"/>
                </a:solidFill>
                <a:effectLst/>
                <a:uLnTx/>
                <a:uFillTx/>
                <a:latin typeface="Segoe UI"/>
                <a:ea typeface="+mn-ea"/>
                <a:cs typeface="+mn-cs"/>
              </a:rPr>
              <a:t>ADO / GitHub / Jira</a:t>
            </a:r>
          </a:p>
        </p:txBody>
      </p:sp>
      <p:sp>
        <p:nvSpPr>
          <p:cNvPr id="22" name="Rounded Rectangle 21"/>
          <p:cNvSpPr/>
          <p:nvPr/>
        </p:nvSpPr>
        <p:spPr>
          <a:xfrm>
            <a:off x="548640" y="5029200"/>
            <a:ext cx="2926080" cy="777240"/>
          </a:xfrm>
          <a:prstGeom prst="roundRect">
            <a:avLst>
              <a:gd name="adj" fmla="val 8000"/>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3" name="TextBox 22"/>
          <p:cNvSpPr txBox="1"/>
          <p:nvPr/>
        </p:nvSpPr>
        <p:spPr>
          <a:xfrm>
            <a:off x="685800" y="5074920"/>
            <a:ext cx="457200" cy="4572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200" b="0">
                <a:solidFill>
                  <a:srgbClr val="E6EDF3"/>
                </a:solidFill>
                <a:latin typeface="Segoe UI"/>
              </a:defRPr>
            </a:pPr>
            <a:r>
              <a:rPr kumimoji="0" sz="2200" b="0" i="0" u="none" strike="noStrike" kern="1200" cap="none" spc="0" normalizeH="0" baseline="0" noProof="0">
                <a:ln>
                  <a:noFill/>
                </a:ln>
                <a:solidFill>
                  <a:srgbClr val="E6EDF3"/>
                </a:solidFill>
                <a:effectLst/>
                <a:uLnTx/>
                <a:uFillTx/>
                <a:latin typeface="Segoe UI"/>
                <a:ea typeface="+mn-ea"/>
                <a:cs typeface="+mn-cs"/>
              </a:rPr>
              <a:t>📊</a:t>
            </a:r>
          </a:p>
        </p:txBody>
      </p:sp>
      <p:sp>
        <p:nvSpPr>
          <p:cNvPr id="24" name="TextBox 23"/>
          <p:cNvSpPr txBox="1"/>
          <p:nvPr/>
        </p:nvSpPr>
        <p:spPr>
          <a:xfrm>
            <a:off x="1143000" y="5102352"/>
            <a:ext cx="2103120" cy="3200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300" b="1">
                <a:solidFill>
                  <a:srgbClr val="E6EDF3"/>
                </a:solidFill>
                <a:latin typeface="Segoe UI"/>
              </a:defRPr>
            </a:pPr>
            <a:r>
              <a:rPr kumimoji="0" sz="1300" b="1" i="0" u="none" strike="noStrike" kern="1200" cap="none" spc="0" normalizeH="0" baseline="0" noProof="0">
                <a:ln>
                  <a:noFill/>
                </a:ln>
                <a:solidFill>
                  <a:srgbClr val="E6EDF3"/>
                </a:solidFill>
                <a:effectLst/>
                <a:uLnTx/>
                <a:uFillTx/>
                <a:latin typeface="Segoe UI"/>
                <a:ea typeface="+mn-ea"/>
                <a:cs typeface="+mn-cs"/>
              </a:rPr>
              <a:t>Telemetry</a:t>
            </a:r>
          </a:p>
        </p:txBody>
      </p:sp>
      <p:sp>
        <p:nvSpPr>
          <p:cNvPr id="25" name="TextBox 24"/>
          <p:cNvSpPr txBox="1"/>
          <p:nvPr/>
        </p:nvSpPr>
        <p:spPr>
          <a:xfrm>
            <a:off x="1143000" y="5413248"/>
            <a:ext cx="2103120" cy="3200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00" b="0">
                <a:solidFill>
                  <a:srgbClr val="8B949E"/>
                </a:solidFill>
                <a:latin typeface="Segoe UI"/>
              </a:defRPr>
            </a:pPr>
            <a:r>
              <a:rPr kumimoji="0" sz="1100" b="0" i="0" u="none" strike="noStrike" kern="1200" cap="none" spc="0" normalizeH="0" baseline="0" noProof="0">
                <a:ln>
                  <a:noFill/>
                </a:ln>
                <a:solidFill>
                  <a:srgbClr val="8B949E"/>
                </a:solidFill>
                <a:effectLst/>
                <a:uLnTx/>
                <a:uFillTx/>
                <a:latin typeface="Segoe UI"/>
                <a:ea typeface="+mn-ea"/>
                <a:cs typeface="+mn-cs"/>
              </a:rPr>
              <a:t>Usage data &amp; logs</a:t>
            </a:r>
          </a:p>
        </p:txBody>
      </p:sp>
      <p:sp>
        <p:nvSpPr>
          <p:cNvPr id="26" name="Right Arrow 25"/>
          <p:cNvSpPr/>
          <p:nvPr/>
        </p:nvSpPr>
        <p:spPr>
          <a:xfrm>
            <a:off x="3749039" y="2880360"/>
            <a:ext cx="914400" cy="365760"/>
          </a:xfrm>
          <a:prstGeom prst="rightArrow">
            <a:avLst/>
          </a:prstGeom>
          <a:solidFill>
            <a:srgbClr val="3036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7" name="TextBox 26"/>
          <p:cNvSpPr txBox="1"/>
          <p:nvPr/>
        </p:nvSpPr>
        <p:spPr>
          <a:xfrm>
            <a:off x="8412480" y="1554480"/>
            <a:ext cx="3474720" cy="36576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200" b="1">
                <a:solidFill>
                  <a:srgbClr val="8B949E"/>
                </a:solidFill>
                <a:latin typeface="Segoe UI"/>
              </a:defRPr>
            </a:pPr>
            <a:r>
              <a:rPr kumimoji="0" sz="1200" b="1" i="0" u="none" strike="noStrike" kern="1200" cap="none" spc="0" normalizeH="0" baseline="0" noProof="0">
                <a:ln>
                  <a:noFill/>
                </a:ln>
                <a:solidFill>
                  <a:srgbClr val="8B949E"/>
                </a:solidFill>
                <a:effectLst/>
                <a:uLnTx/>
                <a:uFillTx/>
                <a:latin typeface="Segoe UI"/>
                <a:ea typeface="+mn-ea"/>
                <a:cs typeface="+mn-cs"/>
              </a:rPr>
              <a:t>CHOOSE YOUR LLM</a:t>
            </a:r>
          </a:p>
        </p:txBody>
      </p:sp>
      <p:sp>
        <p:nvSpPr>
          <p:cNvPr id="28" name="Right Arrow 27"/>
          <p:cNvSpPr/>
          <p:nvPr/>
        </p:nvSpPr>
        <p:spPr>
          <a:xfrm>
            <a:off x="7498079" y="2880360"/>
            <a:ext cx="914400" cy="365760"/>
          </a:xfrm>
          <a:prstGeom prst="rightArrow">
            <a:avLst/>
          </a:prstGeom>
          <a:solidFill>
            <a:srgbClr val="3036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9" name="Rounded Rectangle 28"/>
          <p:cNvSpPr/>
          <p:nvPr/>
        </p:nvSpPr>
        <p:spPr>
          <a:xfrm>
            <a:off x="8595360" y="2011680"/>
            <a:ext cx="3200400" cy="777240"/>
          </a:xfrm>
          <a:prstGeom prst="roundRect">
            <a:avLst>
              <a:gd name="adj" fmla="val 8000"/>
            </a:avLst>
          </a:prstGeom>
          <a:solidFill>
            <a:srgbClr val="161B22"/>
          </a:solidFill>
          <a:ln w="19050">
            <a:solidFill>
              <a:srgbClr val="3FB95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0" name="TextBox 29"/>
          <p:cNvSpPr txBox="1"/>
          <p:nvPr/>
        </p:nvSpPr>
        <p:spPr>
          <a:xfrm>
            <a:off x="8732520" y="2057400"/>
            <a:ext cx="457200" cy="4572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200" b="0">
                <a:solidFill>
                  <a:srgbClr val="E6EDF3"/>
                </a:solidFill>
                <a:latin typeface="Segoe UI"/>
              </a:defRPr>
            </a:pPr>
            <a:r>
              <a:rPr kumimoji="0" sz="2200" b="0" i="0" u="none" strike="noStrike" kern="1200" cap="none" spc="0" normalizeH="0" baseline="0" noProof="0">
                <a:ln>
                  <a:noFill/>
                </a:ln>
                <a:solidFill>
                  <a:srgbClr val="E6EDF3"/>
                </a:solidFill>
                <a:effectLst/>
                <a:uLnTx/>
                <a:uFillTx/>
                <a:latin typeface="Segoe UI"/>
                <a:ea typeface="+mn-ea"/>
                <a:cs typeface="+mn-cs"/>
              </a:rPr>
              <a:t>🟢</a:t>
            </a:r>
          </a:p>
        </p:txBody>
      </p:sp>
      <p:sp>
        <p:nvSpPr>
          <p:cNvPr id="31" name="TextBox 30"/>
          <p:cNvSpPr txBox="1"/>
          <p:nvPr/>
        </p:nvSpPr>
        <p:spPr>
          <a:xfrm>
            <a:off x="9189720" y="2084832"/>
            <a:ext cx="2377440" cy="3200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300" b="1">
                <a:solidFill>
                  <a:srgbClr val="E6EDF3"/>
                </a:solidFill>
                <a:latin typeface="Segoe UI"/>
              </a:defRPr>
            </a:pPr>
            <a:r>
              <a:rPr kumimoji="0" sz="1300" b="1" i="0" u="none" strike="noStrike" kern="1200" cap="none" spc="0" normalizeH="0" baseline="0" noProof="0">
                <a:ln>
                  <a:noFill/>
                </a:ln>
                <a:solidFill>
                  <a:srgbClr val="E6EDF3"/>
                </a:solidFill>
                <a:effectLst/>
                <a:uLnTx/>
                <a:uFillTx/>
                <a:latin typeface="Segoe UI"/>
                <a:ea typeface="+mn-ea"/>
                <a:cs typeface="+mn-cs"/>
              </a:rPr>
              <a:t>GPT-4 / GPT-4o</a:t>
            </a:r>
          </a:p>
        </p:txBody>
      </p:sp>
      <p:sp>
        <p:nvSpPr>
          <p:cNvPr id="32" name="TextBox 31"/>
          <p:cNvSpPr txBox="1"/>
          <p:nvPr/>
        </p:nvSpPr>
        <p:spPr>
          <a:xfrm>
            <a:off x="9189720" y="2395728"/>
            <a:ext cx="2377440" cy="3200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00" b="0">
                <a:solidFill>
                  <a:srgbClr val="8B949E"/>
                </a:solidFill>
                <a:latin typeface="Segoe UI"/>
              </a:defRPr>
            </a:pPr>
            <a:r>
              <a:rPr kumimoji="0" sz="1100" b="0" i="0" u="none" strike="noStrike" kern="1200" cap="none" spc="0" normalizeH="0" baseline="0" noProof="0">
                <a:ln>
                  <a:noFill/>
                </a:ln>
                <a:solidFill>
                  <a:srgbClr val="8B949E"/>
                </a:solidFill>
                <a:effectLst/>
                <a:uLnTx/>
                <a:uFillTx/>
                <a:latin typeface="Segoe UI"/>
                <a:ea typeface="+mn-ea"/>
                <a:cs typeface="+mn-cs"/>
              </a:rPr>
              <a:t>OpenAI / Azure OpenAI</a:t>
            </a:r>
          </a:p>
        </p:txBody>
      </p:sp>
      <p:sp>
        <p:nvSpPr>
          <p:cNvPr id="33" name="Rounded Rectangle 32"/>
          <p:cNvSpPr/>
          <p:nvPr/>
        </p:nvSpPr>
        <p:spPr>
          <a:xfrm>
            <a:off x="8595360" y="3017520"/>
            <a:ext cx="3200400" cy="777240"/>
          </a:xfrm>
          <a:prstGeom prst="roundRect">
            <a:avLst>
              <a:gd name="adj" fmla="val 8000"/>
            </a:avLst>
          </a:prstGeom>
          <a:solidFill>
            <a:srgbClr val="161B22"/>
          </a:solidFill>
          <a:ln w="19050">
            <a:solidFill>
              <a:srgbClr val="BC8CFF"/>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4" name="TextBox 33"/>
          <p:cNvSpPr txBox="1"/>
          <p:nvPr/>
        </p:nvSpPr>
        <p:spPr>
          <a:xfrm>
            <a:off x="8732520" y="3063240"/>
            <a:ext cx="457200" cy="4572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200" b="0">
                <a:solidFill>
                  <a:srgbClr val="E6EDF3"/>
                </a:solidFill>
                <a:latin typeface="Segoe UI"/>
              </a:defRPr>
            </a:pPr>
            <a:r>
              <a:rPr kumimoji="0" sz="2200" b="0" i="0" u="none" strike="noStrike" kern="1200" cap="none" spc="0" normalizeH="0" baseline="0" noProof="0">
                <a:ln>
                  <a:noFill/>
                </a:ln>
                <a:solidFill>
                  <a:srgbClr val="E6EDF3"/>
                </a:solidFill>
                <a:effectLst/>
                <a:uLnTx/>
                <a:uFillTx/>
                <a:latin typeface="Segoe UI"/>
                <a:ea typeface="+mn-ea"/>
                <a:cs typeface="+mn-cs"/>
              </a:rPr>
              <a:t>🟣</a:t>
            </a:r>
          </a:p>
        </p:txBody>
      </p:sp>
      <p:sp>
        <p:nvSpPr>
          <p:cNvPr id="35" name="TextBox 34"/>
          <p:cNvSpPr txBox="1"/>
          <p:nvPr/>
        </p:nvSpPr>
        <p:spPr>
          <a:xfrm>
            <a:off x="9189720" y="3090672"/>
            <a:ext cx="2377440" cy="3200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300" b="1">
                <a:solidFill>
                  <a:srgbClr val="E6EDF3"/>
                </a:solidFill>
                <a:latin typeface="Segoe UI"/>
              </a:defRPr>
            </a:pPr>
            <a:r>
              <a:rPr kumimoji="0" sz="1300" b="1" i="0" u="none" strike="noStrike" kern="1200" cap="none" spc="0" normalizeH="0" baseline="0" noProof="0">
                <a:ln>
                  <a:noFill/>
                </a:ln>
                <a:solidFill>
                  <a:srgbClr val="E6EDF3"/>
                </a:solidFill>
                <a:effectLst/>
                <a:uLnTx/>
                <a:uFillTx/>
                <a:latin typeface="Segoe UI"/>
                <a:ea typeface="+mn-ea"/>
                <a:cs typeface="+mn-cs"/>
              </a:rPr>
              <a:t>Claude</a:t>
            </a:r>
          </a:p>
        </p:txBody>
      </p:sp>
      <p:sp>
        <p:nvSpPr>
          <p:cNvPr id="36" name="TextBox 35"/>
          <p:cNvSpPr txBox="1"/>
          <p:nvPr/>
        </p:nvSpPr>
        <p:spPr>
          <a:xfrm>
            <a:off x="9189720" y="3401568"/>
            <a:ext cx="2377440" cy="3200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00" b="0">
                <a:solidFill>
                  <a:srgbClr val="8B949E"/>
                </a:solidFill>
                <a:latin typeface="Segoe UI"/>
              </a:defRPr>
            </a:pPr>
            <a:r>
              <a:rPr kumimoji="0" sz="1100" b="0" i="0" u="none" strike="noStrike" kern="1200" cap="none" spc="0" normalizeH="0" baseline="0" noProof="0">
                <a:ln>
                  <a:noFill/>
                </a:ln>
                <a:solidFill>
                  <a:srgbClr val="8B949E"/>
                </a:solidFill>
                <a:effectLst/>
                <a:uLnTx/>
                <a:uFillTx/>
                <a:latin typeface="Segoe UI"/>
                <a:ea typeface="+mn-ea"/>
                <a:cs typeface="+mn-cs"/>
              </a:rPr>
              <a:t>Anthropic</a:t>
            </a:r>
          </a:p>
        </p:txBody>
      </p:sp>
      <p:sp>
        <p:nvSpPr>
          <p:cNvPr id="37" name="Rounded Rectangle 36"/>
          <p:cNvSpPr/>
          <p:nvPr/>
        </p:nvSpPr>
        <p:spPr>
          <a:xfrm>
            <a:off x="8595360" y="4023360"/>
            <a:ext cx="3200400" cy="777240"/>
          </a:xfrm>
          <a:prstGeom prst="roundRect">
            <a:avLst>
              <a:gd name="adj" fmla="val 8000"/>
            </a:avLst>
          </a:prstGeom>
          <a:solidFill>
            <a:srgbClr val="161B22"/>
          </a:solidFill>
          <a:ln w="19050">
            <a:solidFill>
              <a:srgbClr val="58A6FF"/>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8" name="TextBox 37"/>
          <p:cNvSpPr txBox="1"/>
          <p:nvPr/>
        </p:nvSpPr>
        <p:spPr>
          <a:xfrm>
            <a:off x="8732520" y="4069080"/>
            <a:ext cx="457200" cy="4572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200" b="0">
                <a:solidFill>
                  <a:srgbClr val="E6EDF3"/>
                </a:solidFill>
                <a:latin typeface="Segoe UI"/>
              </a:defRPr>
            </a:pPr>
            <a:r>
              <a:rPr kumimoji="0" sz="2200" b="0" i="0" u="none" strike="noStrike" kern="1200" cap="none" spc="0" normalizeH="0" baseline="0" noProof="0">
                <a:ln>
                  <a:noFill/>
                </a:ln>
                <a:solidFill>
                  <a:srgbClr val="E6EDF3"/>
                </a:solidFill>
                <a:effectLst/>
                <a:uLnTx/>
                <a:uFillTx/>
                <a:latin typeface="Segoe UI"/>
                <a:ea typeface="+mn-ea"/>
                <a:cs typeface="+mn-cs"/>
              </a:rPr>
              <a:t>🔵</a:t>
            </a:r>
          </a:p>
        </p:txBody>
      </p:sp>
      <p:sp>
        <p:nvSpPr>
          <p:cNvPr id="39" name="TextBox 38"/>
          <p:cNvSpPr txBox="1"/>
          <p:nvPr/>
        </p:nvSpPr>
        <p:spPr>
          <a:xfrm>
            <a:off x="9189720" y="4096512"/>
            <a:ext cx="2377440" cy="3200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300" b="1">
                <a:solidFill>
                  <a:srgbClr val="E6EDF3"/>
                </a:solidFill>
                <a:latin typeface="Segoe UI"/>
              </a:defRPr>
            </a:pPr>
            <a:r>
              <a:rPr kumimoji="0" sz="1300" b="1" i="0" u="none" strike="noStrike" kern="1200" cap="none" spc="0" normalizeH="0" baseline="0" noProof="0">
                <a:ln>
                  <a:noFill/>
                </a:ln>
                <a:solidFill>
                  <a:srgbClr val="E6EDF3"/>
                </a:solidFill>
                <a:effectLst/>
                <a:uLnTx/>
                <a:uFillTx/>
                <a:latin typeface="Segoe UI"/>
                <a:ea typeface="+mn-ea"/>
                <a:cs typeface="+mn-cs"/>
              </a:rPr>
              <a:t>Copilot</a:t>
            </a:r>
          </a:p>
        </p:txBody>
      </p:sp>
      <p:sp>
        <p:nvSpPr>
          <p:cNvPr id="40" name="TextBox 39"/>
          <p:cNvSpPr txBox="1"/>
          <p:nvPr/>
        </p:nvSpPr>
        <p:spPr>
          <a:xfrm>
            <a:off x="9189720" y="4407408"/>
            <a:ext cx="2377440" cy="26161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00" b="0">
                <a:solidFill>
                  <a:srgbClr val="8B949E"/>
                </a:solidFill>
                <a:latin typeface="Segoe UI"/>
              </a:defRPr>
            </a:pPr>
            <a:r>
              <a:rPr kumimoji="0" sz="1100" b="0" i="0" u="none" strike="noStrike" kern="1200" cap="none" spc="0" normalizeH="0" baseline="0" noProof="0" dirty="0">
                <a:ln>
                  <a:noFill/>
                </a:ln>
                <a:solidFill>
                  <a:srgbClr val="8B949E"/>
                </a:solidFill>
                <a:effectLst/>
                <a:uLnTx/>
                <a:uFillTx/>
                <a:latin typeface="Segoe UI"/>
                <a:ea typeface="+mn-ea"/>
                <a:cs typeface="+mn-cs"/>
              </a:rPr>
              <a:t>GitHub </a:t>
            </a:r>
            <a:r>
              <a:rPr kumimoji="0" lang="en-US" sz="1100" b="0" i="0" u="none" strike="noStrike" kern="1200" cap="none" spc="0" normalizeH="0" baseline="0" noProof="0" dirty="0">
                <a:ln>
                  <a:noFill/>
                </a:ln>
                <a:solidFill>
                  <a:srgbClr val="8B949E"/>
                </a:solidFill>
                <a:effectLst/>
                <a:uLnTx/>
                <a:uFillTx/>
                <a:latin typeface="Segoe UI"/>
                <a:ea typeface="+mn-ea"/>
                <a:cs typeface="+mn-cs"/>
              </a:rPr>
              <a:t>Copilot Chat</a:t>
            </a:r>
            <a:r>
              <a:rPr kumimoji="0" sz="1100" b="0" i="0" u="none" strike="noStrike" kern="1200" cap="none" spc="0" normalizeH="0" baseline="0" noProof="0" dirty="0">
                <a:ln>
                  <a:noFill/>
                </a:ln>
                <a:solidFill>
                  <a:srgbClr val="8B949E"/>
                </a:solidFill>
                <a:effectLst/>
                <a:uLnTx/>
                <a:uFillTx/>
                <a:latin typeface="Segoe UI"/>
                <a:ea typeface="+mn-ea"/>
                <a:cs typeface="+mn-cs"/>
              </a:rPr>
              <a:t>/ VS Code / CLI</a:t>
            </a:r>
          </a:p>
        </p:txBody>
      </p:sp>
      <p:sp>
        <p:nvSpPr>
          <p:cNvPr id="41" name="Rounded Rectangle 40"/>
          <p:cNvSpPr/>
          <p:nvPr/>
        </p:nvSpPr>
        <p:spPr>
          <a:xfrm>
            <a:off x="8595360" y="5029200"/>
            <a:ext cx="3200400" cy="777240"/>
          </a:xfrm>
          <a:prstGeom prst="roundRect">
            <a:avLst>
              <a:gd name="adj" fmla="val 8000"/>
            </a:avLst>
          </a:prstGeom>
          <a:solidFill>
            <a:srgbClr val="161B22"/>
          </a:solidFill>
          <a:ln w="19050">
            <a:solidFill>
              <a:srgbClr val="F0883E"/>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2" name="TextBox 41"/>
          <p:cNvSpPr txBox="1"/>
          <p:nvPr/>
        </p:nvSpPr>
        <p:spPr>
          <a:xfrm>
            <a:off x="8732520" y="5074920"/>
            <a:ext cx="457200" cy="4572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200" b="0">
                <a:solidFill>
                  <a:srgbClr val="E6EDF3"/>
                </a:solidFill>
                <a:latin typeface="Segoe UI"/>
              </a:defRPr>
            </a:pPr>
            <a:r>
              <a:rPr kumimoji="0" sz="2200" b="0" i="0" u="none" strike="noStrike" kern="1200" cap="none" spc="0" normalizeH="0" baseline="0" noProof="0">
                <a:ln>
                  <a:noFill/>
                </a:ln>
                <a:solidFill>
                  <a:srgbClr val="E6EDF3"/>
                </a:solidFill>
                <a:effectLst/>
                <a:uLnTx/>
                <a:uFillTx/>
                <a:latin typeface="Segoe UI"/>
                <a:ea typeface="+mn-ea"/>
                <a:cs typeface="+mn-cs"/>
              </a:rPr>
              <a:t>🟠</a:t>
            </a:r>
          </a:p>
        </p:txBody>
      </p:sp>
      <p:sp>
        <p:nvSpPr>
          <p:cNvPr id="43" name="TextBox 42"/>
          <p:cNvSpPr txBox="1"/>
          <p:nvPr/>
        </p:nvSpPr>
        <p:spPr>
          <a:xfrm>
            <a:off x="9189720" y="5102352"/>
            <a:ext cx="2377440" cy="3200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300" b="1">
                <a:solidFill>
                  <a:srgbClr val="E6EDF3"/>
                </a:solidFill>
                <a:latin typeface="Segoe UI"/>
              </a:defRPr>
            </a:pPr>
            <a:r>
              <a:rPr kumimoji="0" sz="1300" b="1" i="0" u="none" strike="noStrike" kern="1200" cap="none" spc="0" normalizeH="0" baseline="0" noProof="0">
                <a:ln>
                  <a:noFill/>
                </a:ln>
                <a:solidFill>
                  <a:srgbClr val="E6EDF3"/>
                </a:solidFill>
                <a:effectLst/>
                <a:uLnTx/>
                <a:uFillTx/>
                <a:latin typeface="Segoe UI"/>
                <a:ea typeface="+mn-ea"/>
                <a:cs typeface="+mn-cs"/>
              </a:rPr>
              <a:t>Gemini / Llama / etc.</a:t>
            </a:r>
          </a:p>
        </p:txBody>
      </p:sp>
      <p:sp>
        <p:nvSpPr>
          <p:cNvPr id="44" name="TextBox 43"/>
          <p:cNvSpPr txBox="1"/>
          <p:nvPr/>
        </p:nvSpPr>
        <p:spPr>
          <a:xfrm>
            <a:off x="9189720" y="5413248"/>
            <a:ext cx="2377440" cy="3200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00" b="0">
                <a:solidFill>
                  <a:srgbClr val="8B949E"/>
                </a:solidFill>
                <a:latin typeface="Segoe UI"/>
              </a:defRPr>
            </a:pPr>
            <a:r>
              <a:rPr kumimoji="0" sz="1100" b="0" i="0" u="none" strike="noStrike" kern="1200" cap="none" spc="0" normalizeH="0" baseline="0" noProof="0">
                <a:ln>
                  <a:noFill/>
                </a:ln>
                <a:solidFill>
                  <a:srgbClr val="8B949E"/>
                </a:solidFill>
                <a:effectLst/>
                <a:uLnTx/>
                <a:uFillTx/>
                <a:latin typeface="Segoe UI"/>
                <a:ea typeface="+mn-ea"/>
                <a:cs typeface="+mn-cs"/>
              </a:rPr>
              <a:t>Google / Meta / Open Source</a:t>
            </a:r>
          </a:p>
        </p:txBody>
      </p:sp>
      <p:sp>
        <p:nvSpPr>
          <p:cNvPr id="45" name="Rounded Rectangle 44"/>
          <p:cNvSpPr/>
          <p:nvPr/>
        </p:nvSpPr>
        <p:spPr>
          <a:xfrm>
            <a:off x="975207" y="5669280"/>
            <a:ext cx="2926080" cy="914400"/>
          </a:xfrm>
          <a:prstGeom prst="roundRect">
            <a:avLst>
              <a:gd name="adj" fmla="val 8000"/>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6" name="TextBox 45"/>
          <p:cNvSpPr txBox="1"/>
          <p:nvPr/>
        </p:nvSpPr>
        <p:spPr>
          <a:xfrm>
            <a:off x="975207" y="5715000"/>
            <a:ext cx="2926080" cy="36576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200" b="0">
                <a:solidFill>
                  <a:srgbClr val="E6EDF3"/>
                </a:solidFill>
                <a:latin typeface="Segoe UI"/>
              </a:defRPr>
            </a:pPr>
            <a:r>
              <a:rPr kumimoji="0" sz="2200" b="0" i="0" u="none" strike="noStrike" kern="1200" cap="none" spc="0" normalizeH="0" baseline="0" noProof="0">
                <a:ln>
                  <a:noFill/>
                </a:ln>
                <a:solidFill>
                  <a:srgbClr val="E6EDF3"/>
                </a:solidFill>
                <a:effectLst/>
                <a:uLnTx/>
                <a:uFillTx/>
                <a:latin typeface="Segoe UI"/>
                <a:ea typeface="+mn-ea"/>
                <a:cs typeface="+mn-cs"/>
              </a:rPr>
              <a:t>🔓</a:t>
            </a:r>
          </a:p>
        </p:txBody>
      </p:sp>
      <p:sp>
        <p:nvSpPr>
          <p:cNvPr id="47" name="TextBox 46"/>
          <p:cNvSpPr txBox="1"/>
          <p:nvPr/>
        </p:nvSpPr>
        <p:spPr>
          <a:xfrm>
            <a:off x="975207" y="6035040"/>
            <a:ext cx="2926080" cy="27432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300" b="1">
                <a:solidFill>
                  <a:srgbClr val="58A6FF"/>
                </a:solidFill>
                <a:latin typeface="Segoe UI"/>
              </a:defRPr>
            </a:pPr>
            <a:r>
              <a:rPr kumimoji="0" sz="1300" b="1" i="0" u="none" strike="noStrike" kern="1200" cap="none" spc="0" normalizeH="0" baseline="0" noProof="0">
                <a:ln>
                  <a:noFill/>
                </a:ln>
                <a:solidFill>
                  <a:srgbClr val="58A6FF"/>
                </a:solidFill>
                <a:effectLst/>
                <a:uLnTx/>
                <a:uFillTx/>
                <a:latin typeface="Segoe UI"/>
                <a:ea typeface="+mn-ea"/>
                <a:cs typeface="+mn-cs"/>
              </a:rPr>
              <a:t>No Vendor Lock-In</a:t>
            </a:r>
          </a:p>
        </p:txBody>
      </p:sp>
      <p:sp>
        <p:nvSpPr>
          <p:cNvPr id="48" name="TextBox 47"/>
          <p:cNvSpPr txBox="1"/>
          <p:nvPr/>
        </p:nvSpPr>
        <p:spPr>
          <a:xfrm>
            <a:off x="975206" y="6263640"/>
            <a:ext cx="3041847" cy="43088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100" b="0">
                <a:solidFill>
                  <a:srgbClr val="8B949E"/>
                </a:solidFill>
                <a:latin typeface="Segoe UI"/>
              </a:defRPr>
            </a:pPr>
            <a:r>
              <a:rPr kumimoji="0" sz="1100" b="0" i="0" u="none" strike="noStrike" kern="1200" cap="none" spc="0" normalizeH="0" baseline="0" noProof="0">
                <a:ln>
                  <a:noFill/>
                </a:ln>
                <a:solidFill>
                  <a:srgbClr val="8B949E"/>
                </a:solidFill>
                <a:effectLst/>
                <a:uLnTx/>
                <a:uFillTx/>
                <a:latin typeface="Segoe UI"/>
                <a:ea typeface="+mn-ea"/>
                <a:cs typeface="+mn-cs"/>
              </a:rPr>
              <a:t>Switch LLMs anytime —</a:t>
            </a:r>
            <a:br>
              <a:rPr kumimoji="0" sz="1100" b="0" i="0" u="none" strike="noStrike" kern="1200" cap="none" spc="0" normalizeH="0" baseline="0" noProof="0">
                <a:ln>
                  <a:noFill/>
                </a:ln>
                <a:solidFill>
                  <a:srgbClr val="8B949E"/>
                </a:solidFill>
                <a:effectLst/>
                <a:uLnTx/>
                <a:uFillTx/>
                <a:latin typeface="Segoe UI"/>
                <a:ea typeface="+mn-ea"/>
                <a:cs typeface="+mn-cs"/>
              </a:rPr>
            </a:br>
            <a:r>
              <a:rPr kumimoji="0" sz="1100" b="0" i="0" u="none" strike="noStrike" kern="1200" cap="none" spc="0" normalizeH="0" baseline="0" noProof="0">
                <a:ln>
                  <a:noFill/>
                </a:ln>
                <a:solidFill>
                  <a:srgbClr val="8B949E"/>
                </a:solidFill>
                <a:effectLst/>
                <a:uLnTx/>
                <a:uFillTx/>
                <a:latin typeface="Segoe UI"/>
                <a:ea typeface="+mn-ea"/>
                <a:cs typeface="+mn-cs"/>
              </a:rPr>
              <a:t>your skills still work</a:t>
            </a:r>
          </a:p>
        </p:txBody>
      </p:sp>
      <p:sp>
        <p:nvSpPr>
          <p:cNvPr id="49" name="Rounded Rectangle 48"/>
          <p:cNvSpPr/>
          <p:nvPr/>
        </p:nvSpPr>
        <p:spPr>
          <a:xfrm>
            <a:off x="4632807" y="5669280"/>
            <a:ext cx="2926080" cy="914400"/>
          </a:xfrm>
          <a:prstGeom prst="roundRect">
            <a:avLst>
              <a:gd name="adj" fmla="val 8000"/>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0" name="TextBox 49"/>
          <p:cNvSpPr txBox="1"/>
          <p:nvPr/>
        </p:nvSpPr>
        <p:spPr>
          <a:xfrm>
            <a:off x="4632807" y="5715000"/>
            <a:ext cx="2926080" cy="36576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200" b="0">
                <a:solidFill>
                  <a:srgbClr val="E6EDF3"/>
                </a:solidFill>
                <a:latin typeface="Segoe UI"/>
              </a:defRPr>
            </a:pPr>
            <a:r>
              <a:rPr kumimoji="0" sz="2200" b="0" i="0" u="none" strike="noStrike" kern="1200" cap="none" spc="0" normalizeH="0" baseline="0" noProof="0">
                <a:ln>
                  <a:noFill/>
                </a:ln>
                <a:solidFill>
                  <a:srgbClr val="E6EDF3"/>
                </a:solidFill>
                <a:effectLst/>
                <a:uLnTx/>
                <a:uFillTx/>
                <a:latin typeface="Segoe UI"/>
                <a:ea typeface="+mn-ea"/>
                <a:cs typeface="+mn-cs"/>
              </a:rPr>
              <a:t>🍴</a:t>
            </a:r>
          </a:p>
        </p:txBody>
      </p:sp>
      <p:sp>
        <p:nvSpPr>
          <p:cNvPr id="51" name="TextBox 50"/>
          <p:cNvSpPr txBox="1"/>
          <p:nvPr/>
        </p:nvSpPr>
        <p:spPr>
          <a:xfrm>
            <a:off x="4632807" y="6035040"/>
            <a:ext cx="2926080" cy="27432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300" b="1">
                <a:solidFill>
                  <a:srgbClr val="58A6FF"/>
                </a:solidFill>
                <a:latin typeface="Segoe UI"/>
              </a:defRPr>
            </a:pPr>
            <a:r>
              <a:rPr kumimoji="0" sz="1300" b="1" i="0" u="none" strike="noStrike" kern="1200" cap="none" spc="0" normalizeH="0" baseline="0" noProof="0">
                <a:ln>
                  <a:noFill/>
                </a:ln>
                <a:solidFill>
                  <a:srgbClr val="58A6FF"/>
                </a:solidFill>
                <a:effectLst/>
                <a:uLnTx/>
                <a:uFillTx/>
                <a:latin typeface="Segoe UI"/>
                <a:ea typeface="+mn-ea"/>
                <a:cs typeface="+mn-cs"/>
              </a:rPr>
              <a:t>Fork &amp; Customize</a:t>
            </a:r>
          </a:p>
        </p:txBody>
      </p:sp>
      <p:sp>
        <p:nvSpPr>
          <p:cNvPr id="52" name="TextBox 51"/>
          <p:cNvSpPr txBox="1"/>
          <p:nvPr/>
        </p:nvSpPr>
        <p:spPr>
          <a:xfrm>
            <a:off x="4632807" y="6263640"/>
            <a:ext cx="2926080" cy="36576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100" b="0">
                <a:solidFill>
                  <a:srgbClr val="8B949E"/>
                </a:solidFill>
                <a:latin typeface="Segoe UI"/>
              </a:defRPr>
            </a:pPr>
            <a:r>
              <a:rPr kumimoji="0" sz="1100" b="0" i="0" u="none" strike="noStrike" kern="1200" cap="none" spc="0" normalizeH="0" baseline="0" noProof="0">
                <a:ln>
                  <a:noFill/>
                </a:ln>
                <a:solidFill>
                  <a:srgbClr val="8B949E"/>
                </a:solidFill>
                <a:effectLst/>
                <a:uLnTx/>
                <a:uFillTx/>
                <a:latin typeface="Segoe UI"/>
                <a:ea typeface="+mn-ea"/>
                <a:cs typeface="+mn-cs"/>
              </a:rPr>
              <a:t>Clone the repo, edit the</a:t>
            </a:r>
            <a:br>
              <a:rPr kumimoji="0" sz="1100" b="0" i="0" u="none" strike="noStrike" kern="1200" cap="none" spc="0" normalizeH="0" baseline="0" noProof="0">
                <a:ln>
                  <a:noFill/>
                </a:ln>
                <a:solidFill>
                  <a:srgbClr val="8B949E"/>
                </a:solidFill>
                <a:effectLst/>
                <a:uLnTx/>
                <a:uFillTx/>
                <a:latin typeface="Segoe UI"/>
                <a:ea typeface="+mn-ea"/>
                <a:cs typeface="+mn-cs"/>
              </a:rPr>
            </a:br>
            <a:r>
              <a:rPr kumimoji="0" sz="1100" b="0" i="0" u="none" strike="noStrike" kern="1200" cap="none" spc="0" normalizeH="0" baseline="0" noProof="0">
                <a:ln>
                  <a:noFill/>
                </a:ln>
                <a:solidFill>
                  <a:srgbClr val="8B949E"/>
                </a:solidFill>
                <a:effectLst/>
                <a:uLnTx/>
                <a:uFillTx/>
                <a:latin typeface="Segoe UI"/>
                <a:ea typeface="+mn-ea"/>
                <a:cs typeface="+mn-cs"/>
              </a:rPr>
              <a:t>markdown, make it yours</a:t>
            </a:r>
          </a:p>
        </p:txBody>
      </p:sp>
      <p:sp>
        <p:nvSpPr>
          <p:cNvPr id="53" name="Rounded Rectangle 52"/>
          <p:cNvSpPr/>
          <p:nvPr/>
        </p:nvSpPr>
        <p:spPr>
          <a:xfrm>
            <a:off x="8290407" y="5669280"/>
            <a:ext cx="2926080" cy="914400"/>
          </a:xfrm>
          <a:prstGeom prst="roundRect">
            <a:avLst>
              <a:gd name="adj" fmla="val 8000"/>
            </a:avLst>
          </a:prstGeom>
          <a:solidFill>
            <a:srgbClr val="161B22"/>
          </a:solidFill>
          <a:ln w="19050">
            <a:solidFill>
              <a:srgbClr val="30363D"/>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4" name="TextBox 53"/>
          <p:cNvSpPr txBox="1"/>
          <p:nvPr/>
        </p:nvSpPr>
        <p:spPr>
          <a:xfrm>
            <a:off x="8290407" y="5715000"/>
            <a:ext cx="2926080" cy="36576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200" b="0">
                <a:solidFill>
                  <a:srgbClr val="E6EDF3"/>
                </a:solidFill>
                <a:latin typeface="Segoe UI"/>
              </a:defRPr>
            </a:pPr>
            <a:r>
              <a:rPr kumimoji="0" sz="2200" b="0" i="0" u="none" strike="noStrike" kern="1200" cap="none" spc="0" normalizeH="0" baseline="0" noProof="0">
                <a:ln>
                  <a:noFill/>
                </a:ln>
                <a:solidFill>
                  <a:srgbClr val="E6EDF3"/>
                </a:solidFill>
                <a:effectLst/>
                <a:uLnTx/>
                <a:uFillTx/>
                <a:latin typeface="Segoe UI"/>
                <a:ea typeface="+mn-ea"/>
                <a:cs typeface="+mn-cs"/>
              </a:rPr>
              <a:t>🌐</a:t>
            </a:r>
          </a:p>
        </p:txBody>
      </p:sp>
      <p:sp>
        <p:nvSpPr>
          <p:cNvPr id="55" name="TextBox 54"/>
          <p:cNvSpPr txBox="1"/>
          <p:nvPr/>
        </p:nvSpPr>
        <p:spPr>
          <a:xfrm>
            <a:off x="8290407" y="6035040"/>
            <a:ext cx="2926080" cy="27432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300" b="1">
                <a:solidFill>
                  <a:srgbClr val="58A6FF"/>
                </a:solidFill>
                <a:latin typeface="Segoe UI"/>
              </a:defRPr>
            </a:pPr>
            <a:r>
              <a:rPr kumimoji="0" sz="1300" b="1" i="0" u="none" strike="noStrike" kern="1200" cap="none" spc="0" normalizeH="0" baseline="0" noProof="0">
                <a:ln>
                  <a:noFill/>
                </a:ln>
                <a:solidFill>
                  <a:srgbClr val="58A6FF"/>
                </a:solidFill>
                <a:effectLst/>
                <a:uLnTx/>
                <a:uFillTx/>
                <a:latin typeface="Segoe UI"/>
                <a:ea typeface="+mn-ea"/>
                <a:cs typeface="+mn-cs"/>
              </a:rPr>
              <a:t>Open Source</a:t>
            </a:r>
          </a:p>
        </p:txBody>
      </p:sp>
      <p:sp>
        <p:nvSpPr>
          <p:cNvPr id="56" name="TextBox 55"/>
          <p:cNvSpPr txBox="1"/>
          <p:nvPr/>
        </p:nvSpPr>
        <p:spPr>
          <a:xfrm>
            <a:off x="8290406" y="6263640"/>
            <a:ext cx="3041847" cy="43088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100" b="0">
                <a:solidFill>
                  <a:srgbClr val="8B949E"/>
                </a:solidFill>
                <a:latin typeface="Segoe UI"/>
              </a:defRPr>
            </a:pPr>
            <a:r>
              <a:rPr kumimoji="0" sz="1100" b="0" i="0" u="none" strike="noStrike" kern="1200" cap="none" spc="0" normalizeH="0" baseline="0" noProof="0">
                <a:ln>
                  <a:noFill/>
                </a:ln>
                <a:solidFill>
                  <a:srgbClr val="8B949E"/>
                </a:solidFill>
                <a:effectLst/>
                <a:uLnTx/>
                <a:uFillTx/>
                <a:latin typeface="Segoe UI"/>
                <a:ea typeface="+mn-ea"/>
                <a:cs typeface="+mn-cs"/>
              </a:rPr>
              <a:t>MIT licensed on GitHub</a:t>
            </a:r>
            <a:br>
              <a:rPr kumimoji="0" sz="1100" b="0" i="0" u="none" strike="noStrike" kern="1200" cap="none" spc="0" normalizeH="0" baseline="0" noProof="0">
                <a:ln>
                  <a:noFill/>
                </a:ln>
                <a:solidFill>
                  <a:srgbClr val="8B949E"/>
                </a:solidFill>
                <a:effectLst/>
                <a:uLnTx/>
                <a:uFillTx/>
                <a:latin typeface="Segoe UI"/>
                <a:ea typeface="+mn-ea"/>
                <a:cs typeface="+mn-cs"/>
              </a:rPr>
            </a:br>
            <a:r>
              <a:rPr kumimoji="0" sz="1100" b="0" i="0" u="none" strike="noStrike" kern="1200" cap="none" spc="0" normalizeH="0" baseline="0" noProof="0">
                <a:ln>
                  <a:noFill/>
                </a:ln>
                <a:solidFill>
                  <a:srgbClr val="8B949E"/>
                </a:solidFill>
                <a:effectLst/>
                <a:uLnTx/>
                <a:uFillTx/>
                <a:latin typeface="Segoe UI"/>
                <a:ea typeface="+mn-ea"/>
                <a:cs typeface="+mn-cs"/>
              </a:rPr>
              <a:t>free for everyone</a:t>
            </a:r>
          </a:p>
        </p:txBody>
      </p:sp>
      <p:sp>
        <p:nvSpPr>
          <p:cNvPr id="58" name="TextBox 57">
            <a:extLst>
              <a:ext uri="{FF2B5EF4-FFF2-40B4-BE49-F238E27FC236}">
                <a16:creationId xmlns:a16="http://schemas.microsoft.com/office/drawing/2014/main" id="{16014900-3875-6E21-78A1-6E94887EE38D}"/>
              </a:ext>
            </a:extLst>
          </p:cNvPr>
          <p:cNvSpPr txBox="1"/>
          <p:nvPr/>
        </p:nvSpPr>
        <p:spPr>
          <a:xfrm rot="10800000" flipH="1" flipV="1">
            <a:off x="0" y="192545"/>
            <a:ext cx="3901287" cy="338554"/>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Calibri"/>
                <a:ea typeface="+mn-ea"/>
                <a:cs typeface="+mn-cs"/>
              </a:rPr>
              <a:t>Aka.ms/</a:t>
            </a:r>
            <a:r>
              <a:rPr kumimoji="0" lang="en-US" sz="1600" b="0" i="0" u="none" strike="noStrike" kern="1200" cap="none" spc="0" normalizeH="0" baseline="0" noProof="0" dirty="0" err="1">
                <a:ln>
                  <a:noFill/>
                </a:ln>
                <a:solidFill>
                  <a:prstClr val="white"/>
                </a:solidFill>
                <a:effectLst/>
                <a:uLnTx/>
                <a:uFillTx/>
                <a:latin typeface="Calibri"/>
                <a:ea typeface="+mn-ea"/>
                <a:cs typeface="+mn-cs"/>
              </a:rPr>
              <a:t>feedbackanalyzer</a:t>
            </a:r>
            <a:endParaRPr kumimoji="0" lang="en-US" sz="1600" b="0" i="0" u="none" strike="noStrike" kern="1200" cap="none" spc="0" normalizeH="0" baseline="0" noProof="0" dirty="0">
              <a:ln>
                <a:noFill/>
              </a:ln>
              <a:solidFill>
                <a:prstClr val="white"/>
              </a:solidFill>
              <a:effectLst/>
              <a:uLnTx/>
              <a:uFillTx/>
              <a:latin typeface="Calibri"/>
              <a:ea typeface="+mn-ea"/>
              <a:cs typeface="+mn-c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TextBox 1"/>
          <p:cNvSpPr txBox="1"/>
          <p:nvPr/>
        </p:nvSpPr>
        <p:spPr>
          <a:xfrm>
            <a:off x="457200" y="182880"/>
            <a:ext cx="11247120" cy="54864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6EDF3"/>
                </a:solidFill>
                <a:latin typeface="Segoe UI"/>
              </a:defRPr>
            </a:pPr>
            <a:r>
              <a:rPr kumimoji="0" sz="2800" b="1" i="0" u="none" strike="noStrike" kern="1200" cap="none" spc="0" normalizeH="0" baseline="0" noProof="0">
                <a:ln>
                  <a:noFill/>
                </a:ln>
                <a:solidFill>
                  <a:srgbClr val="E6EDF3"/>
                </a:solidFill>
                <a:effectLst/>
                <a:uLnTx/>
                <a:uFillTx/>
                <a:latin typeface="Segoe UI"/>
                <a:ea typeface="+mn-ea"/>
                <a:cs typeface="+mn-cs"/>
              </a:rPr>
              <a:t>Key Takeaway</a:t>
            </a:r>
          </a:p>
        </p:txBody>
      </p:sp>
      <p:sp>
        <p:nvSpPr>
          <p:cNvPr id="3" name="TextBox 2"/>
          <p:cNvSpPr txBox="1"/>
          <p:nvPr/>
        </p:nvSpPr>
        <p:spPr>
          <a:xfrm>
            <a:off x="1371600" y="731520"/>
            <a:ext cx="9418320" cy="36576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500" b="0">
                <a:solidFill>
                  <a:srgbClr val="8B949E"/>
                </a:solidFill>
                <a:latin typeface="Segoe UI"/>
              </a:defRPr>
            </a:pPr>
            <a:r>
              <a:rPr kumimoji="0" sz="1500" b="0" i="0" u="none" strike="noStrike" kern="1200" cap="none" spc="0" normalizeH="0" baseline="0" noProof="0">
                <a:ln>
                  <a:noFill/>
                </a:ln>
                <a:solidFill>
                  <a:srgbClr val="8B949E"/>
                </a:solidFill>
                <a:effectLst/>
                <a:uLnTx/>
                <a:uFillTx/>
                <a:latin typeface="Segoe UI"/>
                <a:ea typeface="+mn-ea"/>
                <a:cs typeface="+mn-cs"/>
              </a:rPr>
              <a:t>From manual notes and memory → to structured, AI-powered analysis at scale</a:t>
            </a:r>
          </a:p>
        </p:txBody>
      </p:sp>
      <p:sp>
        <p:nvSpPr>
          <p:cNvPr id="4" name="Rectangle 3"/>
          <p:cNvSpPr/>
          <p:nvPr/>
        </p:nvSpPr>
        <p:spPr>
          <a:xfrm>
            <a:off x="6086246" y="1280160"/>
            <a:ext cx="18288" cy="4389120"/>
          </a:xfrm>
          <a:prstGeom prst="rect">
            <a:avLst/>
          </a:prstGeom>
          <a:solidFill>
            <a:srgbClr val="3036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457200" y="1371600"/>
            <a:ext cx="5303520" cy="36576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85149"/>
                </a:solidFill>
                <a:latin typeface="Segoe UI"/>
              </a:defRPr>
            </a:pPr>
            <a:r>
              <a:rPr kumimoji="0" sz="1600" b="1" i="0" u="none" strike="noStrike" kern="1200" cap="none" spc="0" normalizeH="0" baseline="0" noProof="0">
                <a:ln>
                  <a:noFill/>
                </a:ln>
                <a:solidFill>
                  <a:srgbClr val="F85149"/>
                </a:solidFill>
                <a:effectLst/>
                <a:uLnTx/>
                <a:uFillTx/>
                <a:latin typeface="Segoe UI"/>
                <a:ea typeface="+mn-ea"/>
                <a:cs typeface="+mn-cs"/>
              </a:rPr>
              <a:t>❌  BEFORE</a:t>
            </a:r>
          </a:p>
        </p:txBody>
      </p:sp>
      <p:sp>
        <p:nvSpPr>
          <p:cNvPr id="6" name="TextBox 5"/>
          <p:cNvSpPr txBox="1"/>
          <p:nvPr/>
        </p:nvSpPr>
        <p:spPr>
          <a:xfrm>
            <a:off x="6400800" y="1371600"/>
            <a:ext cx="5303520" cy="36576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3FB950"/>
                </a:solidFill>
                <a:latin typeface="Segoe UI"/>
              </a:defRPr>
            </a:pPr>
            <a:r>
              <a:rPr kumimoji="0" sz="1600" b="1" i="0" u="none" strike="noStrike" kern="1200" cap="none" spc="0" normalizeH="0" baseline="0" noProof="0">
                <a:ln>
                  <a:noFill/>
                </a:ln>
                <a:solidFill>
                  <a:srgbClr val="3FB950"/>
                </a:solidFill>
                <a:effectLst/>
                <a:uLnTx/>
                <a:uFillTx/>
                <a:latin typeface="Segoe UI"/>
                <a:ea typeface="+mn-ea"/>
                <a:cs typeface="+mn-cs"/>
              </a:rPr>
              <a:t>✅  AFTER</a:t>
            </a:r>
          </a:p>
        </p:txBody>
      </p:sp>
      <p:sp>
        <p:nvSpPr>
          <p:cNvPr id="7" name="Rounded Rectangle 6"/>
          <p:cNvSpPr/>
          <p:nvPr/>
        </p:nvSpPr>
        <p:spPr>
          <a:xfrm>
            <a:off x="548640" y="1920240"/>
            <a:ext cx="5120640" cy="777240"/>
          </a:xfrm>
          <a:prstGeom prst="roundRect">
            <a:avLst>
              <a:gd name="adj" fmla="val 6000"/>
            </a:avLst>
          </a:prstGeom>
          <a:solidFill>
            <a:srgbClr val="161B22"/>
          </a:solidFill>
          <a:ln w="19050">
            <a:solidFill>
              <a:srgbClr val="482828"/>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TextBox 7"/>
          <p:cNvSpPr txBox="1"/>
          <p:nvPr/>
        </p:nvSpPr>
        <p:spPr>
          <a:xfrm>
            <a:off x="822960" y="2057400"/>
            <a:ext cx="4572000" cy="594359"/>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200" b="0">
                <a:solidFill>
                  <a:srgbClr val="C99B9B"/>
                </a:solidFill>
                <a:latin typeface="Segoe UI"/>
              </a:defRPr>
            </a:pPr>
            <a:r>
              <a:rPr kumimoji="0" sz="1200" b="0" i="0" u="none" strike="noStrike" kern="1200" cap="none" spc="0" normalizeH="0" baseline="0" noProof="0">
                <a:ln>
                  <a:noFill/>
                </a:ln>
                <a:solidFill>
                  <a:srgbClr val="C99B9B"/>
                </a:solidFill>
                <a:effectLst/>
                <a:uLnTx/>
                <a:uFillTx/>
                <a:latin typeface="Segoe UI"/>
                <a:ea typeface="+mn-ea"/>
                <a:cs typeface="+mn-cs"/>
              </a:rPr>
              <a:t>Scattered OneNote, Teams, memory</a:t>
            </a:r>
          </a:p>
        </p:txBody>
      </p:sp>
      <p:sp>
        <p:nvSpPr>
          <p:cNvPr id="9" name="Rounded Rectangle 8"/>
          <p:cNvSpPr/>
          <p:nvPr/>
        </p:nvSpPr>
        <p:spPr>
          <a:xfrm>
            <a:off x="6492240" y="1920240"/>
            <a:ext cx="5120640" cy="777240"/>
          </a:xfrm>
          <a:prstGeom prst="roundRect">
            <a:avLst>
              <a:gd name="adj" fmla="val 6000"/>
            </a:avLst>
          </a:prstGeom>
          <a:solidFill>
            <a:srgbClr val="161B22"/>
          </a:solidFill>
          <a:ln w="19050">
            <a:solidFill>
              <a:srgbClr val="1F402B"/>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0" name="TextBox 9"/>
          <p:cNvSpPr txBox="1"/>
          <p:nvPr/>
        </p:nvSpPr>
        <p:spPr>
          <a:xfrm>
            <a:off x="6766560" y="2057400"/>
            <a:ext cx="4572000" cy="594359"/>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200" b="0">
                <a:solidFill>
                  <a:srgbClr val="A3D9A5"/>
                </a:solidFill>
                <a:latin typeface="Segoe UI"/>
              </a:defRPr>
            </a:pPr>
            <a:r>
              <a:rPr kumimoji="0" sz="1200" b="0" i="0" u="none" strike="noStrike" kern="1200" cap="none" spc="0" normalizeH="0" baseline="0" noProof="0">
                <a:ln>
                  <a:noFill/>
                </a:ln>
                <a:solidFill>
                  <a:srgbClr val="A3D9A5"/>
                </a:solidFill>
                <a:effectLst/>
                <a:uLnTx/>
                <a:uFillTx/>
                <a:latin typeface="Segoe UI"/>
                <a:ea typeface="+mn-ea"/>
                <a:cs typeface="+mn-cs"/>
              </a:rPr>
              <a:t>Single structured report across all customers</a:t>
            </a:r>
          </a:p>
        </p:txBody>
      </p:sp>
      <p:sp>
        <p:nvSpPr>
          <p:cNvPr id="11" name="Rounded Rectangle 10"/>
          <p:cNvSpPr/>
          <p:nvPr/>
        </p:nvSpPr>
        <p:spPr>
          <a:xfrm>
            <a:off x="548640" y="2807208"/>
            <a:ext cx="5120640" cy="777240"/>
          </a:xfrm>
          <a:prstGeom prst="roundRect">
            <a:avLst>
              <a:gd name="adj" fmla="val 6000"/>
            </a:avLst>
          </a:prstGeom>
          <a:solidFill>
            <a:srgbClr val="161B22"/>
          </a:solidFill>
          <a:ln w="19050">
            <a:solidFill>
              <a:srgbClr val="482828"/>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TextBox 11"/>
          <p:cNvSpPr txBox="1"/>
          <p:nvPr/>
        </p:nvSpPr>
        <p:spPr>
          <a:xfrm>
            <a:off x="822960" y="2944368"/>
            <a:ext cx="4572000" cy="594359"/>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200" b="0">
                <a:solidFill>
                  <a:srgbClr val="C99B9B"/>
                </a:solidFill>
                <a:latin typeface="Segoe UI"/>
              </a:defRPr>
            </a:pPr>
            <a:r>
              <a:rPr kumimoji="0" sz="1200" b="0" i="0" u="none" strike="noStrike" kern="1200" cap="none" spc="0" normalizeH="0" baseline="0" noProof="0">
                <a:ln>
                  <a:noFill/>
                </a:ln>
                <a:solidFill>
                  <a:srgbClr val="C99B9B"/>
                </a:solidFill>
                <a:effectLst/>
                <a:uLnTx/>
                <a:uFillTx/>
                <a:latin typeface="Segoe UI"/>
                <a:ea typeface="+mn-ea"/>
                <a:cs typeface="+mn-cs"/>
              </a:rPr>
              <a:t>Feature requests lost or forgotten</a:t>
            </a:r>
          </a:p>
        </p:txBody>
      </p:sp>
      <p:sp>
        <p:nvSpPr>
          <p:cNvPr id="13" name="Rounded Rectangle 12"/>
          <p:cNvSpPr/>
          <p:nvPr/>
        </p:nvSpPr>
        <p:spPr>
          <a:xfrm>
            <a:off x="6492240" y="2807208"/>
            <a:ext cx="5120640" cy="777240"/>
          </a:xfrm>
          <a:prstGeom prst="roundRect">
            <a:avLst>
              <a:gd name="adj" fmla="val 6000"/>
            </a:avLst>
          </a:prstGeom>
          <a:solidFill>
            <a:srgbClr val="161B22"/>
          </a:solidFill>
          <a:ln w="19050">
            <a:solidFill>
              <a:srgbClr val="1F402B"/>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4" name="TextBox 13"/>
          <p:cNvSpPr txBox="1"/>
          <p:nvPr/>
        </p:nvSpPr>
        <p:spPr>
          <a:xfrm>
            <a:off x="6766560" y="2944368"/>
            <a:ext cx="4572000" cy="594359"/>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200" b="0">
                <a:solidFill>
                  <a:srgbClr val="A3D9A5"/>
                </a:solidFill>
                <a:latin typeface="Segoe UI"/>
              </a:defRPr>
            </a:pPr>
            <a:r>
              <a:rPr kumimoji="0" sz="1200" b="0" i="0" u="none" strike="noStrike" kern="1200" cap="none" spc="0" normalizeH="0" baseline="0" noProof="0">
                <a:ln>
                  <a:noFill/>
                </a:ln>
                <a:solidFill>
                  <a:srgbClr val="A3D9A5"/>
                </a:solidFill>
                <a:effectLst/>
                <a:uLnTx/>
                <a:uFillTx/>
                <a:latin typeface="Segoe UI"/>
                <a:ea typeface="+mn-ea"/>
                <a:cs typeface="+mn-cs"/>
              </a:rPr>
              <a:t>Ranked by demand count with customer quotes</a:t>
            </a:r>
          </a:p>
        </p:txBody>
      </p:sp>
      <p:sp>
        <p:nvSpPr>
          <p:cNvPr id="15" name="Rounded Rectangle 14"/>
          <p:cNvSpPr/>
          <p:nvPr/>
        </p:nvSpPr>
        <p:spPr>
          <a:xfrm>
            <a:off x="548640" y="3694176"/>
            <a:ext cx="5120640" cy="777240"/>
          </a:xfrm>
          <a:prstGeom prst="roundRect">
            <a:avLst>
              <a:gd name="adj" fmla="val 6000"/>
            </a:avLst>
          </a:prstGeom>
          <a:solidFill>
            <a:srgbClr val="161B22"/>
          </a:solidFill>
          <a:ln w="19050">
            <a:solidFill>
              <a:srgbClr val="482828"/>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6" name="TextBox 15"/>
          <p:cNvSpPr txBox="1"/>
          <p:nvPr/>
        </p:nvSpPr>
        <p:spPr>
          <a:xfrm>
            <a:off x="822960" y="3831336"/>
            <a:ext cx="4572000" cy="594359"/>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200" b="0">
                <a:solidFill>
                  <a:srgbClr val="C99B9B"/>
                </a:solidFill>
                <a:latin typeface="Segoe UI"/>
              </a:defRPr>
            </a:pPr>
            <a:r>
              <a:rPr kumimoji="0" sz="1200" b="0" i="0" u="none" strike="noStrike" kern="1200" cap="none" spc="0" normalizeH="0" baseline="0" noProof="0">
                <a:ln>
                  <a:noFill/>
                </a:ln>
                <a:solidFill>
                  <a:srgbClr val="C99B9B"/>
                </a:solidFill>
                <a:effectLst/>
                <a:uLnTx/>
                <a:uFillTx/>
                <a:latin typeface="Segoe UI"/>
                <a:ea typeface="+mn-ea"/>
                <a:cs typeface="+mn-cs"/>
              </a:rPr>
              <a:t>Same bug reported 3x before</a:t>
            </a:r>
            <a:br>
              <a:rPr kumimoji="0" sz="1200" b="0" i="0" u="none" strike="noStrike" kern="1200" cap="none" spc="0" normalizeH="0" baseline="0" noProof="0">
                <a:ln>
                  <a:noFill/>
                </a:ln>
                <a:solidFill>
                  <a:srgbClr val="C99B9B"/>
                </a:solidFill>
                <a:effectLst/>
                <a:uLnTx/>
                <a:uFillTx/>
                <a:latin typeface="Segoe UI"/>
                <a:ea typeface="+mn-ea"/>
                <a:cs typeface="+mn-cs"/>
              </a:rPr>
            </a:br>
            <a:r>
              <a:rPr kumimoji="0" sz="1200" b="0" i="0" u="none" strike="noStrike" kern="1200" cap="none" spc="0" normalizeH="0" baseline="0" noProof="0">
                <a:ln>
                  <a:noFill/>
                </a:ln>
                <a:solidFill>
                  <a:srgbClr val="C99B9B"/>
                </a:solidFill>
                <a:effectLst/>
                <a:uLnTx/>
                <a:uFillTx/>
                <a:latin typeface="Segoe UI"/>
                <a:ea typeface="+mn-ea"/>
                <a:cs typeface="+mn-cs"/>
              </a:rPr>
              <a:t>anyone notices the pattern</a:t>
            </a:r>
          </a:p>
        </p:txBody>
      </p:sp>
      <p:sp>
        <p:nvSpPr>
          <p:cNvPr id="17" name="Rounded Rectangle 16"/>
          <p:cNvSpPr/>
          <p:nvPr/>
        </p:nvSpPr>
        <p:spPr>
          <a:xfrm>
            <a:off x="6492240" y="3694176"/>
            <a:ext cx="5120640" cy="777240"/>
          </a:xfrm>
          <a:prstGeom prst="roundRect">
            <a:avLst>
              <a:gd name="adj" fmla="val 6000"/>
            </a:avLst>
          </a:prstGeom>
          <a:solidFill>
            <a:srgbClr val="161B22"/>
          </a:solidFill>
          <a:ln w="19050">
            <a:solidFill>
              <a:srgbClr val="1F402B"/>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8" name="TextBox 17"/>
          <p:cNvSpPr txBox="1"/>
          <p:nvPr/>
        </p:nvSpPr>
        <p:spPr>
          <a:xfrm>
            <a:off x="6766560" y="3831336"/>
            <a:ext cx="4572000" cy="594359"/>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200" b="0">
                <a:solidFill>
                  <a:srgbClr val="A3D9A5"/>
                </a:solidFill>
                <a:latin typeface="Segoe UI"/>
              </a:defRPr>
            </a:pPr>
            <a:r>
              <a:rPr kumimoji="0" sz="1200" b="0" i="0" u="none" strike="noStrike" kern="1200" cap="none" spc="0" normalizeH="0" baseline="0" noProof="0">
                <a:ln>
                  <a:noFill/>
                </a:ln>
                <a:solidFill>
                  <a:srgbClr val="A3D9A5"/>
                </a:solidFill>
                <a:effectLst/>
                <a:uLnTx/>
                <a:uFillTx/>
                <a:latin typeface="Segoe UI"/>
                <a:ea typeface="+mn-ea"/>
                <a:cs typeface="+mn-cs"/>
              </a:rPr>
              <a:t>Patterns auto-detected across meetings</a:t>
            </a:r>
          </a:p>
        </p:txBody>
      </p:sp>
      <p:sp>
        <p:nvSpPr>
          <p:cNvPr id="19" name="Rounded Rectangle 18"/>
          <p:cNvSpPr/>
          <p:nvPr/>
        </p:nvSpPr>
        <p:spPr>
          <a:xfrm>
            <a:off x="548640" y="4581144"/>
            <a:ext cx="5120640" cy="777240"/>
          </a:xfrm>
          <a:prstGeom prst="roundRect">
            <a:avLst>
              <a:gd name="adj" fmla="val 6000"/>
            </a:avLst>
          </a:prstGeom>
          <a:solidFill>
            <a:srgbClr val="161B22"/>
          </a:solidFill>
          <a:ln w="19050">
            <a:solidFill>
              <a:srgbClr val="482828"/>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0" name="TextBox 19"/>
          <p:cNvSpPr txBox="1"/>
          <p:nvPr/>
        </p:nvSpPr>
        <p:spPr>
          <a:xfrm>
            <a:off x="822960" y="4718304"/>
            <a:ext cx="4572000" cy="594359"/>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200" b="0">
                <a:solidFill>
                  <a:srgbClr val="C99B9B"/>
                </a:solidFill>
                <a:latin typeface="Segoe UI"/>
              </a:defRPr>
            </a:pPr>
            <a:r>
              <a:rPr kumimoji="0" sz="1200" b="0" i="0" u="none" strike="noStrike" kern="1200" cap="none" spc="0" normalizeH="0" baseline="0" noProof="0">
                <a:ln>
                  <a:noFill/>
                </a:ln>
                <a:solidFill>
                  <a:srgbClr val="C99B9B"/>
                </a:solidFill>
                <a:effectLst/>
                <a:uLnTx/>
                <a:uFillTx/>
                <a:latin typeface="Segoe UI"/>
                <a:ea typeface="+mn-ea"/>
                <a:cs typeface="+mn-cs"/>
              </a:rPr>
              <a:t>Weeks to connect dots</a:t>
            </a:r>
            <a:br>
              <a:rPr kumimoji="0" sz="1200" b="0" i="0" u="none" strike="noStrike" kern="1200" cap="none" spc="0" normalizeH="0" baseline="0" noProof="0">
                <a:ln>
                  <a:noFill/>
                </a:ln>
                <a:solidFill>
                  <a:srgbClr val="C99B9B"/>
                </a:solidFill>
                <a:effectLst/>
                <a:uLnTx/>
                <a:uFillTx/>
                <a:latin typeface="Segoe UI"/>
                <a:ea typeface="+mn-ea"/>
                <a:cs typeface="+mn-cs"/>
              </a:rPr>
            </a:br>
            <a:r>
              <a:rPr kumimoji="0" sz="1200" b="0" i="0" u="none" strike="noStrike" kern="1200" cap="none" spc="0" normalizeH="0" baseline="0" noProof="0">
                <a:ln>
                  <a:noFill/>
                </a:ln>
                <a:solidFill>
                  <a:srgbClr val="C99B9B"/>
                </a:solidFill>
                <a:effectLst/>
                <a:uLnTx/>
                <a:uFillTx/>
                <a:latin typeface="Segoe UI"/>
                <a:ea typeface="+mn-ea"/>
                <a:cs typeface="+mn-cs"/>
              </a:rPr>
              <a:t>across customers</a:t>
            </a:r>
          </a:p>
        </p:txBody>
      </p:sp>
      <p:sp>
        <p:nvSpPr>
          <p:cNvPr id="21" name="Rounded Rectangle 20"/>
          <p:cNvSpPr/>
          <p:nvPr/>
        </p:nvSpPr>
        <p:spPr>
          <a:xfrm>
            <a:off x="6492240" y="4581144"/>
            <a:ext cx="5120640" cy="777240"/>
          </a:xfrm>
          <a:prstGeom prst="roundRect">
            <a:avLst>
              <a:gd name="adj" fmla="val 6000"/>
            </a:avLst>
          </a:prstGeom>
          <a:solidFill>
            <a:srgbClr val="161B22"/>
          </a:solidFill>
          <a:ln w="19050">
            <a:solidFill>
              <a:srgbClr val="1F402B"/>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2" name="TextBox 21"/>
          <p:cNvSpPr txBox="1"/>
          <p:nvPr/>
        </p:nvSpPr>
        <p:spPr>
          <a:xfrm>
            <a:off x="6766560" y="4718304"/>
            <a:ext cx="4572000" cy="594359"/>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200" b="0">
                <a:solidFill>
                  <a:srgbClr val="A3D9A5"/>
                </a:solidFill>
                <a:latin typeface="Segoe UI"/>
              </a:defRPr>
            </a:pPr>
            <a:r>
              <a:rPr kumimoji="0" sz="1200" b="0" i="0" u="none" strike="noStrike" kern="1200" cap="none" spc="0" normalizeH="0" baseline="0" noProof="0">
                <a:ln>
                  <a:noFill/>
                </a:ln>
                <a:solidFill>
                  <a:srgbClr val="A3D9A5"/>
                </a:solidFill>
                <a:effectLst/>
                <a:uLnTx/>
                <a:uFillTx/>
                <a:latin typeface="Segoe UI"/>
                <a:ea typeface="+mn-ea"/>
                <a:cs typeface="+mn-cs"/>
              </a:rPr>
              <a:t>Cumulative report generated same day</a:t>
            </a:r>
          </a:p>
        </p:txBody>
      </p:sp>
      <p:sp>
        <p:nvSpPr>
          <p:cNvPr id="23" name="Rounded Rectangle 22"/>
          <p:cNvSpPr/>
          <p:nvPr/>
        </p:nvSpPr>
        <p:spPr>
          <a:xfrm>
            <a:off x="548640" y="5468112"/>
            <a:ext cx="5120640" cy="777240"/>
          </a:xfrm>
          <a:prstGeom prst="roundRect">
            <a:avLst>
              <a:gd name="adj" fmla="val 6000"/>
            </a:avLst>
          </a:prstGeom>
          <a:solidFill>
            <a:srgbClr val="161B22"/>
          </a:solidFill>
          <a:ln w="19050">
            <a:solidFill>
              <a:srgbClr val="482828"/>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4" name="TextBox 23"/>
          <p:cNvSpPr txBox="1"/>
          <p:nvPr/>
        </p:nvSpPr>
        <p:spPr>
          <a:xfrm>
            <a:off x="822960" y="5605272"/>
            <a:ext cx="4572000" cy="594359"/>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200" b="0">
                <a:solidFill>
                  <a:srgbClr val="C99B9B"/>
                </a:solidFill>
                <a:latin typeface="Segoe UI"/>
              </a:defRPr>
            </a:pPr>
            <a:r>
              <a:rPr kumimoji="0" sz="1200" b="0" i="0" u="none" strike="noStrike" kern="1200" cap="none" spc="0" normalizeH="0" baseline="0" noProof="0">
                <a:ln>
                  <a:noFill/>
                </a:ln>
                <a:solidFill>
                  <a:srgbClr val="C99B9B"/>
                </a:solidFill>
                <a:effectLst/>
                <a:uLnTx/>
                <a:uFillTx/>
                <a:latin typeface="Segoe UI"/>
                <a:ea typeface="+mn-ea"/>
                <a:cs typeface="+mn-cs"/>
              </a:rPr>
              <a:t>"I think 3 customers asked?"</a:t>
            </a:r>
          </a:p>
        </p:txBody>
      </p:sp>
      <p:sp>
        <p:nvSpPr>
          <p:cNvPr id="25" name="Rounded Rectangle 24"/>
          <p:cNvSpPr/>
          <p:nvPr/>
        </p:nvSpPr>
        <p:spPr>
          <a:xfrm>
            <a:off x="6492240" y="5468112"/>
            <a:ext cx="5120640" cy="777240"/>
          </a:xfrm>
          <a:prstGeom prst="roundRect">
            <a:avLst>
              <a:gd name="adj" fmla="val 6000"/>
            </a:avLst>
          </a:prstGeom>
          <a:solidFill>
            <a:srgbClr val="161B22"/>
          </a:solidFill>
          <a:ln w="19050">
            <a:solidFill>
              <a:srgbClr val="1F402B"/>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6" name="TextBox 25"/>
          <p:cNvSpPr txBox="1"/>
          <p:nvPr/>
        </p:nvSpPr>
        <p:spPr>
          <a:xfrm>
            <a:off x="6766560" y="5605272"/>
            <a:ext cx="4572000" cy="594359"/>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200" b="0">
                <a:solidFill>
                  <a:srgbClr val="A3D9A5"/>
                </a:solidFill>
                <a:latin typeface="Segoe UI"/>
              </a:defRPr>
            </a:pPr>
            <a:r>
              <a:rPr kumimoji="0" sz="1200" b="0" i="0" u="none" strike="noStrike" kern="1200" cap="none" spc="0" normalizeH="0" baseline="0" noProof="0">
                <a:ln>
                  <a:noFill/>
                </a:ln>
                <a:solidFill>
                  <a:srgbClr val="A3D9A5"/>
                </a:solidFill>
                <a:effectLst/>
                <a:uLnTx/>
                <a:uFillTx/>
                <a:latin typeface="Segoe UI"/>
                <a:ea typeface="+mn-ea"/>
                <a:cs typeface="+mn-cs"/>
              </a:rPr>
              <a:t>"12 customers across 15 meetings</a:t>
            </a:r>
            <a:br>
              <a:rPr kumimoji="0" sz="1200" b="0" i="0" u="none" strike="noStrike" kern="1200" cap="none" spc="0" normalizeH="0" baseline="0" noProof="0">
                <a:ln>
                  <a:noFill/>
                </a:ln>
                <a:solidFill>
                  <a:srgbClr val="A3D9A5"/>
                </a:solidFill>
                <a:effectLst/>
                <a:uLnTx/>
                <a:uFillTx/>
                <a:latin typeface="Segoe UI"/>
                <a:ea typeface="+mn-ea"/>
                <a:cs typeface="+mn-cs"/>
              </a:rPr>
            </a:br>
            <a:r>
              <a:rPr kumimoji="0" sz="1200" b="0" i="0" u="none" strike="noStrike" kern="1200" cap="none" spc="0" normalizeH="0" baseline="0" noProof="0">
                <a:ln>
                  <a:noFill/>
                </a:ln>
                <a:solidFill>
                  <a:srgbClr val="A3D9A5"/>
                </a:solidFill>
                <a:effectLst/>
                <a:uLnTx/>
                <a:uFillTx/>
                <a:latin typeface="Segoe UI"/>
                <a:ea typeface="+mn-ea"/>
                <a:cs typeface="+mn-cs"/>
              </a:rPr>
              <a:t>requested this" (with citations)</a:t>
            </a:r>
          </a:p>
        </p:txBody>
      </p:sp>
      <p:sp>
        <p:nvSpPr>
          <p:cNvPr id="27" name="Right Arrow 26"/>
          <p:cNvSpPr/>
          <p:nvPr/>
        </p:nvSpPr>
        <p:spPr>
          <a:xfrm>
            <a:off x="5715000" y="2171700"/>
            <a:ext cx="502920" cy="274320"/>
          </a:xfrm>
          <a:prstGeom prst="rightArrow">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8" name="Right Arrow 27"/>
          <p:cNvSpPr/>
          <p:nvPr/>
        </p:nvSpPr>
        <p:spPr>
          <a:xfrm>
            <a:off x="5715000" y="3058668"/>
            <a:ext cx="502920" cy="274320"/>
          </a:xfrm>
          <a:prstGeom prst="rightArrow">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9" name="Right Arrow 28"/>
          <p:cNvSpPr/>
          <p:nvPr/>
        </p:nvSpPr>
        <p:spPr>
          <a:xfrm>
            <a:off x="5715000" y="3945635"/>
            <a:ext cx="502920" cy="274320"/>
          </a:xfrm>
          <a:prstGeom prst="rightArrow">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0" name="Right Arrow 29"/>
          <p:cNvSpPr/>
          <p:nvPr/>
        </p:nvSpPr>
        <p:spPr>
          <a:xfrm>
            <a:off x="5715000" y="4832603"/>
            <a:ext cx="502920" cy="274320"/>
          </a:xfrm>
          <a:prstGeom prst="rightArrow">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1" name="Right Arrow 30"/>
          <p:cNvSpPr/>
          <p:nvPr/>
        </p:nvSpPr>
        <p:spPr>
          <a:xfrm>
            <a:off x="5715000" y="5719572"/>
            <a:ext cx="502920" cy="274320"/>
          </a:xfrm>
          <a:prstGeom prst="rightArrow">
            <a:avLst/>
          </a:prstGeom>
          <a:solidFill>
            <a:srgbClr val="58A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2" name="Rounded Rectangle 31"/>
          <p:cNvSpPr/>
          <p:nvPr/>
        </p:nvSpPr>
        <p:spPr>
          <a:xfrm>
            <a:off x="548640" y="6007608"/>
            <a:ext cx="11155680" cy="621792"/>
          </a:xfrm>
          <a:prstGeom prst="roundRect">
            <a:avLst>
              <a:gd name="adj" fmla="val 6000"/>
            </a:avLst>
          </a:prstGeom>
          <a:solidFill>
            <a:srgbClr val="161B22"/>
          </a:solidFill>
          <a:ln w="19050">
            <a:solidFill>
              <a:srgbClr val="58A6FF"/>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3" name="TextBox 32"/>
          <p:cNvSpPr txBox="1"/>
          <p:nvPr/>
        </p:nvSpPr>
        <p:spPr>
          <a:xfrm>
            <a:off x="457200" y="5943600"/>
            <a:ext cx="11247120" cy="32004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b="1">
                <a:solidFill>
                  <a:srgbClr val="58A6FF"/>
                </a:solidFill>
                <a:latin typeface="Segoe UI"/>
              </a:defRPr>
            </a:pPr>
            <a:r>
              <a:rPr kumimoji="0" sz="1400" b="1" i="0" u="none" strike="noStrike" kern="1200" cap="none" spc="0" normalizeH="0" baseline="0" noProof="0" dirty="0">
                <a:ln>
                  <a:noFill/>
                </a:ln>
                <a:solidFill>
                  <a:srgbClr val="58A6FF"/>
                </a:solidFill>
                <a:effectLst/>
                <a:uLnTx/>
                <a:uFillTx/>
                <a:latin typeface="Segoe UI"/>
                <a:ea typeface="+mn-ea"/>
                <a:cs typeface="+mn-cs"/>
              </a:rPr>
              <a:t>🔗</a:t>
            </a:r>
            <a:r>
              <a:rPr kumimoji="0" lang="en-US" sz="1400" b="1" i="0" u="none" strike="noStrike" kern="1200" cap="none" spc="0" normalizeH="0" baseline="0" noProof="0" dirty="0">
                <a:ln>
                  <a:noFill/>
                </a:ln>
                <a:solidFill>
                  <a:srgbClr val="58A6FF"/>
                </a:solidFill>
                <a:effectLst/>
                <a:uLnTx/>
                <a:uFillTx/>
                <a:latin typeface="Segoe UI"/>
                <a:ea typeface="+mn-ea"/>
                <a:cs typeface="+mn-cs"/>
              </a:rPr>
              <a:t>aka.ms/</a:t>
            </a:r>
            <a:r>
              <a:rPr kumimoji="0" lang="en-US" sz="1400" b="1" i="0" u="none" strike="noStrike" kern="1200" cap="none" spc="0" normalizeH="0" baseline="0" noProof="0" dirty="0" err="1">
                <a:ln>
                  <a:noFill/>
                </a:ln>
                <a:solidFill>
                  <a:srgbClr val="58A6FF"/>
                </a:solidFill>
                <a:effectLst/>
                <a:uLnTx/>
                <a:uFillTx/>
                <a:latin typeface="Segoe UI"/>
                <a:ea typeface="+mn-ea"/>
                <a:cs typeface="+mn-cs"/>
              </a:rPr>
              <a:t>feedbackanalyzer</a:t>
            </a:r>
            <a:endParaRPr kumimoji="0" sz="1400" b="1" i="0" u="none" strike="noStrike" kern="1200" cap="none" spc="0" normalizeH="0" baseline="0" noProof="0" dirty="0">
              <a:ln>
                <a:noFill/>
              </a:ln>
              <a:solidFill>
                <a:srgbClr val="58A6FF"/>
              </a:solidFill>
              <a:effectLst/>
              <a:uLnTx/>
              <a:uFillTx/>
              <a:latin typeface="Segoe UI"/>
              <a:ea typeface="+mn-ea"/>
              <a:cs typeface="+mn-cs"/>
            </a:endParaRPr>
          </a:p>
        </p:txBody>
      </p:sp>
      <p:sp>
        <p:nvSpPr>
          <p:cNvPr id="34" name="TextBox 33"/>
          <p:cNvSpPr txBox="1"/>
          <p:nvPr/>
        </p:nvSpPr>
        <p:spPr>
          <a:xfrm>
            <a:off x="457200" y="6263640"/>
            <a:ext cx="11247120" cy="32004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200" b="0">
                <a:solidFill>
                  <a:srgbClr val="8B949E"/>
                </a:solidFill>
                <a:latin typeface="Segoe UI"/>
              </a:defRPr>
            </a:pPr>
            <a:r>
              <a:rPr kumimoji="0" sz="1200" b="0" i="0" u="none" strike="noStrike" kern="1200" cap="none" spc="0" normalizeH="0" baseline="0" noProof="0" dirty="0">
                <a:ln>
                  <a:noFill/>
                </a:ln>
                <a:solidFill>
                  <a:srgbClr val="8B949E"/>
                </a:solidFill>
                <a:effectLst/>
                <a:uLnTx/>
                <a:uFillTx/>
                <a:latin typeface="Segoe UI"/>
                <a:ea typeface="+mn-ea"/>
                <a:cs typeface="+mn-cs"/>
              </a:rPr>
              <a:t>Open source  ·  Works with any LLM  ·  Clone it. Customize it. Close the feedback loop.</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F0F23"/>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36576"/>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 name="TextBox 2"/>
          <p:cNvSpPr txBox="1"/>
          <p:nvPr/>
        </p:nvSpPr>
        <p:spPr>
          <a:xfrm>
            <a:off x="1828800" y="1645920"/>
            <a:ext cx="8534095" cy="18288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200" b="1">
                <a:solidFill>
                  <a:srgbClr val="FFFFFF"/>
                </a:solidFill>
                <a:latin typeface="Segoe UI"/>
              </a:defRPr>
            </a:pPr>
            <a:r>
              <a:rPr kumimoji="0" sz="4200" b="1" i="0" u="none" strike="noStrike" kern="1200" cap="none" spc="0" normalizeH="0" baseline="0" noProof="0">
                <a:ln>
                  <a:noFill/>
                </a:ln>
                <a:solidFill>
                  <a:srgbClr val="FFFFFF"/>
                </a:solidFill>
                <a:effectLst/>
                <a:uLnTx/>
                <a:uFillTx/>
                <a:latin typeface="Segoe UI"/>
                <a:ea typeface="+mn-ea"/>
                <a:cs typeface="+mn-cs"/>
              </a:rPr>
              <a:t>Your Customers Know More</a:t>
            </a:r>
          </a:p>
          <a:p>
            <a:pPr marL="0" marR="0" lvl="0" indent="0" algn="ctr" defTabSz="457200" rtl="0" eaLnBrk="1" fontAlgn="auto" latinLnBrk="0" hangingPunct="1">
              <a:lnSpc>
                <a:spcPct val="100000"/>
              </a:lnSpc>
              <a:spcBef>
                <a:spcPts val="0"/>
              </a:spcBef>
              <a:spcAft>
                <a:spcPts val="0"/>
              </a:spcAft>
              <a:buClrTx/>
              <a:buSzTx/>
              <a:buFontTx/>
              <a:buNone/>
              <a:tabLst/>
              <a:defRPr sz="4200" b="1">
                <a:solidFill>
                  <a:srgbClr val="0078D4"/>
                </a:solidFill>
                <a:latin typeface="Segoe UI"/>
              </a:defRPr>
            </a:pPr>
            <a:r>
              <a:rPr kumimoji="0" sz="4200" b="1" i="0" u="none" strike="noStrike" kern="1200" cap="none" spc="0" normalizeH="0" baseline="0" noProof="0">
                <a:ln>
                  <a:noFill/>
                </a:ln>
                <a:solidFill>
                  <a:srgbClr val="0078D4"/>
                </a:solidFill>
                <a:effectLst/>
                <a:uLnTx/>
                <a:uFillTx/>
                <a:latin typeface="Segoe UI"/>
                <a:ea typeface="+mn-ea"/>
                <a:cs typeface="+mn-cs"/>
              </a:rPr>
              <a:t>About AI Than You Do.</a:t>
            </a:r>
          </a:p>
        </p:txBody>
      </p:sp>
      <p:sp>
        <p:nvSpPr>
          <p:cNvPr id="4" name="TextBox 3"/>
          <p:cNvSpPr txBox="1"/>
          <p:nvPr/>
        </p:nvSpPr>
        <p:spPr>
          <a:xfrm>
            <a:off x="2286000" y="3657600"/>
            <a:ext cx="761969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200" b="0">
                <a:solidFill>
                  <a:srgbClr val="BBBBCC"/>
                </a:solidFill>
                <a:latin typeface="Segoe UI"/>
              </a:defRPr>
            </a:pPr>
            <a:r>
              <a:rPr kumimoji="0" sz="2200" b="0" i="0" u="none" strike="noStrike" kern="1200" cap="none" spc="0" normalizeH="0" baseline="0" noProof="0">
                <a:ln>
                  <a:noFill/>
                </a:ln>
                <a:solidFill>
                  <a:srgbClr val="BBBBCC"/>
                </a:solidFill>
                <a:effectLst/>
                <a:uLnTx/>
                <a:uFillTx/>
                <a:latin typeface="Segoe UI"/>
                <a:ea typeface="+mn-ea"/>
                <a:cs typeface="+mn-cs"/>
              </a:rPr>
              <a:t>Start listening. Start building the feedback loop.</a:t>
            </a:r>
          </a:p>
          <a:p>
            <a:pPr marL="0" marR="0" lvl="0" indent="0" algn="ctr" defTabSz="457200" rtl="0" eaLnBrk="1" fontAlgn="auto" latinLnBrk="0" hangingPunct="1">
              <a:lnSpc>
                <a:spcPct val="100000"/>
              </a:lnSpc>
              <a:spcBef>
                <a:spcPts val="0"/>
              </a:spcBef>
              <a:spcAft>
                <a:spcPts val="0"/>
              </a:spcAft>
              <a:buClrTx/>
              <a:buSzTx/>
              <a:buFontTx/>
              <a:buNone/>
              <a:tabLst/>
              <a:defRPr sz="2200" b="0">
                <a:solidFill>
                  <a:srgbClr val="BBBBCC"/>
                </a:solidFill>
                <a:latin typeface="Segoe UI"/>
              </a:defRPr>
            </a:pPr>
            <a:r>
              <a:rPr kumimoji="0" sz="2200" b="0" i="0" u="none" strike="noStrike" kern="1200" cap="none" spc="0" normalizeH="0" baseline="0" noProof="0">
                <a:ln>
                  <a:noFill/>
                </a:ln>
                <a:solidFill>
                  <a:srgbClr val="BBBBCC"/>
                </a:solidFill>
                <a:effectLst/>
                <a:uLnTx/>
                <a:uFillTx/>
                <a:latin typeface="Segoe UI"/>
                <a:ea typeface="+mn-ea"/>
                <a:cs typeface="+mn-cs"/>
              </a:rPr>
              <a:t>Let AI do the heavy lifting.</a:t>
            </a:r>
          </a:p>
        </p:txBody>
      </p:sp>
      <p:sp>
        <p:nvSpPr>
          <p:cNvPr id="5" name="TextBox 4"/>
          <p:cNvSpPr txBox="1"/>
          <p:nvPr/>
        </p:nvSpPr>
        <p:spPr>
          <a:xfrm>
            <a:off x="2286000" y="5029200"/>
            <a:ext cx="76196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200" b="1">
                <a:solidFill>
                  <a:srgbClr val="00B294"/>
                </a:solidFill>
                <a:latin typeface="Segoe UI"/>
              </a:defRPr>
            </a:pPr>
            <a:r>
              <a:rPr kumimoji="0" sz="3200" b="1" i="0" u="none" strike="noStrike" kern="1200" cap="none" spc="0" normalizeH="0" baseline="0" noProof="0">
                <a:ln>
                  <a:noFill/>
                </a:ln>
                <a:solidFill>
                  <a:srgbClr val="00B294"/>
                </a:solidFill>
                <a:effectLst/>
                <a:uLnTx/>
                <a:uFillTx/>
                <a:latin typeface="Segoe UI"/>
                <a:ea typeface="+mn-ea"/>
                <a:cs typeface="+mn-cs"/>
              </a:rPr>
              <a:t>Questions?</a:t>
            </a:r>
          </a:p>
        </p:txBody>
      </p:sp>
    </p:spTree>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Metadata/LabelInfo.xml><?xml version="1.0" encoding="utf-8"?>
<clbl:labelList xmlns:clbl="http://schemas.microsoft.com/office/2020/mipLabelMetadata">
  <clbl:label id="{87ba5c36-b7cf-4793-bbc2-bd5b3a9f95ca}"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1</TotalTime>
  <Words>1633</Words>
  <Application>Microsoft Office PowerPoint</Application>
  <PresentationFormat>Widescreen</PresentationFormat>
  <Paragraphs>281</Paragraphs>
  <Slides>20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Segoe UI</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Marilee Turscak</dc:creator>
  <cp:lastModifiedBy>Marilee Turscak</cp:lastModifiedBy>
  <cp:revision>1</cp:revision>
  <dcterms:created xsi:type="dcterms:W3CDTF">2026-06-01T01:06:25Z</dcterms:created>
  <dcterms:modified xsi:type="dcterms:W3CDTF">2026-06-01T01:08:14Z</dcterms:modified>
</cp:coreProperties>
</file>