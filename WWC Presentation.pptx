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83" r:id="rId6"/>
    <p:sldId id="261" r:id="rId7"/>
    <p:sldId id="262" r:id="rId8"/>
    <p:sldId id="263" r:id="rId9"/>
    <p:sldId id="265" r:id="rId10"/>
    <p:sldId id="272" r:id="rId11"/>
    <p:sldId id="281" r:id="rId12"/>
    <p:sldId id="285" r:id="rId13"/>
    <p:sldId id="279" r:id="rId14"/>
    <p:sldId id="278" r:id="rId15"/>
    <p:sldId id="289" r:id="rId16"/>
    <p:sldId id="284" r:id="rId17"/>
    <p:sldId id="291" r:id="rId18"/>
    <p:sldId id="290" r:id="rId19"/>
    <p:sldId id="292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E2D38-F947-4D95-B190-0D86CB478197}" v="2" dt="2026-06-01T22:28:54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94660"/>
  </p:normalViewPr>
  <p:slideViewPr>
    <p:cSldViewPr snapToGrid="0">
      <p:cViewPr>
        <p:scale>
          <a:sx n="136" d="100"/>
          <a:sy n="136" d="100"/>
        </p:scale>
        <p:origin x="49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70F6B-5B66-4BDC-B49F-86565B8A712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B207C7-816C-4417-AC97-CDAC54946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6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</a:t>
            </a:r>
          </a:p>
          <a:p>
            <a:pPr marL="228600" indent="-228600">
              <a:buAutoNum type="arabicPeriod"/>
            </a:pPr>
            <a:r>
              <a:rPr lang="en-US" dirty="0"/>
              <a:t>We have an industry-wide challenge connecting customer feedback to action, and this gap is even wider for AI products</a:t>
            </a:r>
          </a:p>
          <a:p>
            <a:pPr marL="228600" indent="-228600">
              <a:buAutoNum type="arabicPeriod"/>
            </a:pPr>
            <a:r>
              <a:rPr lang="en-US" dirty="0"/>
              <a:t>Then I’m going to talk about some useful tools and automation we can use to close that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B207C7-816C-4417-AC97-CDAC549469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20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- 28% of feedback experts already use AI for collecting and analyzing customer feedback — HubSpot   (https://blog.hubspot.com/service/ai-customer-feedback-analysis)   - 81% of CX leaders say AI-powered feedback analytics is a top priority, but only 7% have fully mature automation —   </a:t>
            </a:r>
            <a:r>
              <a:rPr lang="en-US" dirty="0" err="1"/>
              <a:t>Zonka</a:t>
            </a:r>
            <a:r>
              <a:rPr lang="en-US" dirty="0"/>
              <a:t> Feedback (https://www.zonkafeedback.com/blog/ai-transforming-customer-feedback-analysis)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B207C7-816C-4417-AC97-CDAC549469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33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Deterministic: Username + password (works every time</a:t>
            </a:r>
          </a:p>
          <a:p>
            <a:r>
              <a:rPr lang="en-US" dirty="0"/>
              <a:t>Non0deterministic: Tell me which discount I should give this customer based on their purchase history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B207C7-816C-4417-AC97-CDAC549469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38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B207C7-816C-4417-AC97-CDAC549469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45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</a:t>
            </a:r>
            <a:r>
              <a:rPr lang="en-US"/>
              <a:t>to summarize: our </a:t>
            </a:r>
            <a:r>
              <a:rPr lang="en-US" dirty="0"/>
              <a:t>customers really do know more about AI than we do, in the sense that they're using our products every day in real production environments. They see the gaps before we </a:t>
            </a:r>
            <a:r>
              <a:rPr lang="en-US" dirty="0" err="1"/>
              <a:t>do.But</a:t>
            </a:r>
            <a:r>
              <a:rPr lang="en-US" dirty="0"/>
              <a:t> the good news is we now have tools that help us address that feedback at scale and make sure nothing falls through the </a:t>
            </a:r>
            <a:r>
              <a:rPr lang="en-US" dirty="0" err="1"/>
              <a:t>cracks.If</a:t>
            </a:r>
            <a:r>
              <a:rPr lang="en-US" dirty="0"/>
              <a:t> you'd like to try the skills I showed today, you can fork the repo at aka.ms/</a:t>
            </a:r>
            <a:r>
              <a:rPr lang="en-US" dirty="0" err="1"/>
              <a:t>feedbackanalyzer</a:t>
            </a:r>
            <a:r>
              <a:rPr lang="en-US" dirty="0"/>
              <a:t>. And I'd love to see skills that you're building to tackle customer feedback in your own workflows — contributions are absolutely </a:t>
            </a:r>
            <a:r>
              <a:rPr lang="en-US" dirty="0" err="1"/>
              <a:t>welcome.Any</a:t>
            </a:r>
            <a:r>
              <a:rPr lang="en-US" dirty="0"/>
              <a:t> questions before we close?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B207C7-816C-4417-AC97-CDAC549469E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78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68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4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65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34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2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6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0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73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53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2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83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2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Your Customers Know More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0078D4"/>
                </a:solidFill>
                <a:latin typeface="Segoe UI"/>
              </a:defRPr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About AI Than You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rgbClr val="BBBBCC"/>
                </a:solidFill>
                <a:latin typeface="Segoe UI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Building an AI-Powered Framework to Capture, Analyze,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rgbClr val="BBBBCC"/>
                </a:solidFill>
                <a:latin typeface="Segoe UI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Act on Customer Feedback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035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8888AA"/>
                </a:solidFill>
                <a:latin typeface="Segoe UI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Women Who Code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headshot3withoutsur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Marilee Turscak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rgbClr val="00B294"/>
                </a:solidFill>
                <a:latin typeface="Segoe UI"/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Senior Product Manager  •  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926080"/>
            <a:ext cx="64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BBBBCC"/>
                </a:solidFill>
                <a:latin typeface="Segoe UI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Identity &amp; Network Access — Customer Acceleration Team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FFFFFF"/>
                </a:solidFill>
                <a:latin typeface="Segoe UI"/>
              </a:defRPr>
            </a:pP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8288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rgbClr val="00B294"/>
                </a:solidFill>
                <a:latin typeface="Segoe UI"/>
              </a:defRPr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Raise your hand if...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 are using AI to analyze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 feedback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3243" y="1770611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rgbClr val="FF8C00"/>
                </a:solidFill>
                <a:latin typeface="Segoe UI"/>
              </a:defRPr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FF8C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Now keep your hand up if...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6663" y="2867891"/>
            <a:ext cx="1019971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>
                <a:solidFill>
                  <a:srgbClr val="FFFFFF"/>
                </a:solidFill>
                <a:latin typeface="Segoe UI"/>
              </a:defRPr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Your most recently shipped feature was directly informed by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800" b="1">
                <a:solidFill>
                  <a:srgbClr val="FFFFFF"/>
                </a:solidFill>
                <a:latin typeface="Segoe UI"/>
              </a:defRPr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something a customer actually said.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FFFFFF"/>
                </a:solidFill>
              </a:defRPr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Feedback Doesn’t Become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2966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i="1">
                <a:solidFill>
                  <a:srgbClr val="8899BB"/>
                </a:solidFill>
              </a:defRPr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8899B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Teams aren’t ignoring customers. </a:t>
            </a:r>
            <a:r>
              <a:rPr lang="en-US" i="1" dirty="0">
                <a:solidFill>
                  <a:srgbClr val="8899BB"/>
                </a:solidFill>
                <a:latin typeface="Calibri"/>
              </a:rPr>
              <a:t>It’s just complicated.</a:t>
            </a: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srgbClr val="8899BB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66BBFF"/>
                </a:solidFill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66BB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PRODUCTS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377440"/>
            <a:ext cx="822960" cy="822960"/>
          </a:xfrm>
          <a:prstGeom prst="ellipse">
            <a:avLst/>
          </a:prstGeom>
          <a:solidFill>
            <a:srgbClr val="1A253A"/>
          </a:solidFill>
          <a:ln w="19050">
            <a:solidFill>
              <a:srgbClr val="33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487168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/>
            </a:pPr>
            <a:r>
              <a:rPr kumimoji="0" sz="3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54203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DDDDEE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DDDDE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Scattered feedback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429000"/>
            <a:ext cx="822960" cy="822960"/>
          </a:xfrm>
          <a:prstGeom prst="ellipse">
            <a:avLst/>
          </a:prstGeom>
          <a:solidFill>
            <a:srgbClr val="1A253A"/>
          </a:solidFill>
          <a:ln w="19050">
            <a:solidFill>
              <a:srgbClr val="33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3538728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/>
            </a:pPr>
            <a:r>
              <a:rPr kumimoji="0" sz="3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59359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DDDDEE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DDDDE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Too much volume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480560"/>
            <a:ext cx="822960" cy="822960"/>
          </a:xfrm>
          <a:prstGeom prst="ellipse">
            <a:avLst/>
          </a:prstGeom>
          <a:solidFill>
            <a:srgbClr val="1A253A"/>
          </a:solidFill>
          <a:ln w="19050">
            <a:solidFill>
              <a:srgbClr val="33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4590288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/>
            </a:pPr>
            <a:r>
              <a:rPr kumimoji="0" sz="3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⚖️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64515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DDDDEE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DDDDE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Hard to prioritize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532120"/>
            <a:ext cx="822960" cy="822960"/>
          </a:xfrm>
          <a:prstGeom prst="ellipse">
            <a:avLst/>
          </a:prstGeom>
          <a:solidFill>
            <a:srgbClr val="1A253A"/>
          </a:solidFill>
          <a:ln w="19050">
            <a:solidFill>
              <a:srgbClr val="33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5641848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/>
            </a:pPr>
            <a:r>
              <a:rPr kumimoji="0" sz="3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69671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DDDDEE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DDDDE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Difficult to action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577840" y="3200400"/>
            <a:ext cx="1097280" cy="320040"/>
          </a:xfrm>
          <a:prstGeom prst="rightArrow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03520" y="3611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FFBB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especially for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BB33"/>
                </a:solidFill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BB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PRODUCTS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0" y="2377440"/>
            <a:ext cx="822960" cy="822960"/>
          </a:xfrm>
          <a:prstGeom prst="ellipse">
            <a:avLst/>
          </a:prstGeom>
          <a:solidFill>
            <a:srgbClr val="2A1F0A"/>
          </a:solidFill>
          <a:ln w="19050">
            <a:solidFill>
              <a:srgbClr val="886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20" y="2487168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/>
            </a:pPr>
            <a:r>
              <a:rPr kumimoji="0" sz="3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54203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DDCC88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DDCC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Non-deterministic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0" y="3429000"/>
            <a:ext cx="822960" cy="822960"/>
          </a:xfrm>
          <a:prstGeom prst="ellipse">
            <a:avLst/>
          </a:prstGeom>
          <a:solidFill>
            <a:srgbClr val="2A1F0A"/>
          </a:solidFill>
          <a:ln w="19050">
            <a:solidFill>
              <a:srgbClr val="886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2320" y="3538728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/>
            </a:pPr>
            <a:r>
              <a:rPr kumimoji="0" sz="3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59359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DDCC88"/>
                </a:solidFill>
              </a:defRPr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DDCC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Environment-dependent</a:t>
            </a:r>
          </a:p>
        </p:txBody>
      </p:sp>
      <p:sp>
        <p:nvSpPr>
          <p:cNvPr id="26" name="Oval 25"/>
          <p:cNvSpPr/>
          <p:nvPr/>
        </p:nvSpPr>
        <p:spPr>
          <a:xfrm>
            <a:off x="7132320" y="4480560"/>
            <a:ext cx="822960" cy="822960"/>
          </a:xfrm>
          <a:prstGeom prst="ellipse">
            <a:avLst/>
          </a:prstGeom>
          <a:solidFill>
            <a:srgbClr val="2A1F0A"/>
          </a:solidFill>
          <a:ln w="19050">
            <a:solidFill>
              <a:srgbClr val="886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32320" y="4590288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/>
            </a:pPr>
            <a:r>
              <a:rPr kumimoji="0" sz="3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645152"/>
            <a:ext cx="20361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DDCC88"/>
                </a:solidFill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DDCC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Can’t test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DCC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at scale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DDCC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11052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Why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It’s Even Harder to Build AI Products Customers Value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3108960" cy="256032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FF8C00"/>
                </a:solidFill>
                <a:latin typeface="Segoe UI"/>
              </a:defRPr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FF8C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23%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consumers trust companies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 use AI responsibly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Segoe UI"/>
              </a:defRPr>
            </a:pP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888AA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Thales Digital Trust Index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3108960" cy="256032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0640" y="16459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E84B3C"/>
                </a:solidFill>
                <a:latin typeface="Segoe UI"/>
              </a:defRPr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E84B3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96%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developers don't trust AI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output — yet 52% ship it unverified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Segoe UI"/>
              </a:defRPr>
            </a:pP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888AA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Sonar State of Code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371600"/>
            <a:ext cx="3108960" cy="256032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0" y="16459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0078D4"/>
                </a:solidFill>
                <a:latin typeface="Segoe UI"/>
              </a:defRPr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0%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engineering leaders are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"very confident" AI code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behaves correctly in production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Segoe UI"/>
              </a:defRPr>
            </a:pP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888AA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Stack Overflow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99713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Your customers are living with AI's limitations every day.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They're forming strong opinions your product team may not be hearing.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They are finding issues in production that test environments can't identify.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760720"/>
            <a:ext cx="9997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00B294"/>
                </a:solidFill>
                <a:latin typeface="Segoe UI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Your customers know exactly where AI breaks. They're the experts you're not listening 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Problem: We Collect Feedback but Don't Listen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3108960" cy="256032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1920240"/>
            <a:ext cx="25603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FF8C00"/>
                </a:solidFill>
                <a:latin typeface="Segoe UI"/>
              </a:defRPr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FF8C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93%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customer feedback data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is never analyzed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Segoe UI"/>
              </a:defRPr>
            </a:pP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888AA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Gartner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2025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8888A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846320" y="1645920"/>
            <a:ext cx="3108960" cy="256032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0640" y="192024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E84B3C"/>
                </a:solidFill>
                <a:latin typeface="Segoe UI"/>
              </a:defRPr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E84B3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95%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companies collect feedback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but only 10% act on 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Segoe UI"/>
              </a:defRPr>
            </a:pP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888AA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Bain &amp; Company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645920"/>
            <a:ext cx="3108960" cy="256032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0" y="1920240"/>
            <a:ext cx="25603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0078D4"/>
                </a:solidFill>
                <a:latin typeface="Segoe UI"/>
              </a:defRPr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16%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customers believe their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feedback drives actual change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Segoe UI"/>
              </a:defRPr>
            </a:pP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888AA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Gartner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2026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8888A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4484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BBBBCC"/>
                </a:solidFill>
                <a:latin typeface="Segoe UI"/>
              </a:defRP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As product teams, it’s our mission to fix this and build customer confidence.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BBBBCC"/>
                </a:solidFill>
                <a:latin typeface="Segoe UI"/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gap between collecting and acting on feedback is where products fail.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BBBBCC"/>
                </a:solidFill>
                <a:latin typeface="Segoe UI"/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Customers have essentially given up expecting to be heard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.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BBBB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00B294"/>
                </a:solidFill>
                <a:latin typeface="Segoe UI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This is the trust gap we must close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, 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especially for AI products.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Cost of Not Listening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3108960" cy="256032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192024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E84B3C"/>
                </a:solidFill>
                <a:latin typeface="Segoe UI"/>
              </a:defRPr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E84B3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95%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of GenAI projects deliver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zero return — often lacking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meaningful feedback loops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Segoe UI"/>
              </a:defRPr>
            </a:pP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888AA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MIT AI Report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645920"/>
            <a:ext cx="3108960" cy="256032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0640" y="192024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FF8C00"/>
                </a:solidFill>
                <a:latin typeface="Segoe UI"/>
              </a:defRPr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FF8C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$3.7T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lost annually due to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poor customer experience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Segoe UI"/>
              </a:defRPr>
            </a:pP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888AA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Qualtrics XM Institute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645920"/>
            <a:ext cx="3108960" cy="256032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0" y="1920240"/>
            <a:ext cx="256032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00B294"/>
                </a:solidFill>
                <a:latin typeface="Segoe UI"/>
              </a:defRPr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41%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faster revenue growth for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BBBBCC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customer-obsessed companies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Segoe UI"/>
              </a:defRPr>
            </a:pP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888AA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Forrester 202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88A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8888AA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4484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BBBBCC"/>
                </a:solidFill>
                <a:latin typeface="Segoe UI"/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Most AI products fail because they skip the feedback loop.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BBBBCC"/>
                </a:solidFill>
                <a:latin typeface="Segoe UI"/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cost is measured in trillions. But the companies that listen grow 41% faster.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00B294"/>
                </a:solidFill>
                <a:latin typeface="Segoe UI"/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Customers are your best friends in this process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Dual Challenge of Customer Feedback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4754880" cy="347472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402336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8C00"/>
                </a:solidFill>
                <a:latin typeface="Segoe UI"/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FF8C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Challenge 1: Scale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Segoe UI"/>
              </a:defRPr>
            </a:pP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Feedback comes from dozens of channels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Meetings,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supports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tickets, surveys, Slack, Teams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73% of PMs say manual analysis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 creates significant delays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You can't read every transcript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BBBB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BBBB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4754880" cy="347472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05295" y="1920240"/>
            <a:ext cx="402336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0078D4"/>
                </a:solidFill>
                <a:latin typeface="Segoe UI"/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Challenge 2: Signal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Segoe UI"/>
              </a:defRPr>
            </a:pP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Not all feedback is equally important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Loudest voices ≠ most impactful issues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Must separate trends from one-offs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BBBB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Eliminate recency bias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BBBBCC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Translation gap: feedback →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B294"/>
                </a:solidFill>
                <a:latin typeface="Segoe UI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 need to capture everything AND identify what matters most → AI solves both.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Putting It Into Practice: AI Skills for Feedback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BBBBCC"/>
                </a:solidFill>
                <a:latin typeface="Segoe UI"/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Here's what this looks like in practice — two AI skills I built to automate this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process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36576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4553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B294"/>
                </a:solidFill>
                <a:latin typeface="Segoe UI"/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Skill 1: Weekly Feedback Analyzer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Skill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0B29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42976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What it does: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Runs weekly as an agentic AI skill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Ingests all new customer feedback files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Extracts trends, sentiment shifts, blockers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Generates a pulse report with recommendations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>
                <a:solidFill>
                  <a:srgbClr val="FFFFFF"/>
                </a:solidFill>
                <a:latin typeface="Segoe UI"/>
              </a:defRPr>
            </a:pP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it works: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Structured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markdown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template: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Takeaways,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Feature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Requests,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Pain Points, Quotes,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Sentiment,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Follow-ups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Compares with previous week's report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and provides status update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BBBB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39535" y="1463040"/>
            <a:ext cx="5029200" cy="4114800"/>
          </a:xfrm>
          <a:prstGeom prst="roundRect">
            <a:avLst/>
          </a:prstGeom>
          <a:solidFill>
            <a:srgbClr val="25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39535" y="1463040"/>
            <a:ext cx="502920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05295" y="1691640"/>
            <a:ext cx="47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9B59B6"/>
                </a:solidFill>
                <a:latin typeface="Segoe UI"/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9B59B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Skill 2: Cumulative Feedback Report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B59B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Skill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9B59B6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05295" y="2240280"/>
            <a:ext cx="429768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What it does: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Synthesizes ALL feedback across the preview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One strategic document from months of data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BBBB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What it produces: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Executive summary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Top trends ranked by frequency + trajectory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Feature requests ranked by priority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/number of mentions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BBBB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Bugs with severity and customer impact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Pain points with cross-customer validation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BBBBCC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Per-customer sentiment over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0B294"/>
                </a:solidFill>
                <a:latin typeface="Segoe UI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What took 4+ hours of manual analysis now runs in minutes — every single week, without fail.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10EF8-2E54-8027-301E-72518FD1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1C6027-3313-AD29-9B07-CC3910C93F14}"/>
              </a:ext>
            </a:extLst>
          </p:cNvPr>
          <p:cNvSpPr txBox="1"/>
          <p:nvPr/>
        </p:nvSpPr>
        <p:spPr>
          <a:xfrm>
            <a:off x="731520" y="274320"/>
            <a:ext cx="1072865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Github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: Customer Feedback Analyzer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22B008-E751-1FBC-1957-CFE206093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43" y="1159625"/>
            <a:ext cx="7199048" cy="43558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E3C90B-88C6-7197-C693-8A0CF16D51AF}"/>
              </a:ext>
            </a:extLst>
          </p:cNvPr>
          <p:cNvSpPr txBox="1"/>
          <p:nvPr/>
        </p:nvSpPr>
        <p:spPr>
          <a:xfrm rot="10800000" flipH="1" flipV="1">
            <a:off x="7972471" y="1853291"/>
            <a:ext cx="3722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Aka.ms/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feedbackanalyzer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8161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0D62B-DBCD-C67E-A1C9-401677F0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16CE4-5B11-D8B9-4757-00FA722A790D}"/>
              </a:ext>
            </a:extLst>
          </p:cNvPr>
          <p:cNvSpPr txBox="1"/>
          <p:nvPr/>
        </p:nvSpPr>
        <p:spPr>
          <a:xfrm>
            <a:off x="731520" y="156549"/>
            <a:ext cx="1072865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Github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: Customer Feedback Analyzer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32976F-AA77-4785-EC7B-BE722EB19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1" y="1069442"/>
            <a:ext cx="4765964" cy="53266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5F73C3-DBAC-FE06-6C53-A61EBE2D3501}"/>
              </a:ext>
            </a:extLst>
          </p:cNvPr>
          <p:cNvSpPr txBox="1"/>
          <p:nvPr/>
        </p:nvSpPr>
        <p:spPr>
          <a:xfrm rot="10800000" flipH="1" flipV="1">
            <a:off x="7345553" y="606437"/>
            <a:ext cx="3722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Markdown instructions: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72454-36F3-D562-295A-727BC8F8D367}"/>
              </a:ext>
            </a:extLst>
          </p:cNvPr>
          <p:cNvSpPr txBox="1"/>
          <p:nvPr/>
        </p:nvSpPr>
        <p:spPr>
          <a:xfrm>
            <a:off x="258953" y="176483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</a:t>
            </a:r>
            <a:r>
              <a:rPr lang="en-US" dirty="0">
                <a:solidFill>
                  <a:prstClr val="white"/>
                </a:solidFill>
                <a:latin typeface="Calibri"/>
              </a:rPr>
              <a:t>p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rompt</a:t>
            </a:r>
            <a:r>
              <a:rPr lang="en-US" dirty="0">
                <a:solidFill>
                  <a:prstClr val="white"/>
                </a:solidFill>
                <a:latin typeface="Calibri"/>
              </a:rPr>
              <a:t> to create the skill: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Build me a skill that reads all my customer feedback notes from meeting transcripts, tickets, Teams conversations, and existing notes in my customer feedback folder and generates a report showing top trends, feature requests ranked by priority, bugs by severity, sentiment with real quotes, weighted feedback </a:t>
            </a:r>
            <a:r>
              <a:rPr lang="en-US" dirty="0">
                <a:solidFill>
                  <a:prstClr val="white"/>
                </a:solidFill>
                <a:latin typeface="Calibri"/>
              </a:rPr>
              <a:t>based on top customers,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recommended actions. Run the skill through security review to ensure all data is protected. Include an HTML dashboard with charts.</a:t>
            </a:r>
          </a:p>
        </p:txBody>
      </p:sp>
    </p:spTree>
    <p:extLst>
      <p:ext uri="{BB962C8B-B14F-4D97-AF65-F5344CB8AC3E}">
        <p14:creationId xmlns:p14="http://schemas.microsoft.com/office/powerpoint/2010/main" val="3919675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Cumulative Customer Feedback Report — AI Cost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BBDDF0"/>
                </a:solidFill>
                <a:latin typeface="Calibr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BBDD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Jan 15 – May 25, 2026  •  32 Sessions  •  18 Customers  •  6 Industry Verticals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828800" cy="777240"/>
          </a:xfrm>
          <a:prstGeom prst="roundRect">
            <a:avLst/>
          </a:prstGeom>
          <a:solidFill>
            <a:srgbClr val="2B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Total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005840"/>
            <a:ext cx="1828800" cy="777240"/>
          </a:xfrm>
          <a:prstGeom prst="roundRect">
            <a:avLst/>
          </a:prstGeom>
          <a:solidFill>
            <a:srgbClr val="2EA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005840"/>
            <a:ext cx="1828800" cy="777240"/>
          </a:xfrm>
          <a:prstGeom prst="roundRect">
            <a:avLst/>
          </a:prstGeom>
          <a:solidFill>
            <a:srgbClr val="F0A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Feature Requests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005840"/>
            <a:ext cx="1828800" cy="777240"/>
          </a:xfrm>
          <a:prstGeom prst="round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 Bugs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005840"/>
            <a:ext cx="1828800" cy="777240"/>
          </a:xfrm>
          <a:prstGeom prst="roundRect">
            <a:avLst/>
          </a:prstGeom>
          <a:solidFill>
            <a:srgbClr val="2EA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69%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Sentiment: Positive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65960"/>
            <a:ext cx="5029200" cy="283464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65960"/>
            <a:ext cx="2560320" cy="256032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965960"/>
            <a:ext cx="3200400" cy="228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48463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b="1">
                <a:solidFill>
                  <a:srgbClr val="1B3A5C"/>
                </a:solidFill>
                <a:latin typeface="Calibri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 Pain Points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850">
                <a:solidFill>
                  <a:srgbClr val="333333"/>
                </a:solidFill>
                <a:latin typeface="Calibri"/>
              </a:defRPr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No department-level savings attribution — CFOs can't justify ROI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850">
                <a:solidFill>
                  <a:srgbClr val="333333"/>
                </a:solidFill>
                <a:latin typeface="Calibri"/>
              </a:defRPr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Deletion without approval workflow — blocked in regulated industries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850">
                <a:solidFill>
                  <a:srgbClr val="333333"/>
                </a:solidFill>
                <a:latin typeface="Calibri"/>
              </a:defRPr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Alert fatigue — 200+ daily alerts for sub-$1 resources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850">
                <a:solidFill>
                  <a:srgbClr val="333333"/>
                </a:solidFill>
                <a:latin typeface="Calibri"/>
              </a:defRPr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Single-cloud limitation — manual Excel reconciliation workaround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850">
                <a:solidFill>
                  <a:srgbClr val="333333"/>
                </a:solidFill>
                <a:latin typeface="Calibri"/>
              </a:defRPr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No executive reporting without product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5720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200" b="1">
                <a:solidFill>
                  <a:srgbClr val="1B3A5C"/>
                </a:solidFill>
                <a:latin typeface="Calibri"/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 Feature Requests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850">
                <a:solidFill>
                  <a:srgbClr val="333333"/>
                </a:solidFill>
                <a:latin typeface="Calibri"/>
              </a:defRPr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🔴  Custom cost-center / dept attribution (22 meetings)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850">
                <a:solidFill>
                  <a:srgbClr val="333333"/>
                </a:solidFill>
                <a:latin typeface="Calibri"/>
              </a:defRPr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🔴  Approval workflow with impact preview (18 meetings)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850">
                <a:solidFill>
                  <a:srgbClr val="333333"/>
                </a:solidFill>
                <a:latin typeface="Calibri"/>
              </a:defRPr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🔴  Multi-cloud cost aggregation (14 meetings)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850">
                <a:solidFill>
                  <a:srgbClr val="333333"/>
                </a:solidFill>
                <a:latin typeface="Calibri"/>
              </a:defRPr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🔴  Automated leadership reports (12 meetings)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850">
                <a:solidFill>
                  <a:srgbClr val="333333"/>
                </a:solidFill>
                <a:latin typeface="Calibri"/>
              </a:defRPr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🟡  Configurable alert thresholds (10 meetings)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850">
                <a:solidFill>
                  <a:srgbClr val="333333"/>
                </a:solidFill>
                <a:latin typeface="Calibri"/>
              </a:defRPr>
            </a:pP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🟡  Application portfolio grouping (8 meetings)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i="1">
                <a:solidFill>
                  <a:srgbClr val="333333"/>
                </a:solidFill>
                <a:latin typeface="Calibri"/>
              </a:defRPr>
            </a:pPr>
            <a:r>
              <a:rPr kumimoji="0" sz="900" b="0" i="1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💬  "Finally, a tool that thinks like a FinOps engineer, not just a billing dashboard."  — Cloud Architect, Litware Inc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Weekly Customer Feedback Report — AI Cost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BBDDF0"/>
                </a:solidFill>
                <a:latin typeface="Calibr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BBDD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of May 19–25, 2026  •  5 Customer Sessions  •  Generated by AI Feedback Skill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828800" cy="777240"/>
          </a:xfrm>
          <a:prstGeom prst="roundRect">
            <a:avLst/>
          </a:prstGeom>
          <a:solidFill>
            <a:srgbClr val="2B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Customers This Week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005840"/>
            <a:ext cx="1828800" cy="777240"/>
          </a:xfrm>
          <a:prstGeom prst="roundRect">
            <a:avLst/>
          </a:prstGeom>
          <a:solidFill>
            <a:srgbClr val="2EA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Feature 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005840"/>
            <a:ext cx="1828800" cy="777240"/>
          </a:xfrm>
          <a:prstGeom prst="round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 Priority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005840"/>
            <a:ext cx="1828800" cy="777240"/>
          </a:xfrm>
          <a:prstGeom prst="roundRect">
            <a:avLst/>
          </a:prstGeom>
          <a:solidFill>
            <a:srgbClr val="F0A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Follow-up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005840"/>
            <a:ext cx="1828800" cy="777240"/>
          </a:xfrm>
          <a:prstGeom prst="roundRect">
            <a:avLst/>
          </a:prstGeom>
          <a:solidFill>
            <a:srgbClr val="2EA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Positive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Calibr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Avg. Sentiment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300" b="1">
                <a:solidFill>
                  <a:srgbClr val="1B3A5C"/>
                </a:solidFill>
                <a:latin typeface="Calibri"/>
              </a:defRPr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Takeaways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>
                <a:solidFill>
                  <a:srgbClr val="333333"/>
                </a:solidFill>
                <a:latin typeface="Calibri"/>
              </a:defRPr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Stale resource detection is the #1 value driver — 4/5 customers cited it as most valuable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>
                <a:solidFill>
                  <a:srgbClr val="333333"/>
                </a:solidFill>
                <a:latin typeface="Calibri"/>
              </a:defRPr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Contoso Financial: $42K/month saved within 3 weeks of onboarding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>
                <a:solidFill>
                  <a:srgbClr val="333333"/>
                </a:solidFill>
                <a:latin typeface="Calibri"/>
              </a:defRPr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Department-level cost attribution demanded by finance teams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>
                <a:solidFill>
                  <a:srgbClr val="333333"/>
                </a:solidFill>
                <a:latin typeface="Calibri"/>
              </a:defRPr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Trust in deletion recommendations still low — approval workflows needed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>
                <a:solidFill>
                  <a:srgbClr val="333333"/>
                </a:solidFill>
                <a:latin typeface="Calibri"/>
              </a:defRPr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Multi-cloud support emerging as critical gap for 60%+ multi-cloud enterprises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906" y="1783080"/>
            <a:ext cx="5402893" cy="257280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760" y="4389120"/>
            <a:ext cx="11430000" cy="18288"/>
          </a:xfrm>
          <a:prstGeom prst="rect">
            <a:avLst/>
          </a:prstGeom>
          <a:solidFill>
            <a:srgbClr val="5BB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B3A5C"/>
                </a:solidFill>
                <a:latin typeface="Calibr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1B3A5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Customer Quotes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00600"/>
            <a:ext cx="3566160" cy="17373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850" i="1">
                <a:solidFill>
                  <a:srgbClr val="333333"/>
                </a:solidFill>
                <a:latin typeface="Calibri"/>
              </a:defRPr>
            </a:pPr>
            <a: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"We burned $1.2M last year on resources nobody was using.</a:t>
            </a:r>
            <a:b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850" b="0" i="1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this tool had existed, we'd have caught it in the first month."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2B7ABB"/>
                </a:solidFill>
                <a:latin typeface="Calibr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2B7AB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— VP of Cloud Infrastructure, Contoso Financial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800600"/>
            <a:ext cx="3566160" cy="17373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850" i="1">
                <a:solidFill>
                  <a:srgbClr val="333333"/>
                </a:solidFill>
                <a:latin typeface="Calibri"/>
              </a:defRPr>
            </a:pPr>
            <a:r>
              <a:rPr kumimoji="0" sz="85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"I love the recommendations, but I can't click 'delete'</a:t>
            </a:r>
            <a:br>
              <a:rPr kumimoji="0" sz="85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85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 a production resource without my CAB seeing it first."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2B7ABB"/>
                </a:solidFill>
                <a:latin typeface="Calibri"/>
              </a:defRPr>
            </a:pPr>
            <a:r>
              <a:rPr kumimoji="0" sz="750" b="1" i="0" u="none" strike="noStrike" kern="1200" cap="none" spc="0" normalizeH="0" baseline="0" noProof="0" dirty="0">
                <a:ln>
                  <a:noFill/>
                </a:ln>
                <a:solidFill>
                  <a:srgbClr val="2B7AB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— Sr. Cloud Engineer, </a:t>
            </a:r>
            <a:r>
              <a:rPr kumimoji="0" sz="750" b="1" i="0" u="none" strike="noStrike" kern="1200" cap="none" spc="0" normalizeH="0" baseline="0" noProof="0" dirty="0" err="1">
                <a:ln>
                  <a:noFill/>
                </a:ln>
                <a:solidFill>
                  <a:srgbClr val="2B7AB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Fabrikam</a:t>
            </a:r>
            <a:r>
              <a:rPr kumimoji="0" sz="750" b="1" i="0" u="none" strike="noStrike" kern="1200" cap="none" spc="0" normalizeH="0" baseline="0" noProof="0" dirty="0">
                <a:ln>
                  <a:noFill/>
                </a:ln>
                <a:solidFill>
                  <a:srgbClr val="2B7AB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Healthcare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800600"/>
            <a:ext cx="3566160" cy="17373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850" i="1">
                <a:solidFill>
                  <a:srgbClr val="333333"/>
                </a:solidFill>
                <a:latin typeface="Calibri"/>
              </a:defRPr>
            </a:pPr>
            <a:r>
              <a:rPr kumimoji="0" sz="85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"The stale app detection alone justified the cost.</a:t>
            </a:r>
            <a:br>
              <a:rPr kumimoji="0" sz="85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85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found 340 app registrations unused for over a year."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2B7ABB"/>
                </a:solidFill>
                <a:latin typeface="Calibri"/>
              </a:defRPr>
            </a:pPr>
            <a:r>
              <a:rPr kumimoji="0" sz="750" b="1" i="0" u="none" strike="noStrike" kern="1200" cap="none" spc="0" normalizeH="0" baseline="0" noProof="0" dirty="0">
                <a:ln>
                  <a:noFill/>
                </a:ln>
                <a:solidFill>
                  <a:srgbClr val="2B7AB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— Identity Team Lead, Woodgrove Bank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4EACFE-529F-23DC-0BBE-BF489A2709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816" r="5563"/>
          <a:stretch>
            <a:fillRect/>
          </a:stretch>
        </p:blipFill>
        <p:spPr>
          <a:xfrm>
            <a:off x="0" y="-110490"/>
            <a:ext cx="12306997" cy="696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83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0867E1-C426-D01A-6773-0D63DC351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CB1665-FF7A-E03D-0171-3C09C27364CE}"/>
              </a:ext>
            </a:extLst>
          </p:cNvPr>
          <p:cNvSpPr txBox="1"/>
          <p:nvPr/>
        </p:nvSpPr>
        <p:spPr>
          <a:xfrm>
            <a:off x="731520" y="274320"/>
            <a:ext cx="1072865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Github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: Customer Feedback Analyzer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9BBACA-99F3-F9AE-8C15-3832091A6B23}"/>
              </a:ext>
            </a:extLst>
          </p:cNvPr>
          <p:cNvSpPr txBox="1"/>
          <p:nvPr/>
        </p:nvSpPr>
        <p:spPr>
          <a:xfrm rot="10800000" flipH="1" flipV="1">
            <a:off x="7850114" y="2114982"/>
            <a:ext cx="3722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Aka.ms/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feedbackanalyzer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54E654-8E04-F5D2-1C7A-7791BB9E9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75" y="1084445"/>
            <a:ext cx="7388840" cy="549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42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rgbClr val="E6EDF3"/>
                </a:solidFill>
                <a:latin typeface="Segoe UI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Framework I Give to the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77240"/>
            <a:ext cx="9418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8B949E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"Here's how I want you to analyze customer feedback every time."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8027" y="1417320"/>
            <a:ext cx="2468880" cy="24688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1179" y="1490472"/>
            <a:ext cx="2322576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8027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rgbClr val="E6EDF3"/>
                </a:solidFill>
                <a:latin typeface="Segoe UI"/>
              </a:defRPr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187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58A6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Strategic Customer</a:t>
            </a:r>
            <a:b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187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Top 10 design partners.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Their signals carry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extra weight.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6947" y="1417320"/>
            <a:ext cx="2468880" cy="24688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40099" y="1490472"/>
            <a:ext cx="2322576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66947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rgbClr val="E6EDF3"/>
                </a:solidFill>
                <a:latin typeface="Segoe UI"/>
              </a:defRPr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4107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3FB950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Top Trends</a:t>
            </a:r>
            <a:b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Across All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4107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Recurring themes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patterns from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full population.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1417320"/>
            <a:ext cx="2468880" cy="24688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29019" y="1490472"/>
            <a:ext cx="2322576" cy="54864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55867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rgbClr val="E6EDF3"/>
                </a:solidFill>
                <a:latin typeface="Segoe UI"/>
              </a:defRPr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D29922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D2992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Hero 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2834640"/>
            <a:ext cx="21945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1-2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flagship</a:t>
            </a:r>
            <a:b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features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that define</a:t>
            </a:r>
            <a:b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product success.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1417320"/>
            <a:ext cx="2468880" cy="24688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17939" y="1490472"/>
            <a:ext cx="2322576" cy="54864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44787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rgbClr val="E6EDF3"/>
                </a:solidFill>
                <a:latin typeface="Segoe UI"/>
              </a:defRPr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1947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BC8C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BC8C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Top Feature</a:t>
            </a:r>
            <a:b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BC8C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BC8C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Requests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1947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Ranked by demand.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many customers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asked, and how often.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72487" y="4160520"/>
            <a:ext cx="2468880" cy="24688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145639" y="4233672"/>
            <a:ext cx="2322576" cy="54864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72487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rgbClr val="E6EDF3"/>
                </a:solidFill>
                <a:latin typeface="Segoe UI"/>
              </a:defRPr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09647" y="493775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85149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514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Bugs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09647" y="5577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Severity, frequency,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resolution status.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What's hurting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customers right now.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61407" y="4160520"/>
            <a:ext cx="2468880" cy="24688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934559" y="4233672"/>
            <a:ext cx="2322576" cy="5486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61407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rgbClr val="E6EDF3"/>
                </a:solidFill>
                <a:latin typeface="Segoe UI"/>
              </a:defRPr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8567" y="493775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0883E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0883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Friction / UX /</a:t>
            </a:r>
            <a:b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0883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0883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Doc Gaps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8567" y="5577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Where customers</a:t>
            </a:r>
            <a:b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get stuck, confused,</a:t>
            </a:r>
            <a:b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or can't find answers.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50327" y="4160520"/>
            <a:ext cx="2468880" cy="24688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F7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723479" y="4233672"/>
            <a:ext cx="2322576" cy="54864"/>
          </a:xfrm>
          <a:prstGeom prst="rect">
            <a:avLst/>
          </a:prstGeom>
          <a:solidFill>
            <a:srgbClr val="F77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50327" y="4389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rgbClr val="E6EDF3"/>
                </a:solidFill>
                <a:latin typeface="Segoe UI"/>
              </a:defRPr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7487" y="4937759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778BA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778B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 Quotes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87487" y="5577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Verbatim voice of the</a:t>
            </a:r>
            <a:b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customer. The evidence</a:t>
            </a:r>
            <a:b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behind every insight.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rgbClr val="E6EDF3"/>
                </a:solidFill>
                <a:latin typeface="Segoe UI"/>
              </a:defRPr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Works With Any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68680"/>
            <a:ext cx="941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8B949E"/>
                </a:solidFill>
                <a:latin typeface="Segoe UI"/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Plain-text markdown skills. No vendor lock-in.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Use with any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AI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tool (local repo or web tool)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0" y="1828800"/>
            <a:ext cx="2286000" cy="256032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3776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>
                <a:solidFill>
                  <a:srgbClr val="E6EDF3"/>
                </a:solidFill>
                <a:latin typeface="Segoe UI"/>
              </a:defRPr>
            </a:pPr>
            <a:r>
              <a:rPr kumimoji="0" sz="36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58A6FF"/>
                </a:solidFill>
                <a:latin typeface="Segoe UI"/>
              </a:defRPr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feedback-analyzer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>
                <a:solidFill>
                  <a:srgbClr val="8B949E"/>
                </a:solidFill>
                <a:latin typeface="Segoe U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.prompt.md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3FB950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Plain Markdown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 SDK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8B949E"/>
                </a:solidFill>
                <a:latin typeface="Segoe U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YOUR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2926080" cy="777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E6EDF3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84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E6EDF3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Teams / Slack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957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Meeting transcripts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2926080" cy="777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E6EDF3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906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E6EDF3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Markdown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015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Feedback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2926080" cy="777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E6EDF3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096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E6EDF3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Issue Trackers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074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ADO / GitHub / Jira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2926080" cy="777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E6EDF3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102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E6EDF3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Telemetry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4132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Usage data &amp; logs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749039" y="2880360"/>
            <a:ext cx="914400" cy="365760"/>
          </a:xfrm>
          <a:prstGeom prst="right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1248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8B949E"/>
                </a:solidFill>
                <a:latin typeface="Segoe U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CHOOSE YOUR LLM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498079" y="2880360"/>
            <a:ext cx="914400" cy="365760"/>
          </a:xfrm>
          <a:prstGeom prst="rightArrow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595360" y="201168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732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E6EDF3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0848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E6EDF3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GPT-4 / GPT-4o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3957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OpenAI / Azure OpenAI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301752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3252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E6EDF3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0906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E6EDF3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Claude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4015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Anthropic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402336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325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E6EDF3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0965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E6EDF3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407408"/>
            <a:ext cx="2377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GitHub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Copilot Chat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/ VS Code / CLI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502920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3252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E6EDF3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51023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E6EDF3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Gemini / Llama / etc.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54132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Google / Meta / Open Source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5207" y="56692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5207" y="5715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E6EDF3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207" y="6035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58A6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 Vendor Lock-In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206" y="6263640"/>
            <a:ext cx="30418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Switch LLMs anytime —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your skills still 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32807" y="56692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632807" y="5715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E6EDF3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32807" y="6035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58A6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Fork &amp; Customize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32807" y="6263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Clone the repo, edit the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markdown, make it yours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90407" y="56692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90407" y="5715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E6EDF3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90407" y="6035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58A6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Open Source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90406" y="6263640"/>
            <a:ext cx="30418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MIT licensed on GitHub</a:t>
            </a:r>
            <a:b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free for everyone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014900-3875-6E21-78A1-6E94887EE38D}"/>
              </a:ext>
            </a:extLst>
          </p:cNvPr>
          <p:cNvSpPr txBox="1"/>
          <p:nvPr/>
        </p:nvSpPr>
        <p:spPr>
          <a:xfrm rot="10800000" flipH="1" flipV="1">
            <a:off x="0" y="192545"/>
            <a:ext cx="3901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Aka.ms/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feedbackanalyzer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E6EDF3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8B949E"/>
                </a:solidFill>
                <a:latin typeface="Segoe UI"/>
              </a:defRPr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From manual notes and memory → to structured, AI-powered analysis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6246" y="1280160"/>
            <a:ext cx="18288" cy="43891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85149"/>
                </a:solidFill>
                <a:latin typeface="Segoe U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8514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❌  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3FB950"/>
                </a:solidFill>
                <a:latin typeface="Segoe UI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 AFTER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4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5720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C99B9B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99B9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Scattered OneNote, Teams,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1F4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66560" y="2057400"/>
            <a:ext cx="45720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A3D9A5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3D9A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Single structured report across all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4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944368"/>
            <a:ext cx="45720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C99B9B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99B9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Feature requests lost or forgotten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807208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1F4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66560" y="2944368"/>
            <a:ext cx="45720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A3D9A5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3D9A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Ranked by demand count with customer quotes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94176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4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831336"/>
            <a:ext cx="45720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C99B9B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99B9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Same bug reported 3x before</a:t>
            </a:r>
            <a:b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99B9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99B9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anyone notices the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694176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1F4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66560" y="3831336"/>
            <a:ext cx="45720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A3D9A5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3D9A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Patterns auto-detected across meetings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81144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4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4718304"/>
            <a:ext cx="45720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C99B9B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99B9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Weeks to connect dots</a:t>
            </a:r>
            <a:b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99B9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99B9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across customers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581144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1F4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66560" y="4718304"/>
            <a:ext cx="45720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A3D9A5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3D9A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Cumulative report generated same 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68112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4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" y="5605272"/>
            <a:ext cx="45720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C99B9B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99B9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"I think 3 customers asked?"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5468112"/>
            <a:ext cx="5120640" cy="7772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1F4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66560" y="5605272"/>
            <a:ext cx="45720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A3D9A5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3D9A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"12 customers across 15 meetings</a:t>
            </a:r>
            <a:b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3D9A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3D9A5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requested this" (with citations)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715000" y="2171700"/>
            <a:ext cx="502920" cy="27432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5715000" y="3058668"/>
            <a:ext cx="502920" cy="27432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5715000" y="3945635"/>
            <a:ext cx="502920" cy="27432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5715000" y="4832603"/>
            <a:ext cx="502920" cy="27432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5715000" y="5719572"/>
            <a:ext cx="502920" cy="27432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8640" y="6007608"/>
            <a:ext cx="11155680" cy="62179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58A6FF"/>
                </a:solidFill>
                <a:latin typeface="Segoe UI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🔗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aka.ms/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feedbackanalyzer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58A6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8B949E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Open source  ·  Works with any LLM  ·  Clone it. Customize it. Close the feedback loop.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1">
                <a:solidFill>
                  <a:srgbClr val="FFFFFF"/>
                </a:solidFill>
                <a:latin typeface="Segoe UI"/>
              </a:defRPr>
            </a:pPr>
            <a:r>
              <a:rPr kumimoji="0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Your Customers Know More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1">
                <a:solidFill>
                  <a:srgbClr val="0078D4"/>
                </a:solidFill>
                <a:latin typeface="Segoe UI"/>
              </a:defRPr>
            </a:pPr>
            <a:r>
              <a:rPr kumimoji="0" sz="42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About AI Than You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7619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BBBBCC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Start listening. Start building the feedback loop.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0">
                <a:solidFill>
                  <a:srgbClr val="BBBBCC"/>
                </a:solidFill>
                <a:latin typeface="Segoe UI"/>
              </a:defRPr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BBBBC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Let AI do the heavy lifting.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029200"/>
            <a:ext cx="7619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rgbClr val="00B294"/>
                </a:solidFill>
                <a:latin typeface="Segoe UI"/>
              </a:defRPr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00B29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1911</Words>
  <Application>Microsoft Office PowerPoint</Application>
  <PresentationFormat>Widescreen</PresentationFormat>
  <Paragraphs>293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Segoe UI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Marilee Turscak</dc:creator>
  <cp:lastModifiedBy>Marilee Turscak</cp:lastModifiedBy>
  <cp:revision>1</cp:revision>
  <dcterms:created xsi:type="dcterms:W3CDTF">2026-06-01T01:06:25Z</dcterms:created>
  <dcterms:modified xsi:type="dcterms:W3CDTF">2026-06-01T22:29:08Z</dcterms:modified>
</cp:coreProperties>
</file>